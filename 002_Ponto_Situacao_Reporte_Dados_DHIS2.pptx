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809" r:id="rId3"/>
    <p:sldId id="434" r:id="rId5"/>
    <p:sldId id="810" r:id="rId6"/>
    <p:sldId id="811" r:id="rId7"/>
    <p:sldId id="818" r:id="rId8"/>
    <p:sldId id="822" r:id="rId9"/>
    <p:sldId id="820" r:id="rId10"/>
    <p:sldId id="812" r:id="rId11"/>
    <p:sldId id="821" r:id="rId12"/>
    <p:sldId id="817" r:id="rId13"/>
    <p:sldId id="819" r:id="rId14"/>
    <p:sldId id="814" r:id="rId15"/>
    <p:sldId id="816" r:id="rId16"/>
    <p:sldId id="6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66" autoAdjust="0"/>
    <p:restoredTop sz="94434" autoAdjust="0"/>
  </p:normalViewPr>
  <p:slideViewPr>
    <p:cSldViewPr snapToGrid="0" showGuides="1">
      <p:cViewPr varScale="1">
        <p:scale>
          <a:sx n="112" d="100"/>
          <a:sy n="112" d="100"/>
        </p:scale>
        <p:origin x="822" y="96"/>
      </p:cViewPr>
      <p:guideLst>
        <p:guide orient="horz" pos="2162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11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17135679"/>
        <c:axId val="2017138559"/>
      </c:barChart>
      <c:catAx>
        <c:axId val="2017135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017138559"/>
        <c:crosses val="autoZero"/>
        <c:auto val="1"/>
        <c:lblAlgn val="ctr"/>
        <c:lblOffset val="100"/>
        <c:noMultiLvlLbl val="0"/>
      </c:catAx>
      <c:valAx>
        <c:axId val="20171385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017135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fcba717-591a-4618-b0b4-b5dbeb36a92d}"/>
      </c:ext>
    </c:extLst>
  </c:chart>
  <c:spPr>
    <a:noFill/>
    <a:ln>
      <a:noFill/>
    </a:ln>
    <a:effectLst/>
  </c:spPr>
  <c:txPr>
    <a:bodyPr/>
    <a:lstStyle/>
    <a:p>
      <a:pPr>
        <a:defRPr lang="en-US" sz="2800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Sheet1!$B$35</c:f>
              <c:strCache>
                <c:ptCount val="1"/>
                <c:pt idx="0">
                  <c:v># de óbitos maternas notificados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Sheet1!$A$36:$A$38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HGMAV</c:v>
                </c:pt>
              </c:strCache>
            </c:strRef>
          </c:cat>
          <c:val>
            <c:numRef>
              <c:f>Sheet1!$B$36:$B$38</c:f>
              <c:numCache>
                <c:formatCode>General</c:formatCode>
                <c:ptCount val="3"/>
                <c:pt idx="0">
                  <c:v>18</c:v>
                </c:pt>
                <c:pt idx="1">
                  <c:v>11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Sheet1!$C$35</c:f>
              <c:strCache>
                <c:ptCount val="1"/>
                <c:pt idx="0">
                  <c:v># obitos maternas auditados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Sheet1!$A$36:$A$38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HGMAV</c:v>
                </c:pt>
              </c:strCache>
            </c:strRef>
          </c:cat>
          <c:val>
            <c:numRef>
              <c:f>Sheet1!$C$36:$C$38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Sheet1!$D$35</c:f>
              <c:strCache>
                <c:ptCount val="1"/>
                <c:pt idx="0">
                  <c:v># de obitos maternos certificados e submetidos - hosp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Sheet1!$A$36:$A$38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HGMAV</c:v>
                </c:pt>
              </c:strCache>
            </c:strRef>
          </c:cat>
          <c:val>
            <c:numRef>
              <c:f>Sheet1!$D$36:$D$38</c:f>
              <c:numCache>
                <c:formatCode>General</c:formatCode>
                <c:ptCount val="3"/>
                <c:pt idx="0">
                  <c:v>27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22649183"/>
        <c:axId val="222645823"/>
      </c:barChart>
      <c:catAx>
        <c:axId val="222649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22645823"/>
        <c:crosses val="autoZero"/>
        <c:auto val="1"/>
        <c:lblAlgn val="ctr"/>
        <c:lblOffset val="100"/>
        <c:noMultiLvlLbl val="0"/>
      </c:catAx>
      <c:valAx>
        <c:axId val="2226458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22649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n-US"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>
        <c:manualLayout>
          <c:xMode val="edge"/>
          <c:yMode val="edge"/>
          <c:x val="0.00619059958595022"/>
          <c:y val="0.75824082034083"/>
          <c:w val="0.985522702755713"/>
          <c:h val="0.2348339719029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5fd179c-ff45-43f0-8594-7c05cc51e329}"/>
      </c:ext>
    </c:extLst>
  </c:chart>
  <c:spPr>
    <a:noFill/>
    <a:ln>
      <a:noFill/>
    </a:ln>
    <a:effectLst/>
  </c:spPr>
  <c:txPr>
    <a:bodyPr/>
    <a:lstStyle/>
    <a:p>
      <a:pPr>
        <a:defRPr lang="en-US" sz="2400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Sheet1!$B$50</c:f>
              <c:strCache>
                <c:ptCount val="1"/>
                <c:pt idx="0">
                  <c:v>RM de Maternidade e U. Ginecologia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Sheet1!$A$51:$A$53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HGMAV</c:v>
                </c:pt>
              </c:strCache>
            </c:strRef>
          </c:cat>
          <c:val>
            <c:numRef>
              <c:f>Sheet1!$B$51:$B$53</c:f>
              <c:numCache>
                <c:formatCode>General</c:formatCode>
                <c:ptCount val="3"/>
                <c:pt idx="0">
                  <c:v>22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Sheet1!$C$50</c:f>
              <c:strCache>
                <c:ptCount val="1"/>
                <c:pt idx="0">
                  <c:v># de fichas notificados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Sheet1!$A$51:$A$53</c:f>
              <c:strCache>
                <c:ptCount val="3"/>
                <c:pt idx="0">
                  <c:v>HCM</c:v>
                </c:pt>
                <c:pt idx="1">
                  <c:v>HGJM</c:v>
                </c:pt>
                <c:pt idx="2">
                  <c:v>HGMAV</c:v>
                </c:pt>
              </c:strCache>
            </c:strRef>
          </c:cat>
          <c:val>
            <c:numRef>
              <c:f>Sheet1!$C$51:$C$53</c:f>
              <c:numCache>
                <c:formatCode>General</c:formatCode>
                <c:ptCount val="3"/>
                <c:pt idx="0">
                  <c:v>18</c:v>
                </c:pt>
                <c:pt idx="1">
                  <c:v>11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28980351"/>
        <c:axId val="228980831"/>
      </c:barChart>
      <c:catAx>
        <c:axId val="22898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28980831"/>
        <c:crosses val="autoZero"/>
        <c:auto val="1"/>
        <c:lblAlgn val="ctr"/>
        <c:lblOffset val="100"/>
        <c:noMultiLvlLbl val="0"/>
      </c:catAx>
      <c:valAx>
        <c:axId val="2289808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8980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sz="2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>
        <c:manualLayout>
          <c:xMode val="edge"/>
          <c:yMode val="edge"/>
          <c:x val="0.0018836648583484"/>
          <c:y val="0.699770330513329"/>
          <c:w val="0.996232670283303"/>
          <c:h val="0.2823817666786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c577cc7-ee8e-48ef-9605-380eec877c9e}"/>
      </c:ext>
    </c:extLst>
  </c:chart>
  <c:spPr>
    <a:noFill/>
    <a:ln>
      <a:noFill/>
    </a:ln>
    <a:effectLst/>
  </c:spPr>
  <c:txPr>
    <a:bodyPr/>
    <a:lstStyle/>
    <a:p>
      <a:pPr>
        <a:defRPr lang="en-US" sz="2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Sheet1!$A$20:$A$23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Sheet1!$B$20:$B$23</c:f>
              <c:numCache>
                <c:formatCode>General</c:formatCode>
                <c:ptCount val="4"/>
                <c:pt idx="0">
                  <c:v>405</c:v>
                </c:pt>
                <c:pt idx="1">
                  <c:v>208</c:v>
                </c:pt>
                <c:pt idx="2">
                  <c:v>2</c:v>
                </c:pt>
                <c:pt idx="3">
                  <c:v>292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1"/>
        <c:axId val="222632863"/>
        <c:axId val="222634303"/>
      </c:barChart>
      <c:catAx>
        <c:axId val="22263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800" b="1" i="0" u="none" strike="noStrike" kern="1200" cap="all" spc="120" normalizeH="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22634303"/>
        <c:crosses val="autoZero"/>
        <c:auto val="1"/>
        <c:lblAlgn val="ctr"/>
        <c:lblOffset val="100"/>
        <c:noMultiLvlLbl val="0"/>
      </c:catAx>
      <c:valAx>
        <c:axId val="2226343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222632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60a1ef0-7f5e-47d8-867b-89e0f074271f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2800" b="1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09759394430927"/>
          <c:y val="0.0306364016153739"/>
          <c:w val="0.976209786428765"/>
          <c:h val="0.6319454115025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Sheet1!$B$58</c:f>
              <c:strCache>
                <c:ptCount val="1"/>
                <c:pt idx="0">
                  <c:v># de óbitos neonatais notificados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Sheet1!$A$59:$A$62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Sheet1!$B$59:$B$62</c:f>
              <c:numCache>
                <c:formatCode>General</c:formatCode>
                <c:ptCount val="4"/>
                <c:pt idx="0">
                  <c:v>405</c:v>
                </c:pt>
                <c:pt idx="1">
                  <c:v>208</c:v>
                </c:pt>
                <c:pt idx="2">
                  <c:v>1</c:v>
                </c:pt>
                <c:pt idx="3">
                  <c:v>292</c:v>
                </c:pt>
              </c:numCache>
            </c:numRef>
          </c:val>
        </c:ser>
        <c:ser>
          <c:idx val="1"/>
          <c:order val="1"/>
          <c:tx>
            <c:strRef>
              <c:f>Sheet1!$C$58</c:f>
              <c:strCache>
                <c:ptCount val="1"/>
                <c:pt idx="0">
                  <c:v># óbitos neonatais auditados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Sheet1!$A$59:$A$62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Sheet1!$C$59:$C$62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0</c:v>
                </c:pt>
                <c:pt idx="3">
                  <c:v>34</c:v>
                </c:pt>
              </c:numCache>
            </c:numRef>
          </c:val>
        </c:ser>
        <c:ser>
          <c:idx val="2"/>
          <c:order val="2"/>
          <c:tx>
            <c:strRef>
              <c:f>Sheet1!$D$58</c:f>
              <c:strCache>
                <c:ptCount val="1"/>
                <c:pt idx="0">
                  <c:v># de óbitos certificados e submetidos no módulo hosp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Sheet1!$A$59:$A$62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Sheet1!$D$59:$D$62</c:f>
              <c:numCache>
                <c:formatCode>General</c:formatCode>
                <c:ptCount val="4"/>
                <c:pt idx="0">
                  <c:v>511</c:v>
                </c:pt>
                <c:pt idx="1">
                  <c:v>21</c:v>
                </c:pt>
                <c:pt idx="2">
                  <c:v>0</c:v>
                </c:pt>
                <c:pt idx="3">
                  <c:v>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35697664"/>
        <c:axId val="1735701504"/>
      </c:barChart>
      <c:catAx>
        <c:axId val="173569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735701504"/>
        <c:crosses val="autoZero"/>
        <c:auto val="1"/>
        <c:lblAlgn val="ctr"/>
        <c:lblOffset val="100"/>
        <c:noMultiLvlLbl val="0"/>
      </c:catAx>
      <c:valAx>
        <c:axId val="17357015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735697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>
        <c:manualLayout>
          <c:xMode val="edge"/>
          <c:yMode val="edge"/>
          <c:x val="0.00183131017161992"/>
          <c:y val="0.836652276841666"/>
          <c:w val="0.996546672247802"/>
          <c:h val="0.158752262916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0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ffea8d3-d6de-45ff-9b2c-ceed6e28a19c}"/>
      </c:ext>
    </c:extLst>
  </c:chart>
  <c:spPr>
    <a:noFill/>
    <a:ln>
      <a:noFill/>
    </a:ln>
    <a:effectLst/>
  </c:spPr>
  <c:txPr>
    <a:bodyPr/>
    <a:lstStyle/>
    <a:p>
      <a:pPr>
        <a:defRPr lang="en-US" sz="2000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Sheet1!$B$68</c:f>
              <c:strCache>
                <c:ptCount val="1"/>
                <c:pt idx="0">
                  <c:v>RM da maternidade (nados vivos)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Sheet1!$A$69:$A$72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Sheet1!$B$69:$B$72</c:f>
              <c:numCache>
                <c:formatCode>General</c:formatCode>
                <c:ptCount val="4"/>
                <c:pt idx="0">
                  <c:v>6407</c:v>
                </c:pt>
                <c:pt idx="1">
                  <c:v>6840</c:v>
                </c:pt>
                <c:pt idx="2">
                  <c:v>373</c:v>
                </c:pt>
                <c:pt idx="3">
                  <c:v>5092</c:v>
                </c:pt>
              </c:numCache>
            </c:numRef>
          </c:val>
        </c:ser>
        <c:ser>
          <c:idx val="1"/>
          <c:order val="1"/>
          <c:tx>
            <c:strRef>
              <c:f>Sheet1!$C$68</c:f>
              <c:strCache>
                <c:ptCount val="1"/>
                <c:pt idx="0">
                  <c:v>Pré-registo de nascimento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Sheet1!$A$69:$A$72</c:f>
              <c:strCache>
                <c:ptCount val="4"/>
                <c:pt idx="0">
                  <c:v>HCM</c:v>
                </c:pt>
                <c:pt idx="1">
                  <c:v>HGJM</c:v>
                </c:pt>
                <c:pt idx="2">
                  <c:v>HGCHAM</c:v>
                </c:pt>
                <c:pt idx="3">
                  <c:v>HGMAV</c:v>
                </c:pt>
              </c:strCache>
            </c:strRef>
          </c:cat>
          <c:val>
            <c:numRef>
              <c:f>Sheet1!$C$69:$C$72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39</c:v>
                </c:pt>
                <c:pt idx="3">
                  <c:v>3256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1225759"/>
        <c:axId val="1201231999"/>
      </c:barChart>
      <c:catAx>
        <c:axId val="1201225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201231999"/>
        <c:crosses val="autoZero"/>
        <c:auto val="1"/>
        <c:lblAlgn val="ctr"/>
        <c:lblOffset val="100"/>
        <c:noMultiLvlLbl val="0"/>
      </c:catAx>
      <c:valAx>
        <c:axId val="120123199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  <c:crossAx val="1201225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0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e479b94-006c-4b37-acd7-bc657a5ec1ce}"/>
      </c:ext>
    </c:extLst>
  </c:chart>
  <c:spPr>
    <a:noFill/>
    <a:ln>
      <a:noFill/>
    </a:ln>
    <a:effectLst/>
  </c:spPr>
  <c:txPr>
    <a:bodyPr/>
    <a:lstStyle/>
    <a:p>
      <a:pPr>
        <a:defRPr lang="en-US" sz="2000" b="1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2.emf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  <a:endParaRPr lang="pt-PT" sz="2400" dirty="0">
              <a:solidFill>
                <a:prstClr val="black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  <a:endParaRPr lang="pt-PT" sz="2400" dirty="0">
              <a:solidFill>
                <a:prstClr val="black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  <a:endParaRPr lang="pt-PT" sz="2400" dirty="0">
              <a:solidFill>
                <a:prstClr val="black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  <a:endParaRPr lang="pt-PT" sz="2400" b="1" dirty="0">
              <a:solidFill>
                <a:prstClr val="black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321" y="3159032"/>
            <a:ext cx="11111186" cy="145779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0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Ponto de situação de reporte de dados de mortes maternas e neonatais no DHIS2</a:t>
            </a:r>
            <a:endParaRPr lang="pt-BR" sz="4000" b="1" dirty="0">
              <a:solidFill>
                <a:prstClr val="whit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292100" y="54609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altLang="pt-PT" sz="2400" b="1" i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Maputo Cidade, pela Convergência Económica, Inclusão, Inovação e Progresso Social</a:t>
            </a:r>
            <a:endParaRPr lang="en-US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Conteúdo da apresentação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02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Google Shape;164;p4"/>
          <p:cNvSpPr>
            <a:spLocks noChangeArrowheads="1"/>
          </p:cNvSpPr>
          <p:nvPr/>
        </p:nvSpPr>
        <p:spPr bwMode="auto">
          <a:xfrm>
            <a:off x="3775075" y="1412875"/>
            <a:ext cx="717550" cy="547688"/>
          </a:xfrm>
          <a:prstGeom prst="ellipse">
            <a:avLst/>
          </a:prstGeom>
          <a:solidFill>
            <a:srgbClr val="5F7D95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01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Google Shape;151;p4"/>
          <p:cNvSpPr txBox="1">
            <a:spLocks noChangeArrowheads="1"/>
          </p:cNvSpPr>
          <p:nvPr/>
        </p:nvSpPr>
        <p:spPr bwMode="auto">
          <a:xfrm>
            <a:off x="5128465" y="1460500"/>
            <a:ext cx="5335587" cy="397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91425" tIns="45700" rIns="91425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pt-PT" alt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Contextualização </a:t>
            </a:r>
            <a:endParaRPr lang="pt-PT" alt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5" name="Google Shape;146;p4"/>
          <p:cNvCxnSpPr>
            <a:cxnSpLocks noChangeShapeType="1"/>
          </p:cNvCxnSpPr>
          <p:nvPr/>
        </p:nvCxnSpPr>
        <p:spPr bwMode="auto">
          <a:xfrm>
            <a:off x="4492625" y="1689100"/>
            <a:ext cx="360363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Google Shape;165;p4"/>
          <p:cNvSpPr>
            <a:spLocks noChangeArrowheads="1"/>
          </p:cNvSpPr>
          <p:nvPr/>
        </p:nvSpPr>
        <p:spPr bwMode="auto">
          <a:xfrm>
            <a:off x="3767138" y="2382838"/>
            <a:ext cx="725487" cy="547687"/>
          </a:xfrm>
          <a:prstGeom prst="ellipse">
            <a:avLst/>
          </a:prstGeom>
          <a:solidFill>
            <a:srgbClr val="118D45">
              <a:alpha val="69803"/>
            </a:srgb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02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Google Shape;166;p4"/>
          <p:cNvSpPr>
            <a:spLocks noChangeArrowheads="1"/>
          </p:cNvSpPr>
          <p:nvPr/>
        </p:nvSpPr>
        <p:spPr bwMode="auto">
          <a:xfrm>
            <a:off x="3775075" y="3351213"/>
            <a:ext cx="723900" cy="549275"/>
          </a:xfrm>
          <a:prstGeom prst="ellipse">
            <a:avLst/>
          </a:prstGeom>
          <a:solidFill>
            <a:srgbClr val="5F7D95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03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Google Shape;167;p4"/>
          <p:cNvSpPr>
            <a:spLocks noChangeArrowheads="1"/>
          </p:cNvSpPr>
          <p:nvPr/>
        </p:nvSpPr>
        <p:spPr bwMode="auto">
          <a:xfrm>
            <a:off x="3844925" y="4321175"/>
            <a:ext cx="636588" cy="549275"/>
          </a:xfrm>
          <a:prstGeom prst="ellipse">
            <a:avLst/>
          </a:prstGeom>
          <a:solidFill>
            <a:srgbClr val="118D45">
              <a:alpha val="69803"/>
            </a:srgb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04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Google Shape;163;p4"/>
          <p:cNvSpPr>
            <a:spLocks noChangeArrowheads="1"/>
          </p:cNvSpPr>
          <p:nvPr/>
        </p:nvSpPr>
        <p:spPr bwMode="auto">
          <a:xfrm>
            <a:off x="3844925" y="5291138"/>
            <a:ext cx="647700" cy="549275"/>
          </a:xfrm>
          <a:prstGeom prst="ellipse">
            <a:avLst/>
          </a:prstGeom>
          <a:solidFill>
            <a:srgbClr val="5F7D95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05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Google Shape;163;p4"/>
          <p:cNvSpPr>
            <a:spLocks noChangeArrowheads="1"/>
          </p:cNvSpPr>
          <p:nvPr/>
        </p:nvSpPr>
        <p:spPr bwMode="auto">
          <a:xfrm>
            <a:off x="3844925" y="5291138"/>
            <a:ext cx="647700" cy="549275"/>
          </a:xfrm>
          <a:prstGeom prst="ellipse">
            <a:avLst/>
          </a:prstGeom>
          <a:solidFill>
            <a:srgbClr val="5F7D95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05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3" name="Google Shape;147;p4"/>
          <p:cNvCxnSpPr>
            <a:cxnSpLocks noChangeShapeType="1"/>
          </p:cNvCxnSpPr>
          <p:nvPr/>
        </p:nvCxnSpPr>
        <p:spPr bwMode="auto">
          <a:xfrm>
            <a:off x="4481513" y="2660650"/>
            <a:ext cx="360362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Google Shape;147;p4"/>
          <p:cNvCxnSpPr>
            <a:cxnSpLocks noChangeShapeType="1"/>
          </p:cNvCxnSpPr>
          <p:nvPr/>
        </p:nvCxnSpPr>
        <p:spPr bwMode="auto">
          <a:xfrm>
            <a:off x="4498975" y="3625850"/>
            <a:ext cx="360362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Google Shape;147;p4"/>
          <p:cNvCxnSpPr>
            <a:cxnSpLocks noChangeShapeType="1"/>
          </p:cNvCxnSpPr>
          <p:nvPr/>
        </p:nvCxnSpPr>
        <p:spPr bwMode="auto">
          <a:xfrm>
            <a:off x="4481513" y="4531847"/>
            <a:ext cx="360362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Google Shape;150;p4"/>
          <p:cNvCxnSpPr>
            <a:cxnSpLocks noChangeShapeType="1"/>
          </p:cNvCxnSpPr>
          <p:nvPr/>
        </p:nvCxnSpPr>
        <p:spPr bwMode="auto">
          <a:xfrm>
            <a:off x="4448175" y="5573713"/>
            <a:ext cx="361950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Google Shape;150;p4"/>
          <p:cNvCxnSpPr>
            <a:cxnSpLocks noChangeShapeType="1"/>
          </p:cNvCxnSpPr>
          <p:nvPr/>
        </p:nvCxnSpPr>
        <p:spPr bwMode="auto">
          <a:xfrm>
            <a:off x="4498975" y="6350866"/>
            <a:ext cx="361950" cy="0"/>
          </a:xfrm>
          <a:prstGeom prst="straightConnector1">
            <a:avLst/>
          </a:prstGeom>
          <a:noFill/>
          <a:ln w="12700">
            <a:solidFill>
              <a:srgbClr val="3F3F3F"/>
            </a:solidFill>
            <a:miter lim="800000"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Google Shape;152;p4"/>
          <p:cNvSpPr txBox="1">
            <a:spLocks noChangeArrowheads="1"/>
          </p:cNvSpPr>
          <p:nvPr/>
        </p:nvSpPr>
        <p:spPr bwMode="auto">
          <a:xfrm>
            <a:off x="5128465" y="2471743"/>
            <a:ext cx="5335588" cy="7054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91425" tIns="45700" rIns="91425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pt-PT" sz="2000" dirty="0">
                <a:solidFill>
                  <a:schemeClr val="tx1"/>
                </a:solidFill>
                <a:latin typeface="Arial Narrow" panose="020B0606020202030204" pitchFamily="34" charset="0"/>
              </a:rPr>
              <a:t>Reporte de notificações</a:t>
            </a:r>
            <a:r>
              <a:rPr lang="pt-PT" alt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mortes maternas e neonatais </a:t>
            </a:r>
            <a:endParaRPr lang="en-US" alt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Google Shape;155;p4"/>
          <p:cNvSpPr txBox="1">
            <a:spLocks noChangeArrowheads="1"/>
          </p:cNvSpPr>
          <p:nvPr/>
        </p:nvSpPr>
        <p:spPr bwMode="auto">
          <a:xfrm>
            <a:off x="5111003" y="3433763"/>
            <a:ext cx="5353049" cy="7054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defRPr/>
            </a:pPr>
            <a:r>
              <a:rPr lang="pt-PT" altLang="en-US" sz="2000" dirty="0">
                <a:latin typeface="Arial Narrow" panose="020B0606020202030204" pitchFamily="34" charset="0"/>
              </a:rPr>
              <a:t>Discrepancia entre fichas de notificação e auditorias de obitos maternas e neonatais</a:t>
            </a:r>
            <a:r>
              <a:rPr lang="en-US" altLang="pt-PT" sz="2000" dirty="0">
                <a:latin typeface="Arial Narrow" panose="020B0606020202030204" pitchFamily="34" charset="0"/>
              </a:rPr>
              <a:t> e certificação de obitos</a:t>
            </a:r>
            <a:endParaRPr lang="en-US" altLang="pt-PT" sz="2000" dirty="0">
              <a:latin typeface="Arial Narrow" panose="020B0606020202030204" pitchFamily="34" charset="0"/>
            </a:endParaRPr>
          </a:p>
        </p:txBody>
      </p:sp>
      <p:sp>
        <p:nvSpPr>
          <p:cNvPr id="20" name="Google Shape;153;p4"/>
          <p:cNvSpPr txBox="1">
            <a:spLocks noChangeArrowheads="1"/>
          </p:cNvSpPr>
          <p:nvPr/>
        </p:nvSpPr>
        <p:spPr bwMode="auto">
          <a:xfrm>
            <a:off x="5111002" y="4217988"/>
            <a:ext cx="5353049" cy="4000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91425" tIns="45700" rIns="91425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None/>
              <a:defRPr/>
            </a:pPr>
            <a:endParaRPr lang="pt-PT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21" name="Google Shape;154;p4"/>
          <p:cNvSpPr txBox="1">
            <a:spLocks noChangeArrowheads="1"/>
          </p:cNvSpPr>
          <p:nvPr/>
        </p:nvSpPr>
        <p:spPr bwMode="auto">
          <a:xfrm>
            <a:off x="5111002" y="5043577"/>
            <a:ext cx="5335586" cy="7078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91425" tIns="45700" rIns="91425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None/>
              <a:defRPr/>
            </a:pPr>
            <a:r>
              <a:rPr lang="pt-PT" altLang="en-US" sz="2000" dirty="0">
                <a:latin typeface="Arial Narrow" panose="020B0606020202030204" pitchFamily="34" charset="0"/>
              </a:rPr>
              <a:t>Taxa de reportagem de dados pre-registo de Nascimento</a:t>
            </a:r>
            <a:endParaRPr lang="pt-PT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22" name="Google Shape;154;p4"/>
          <p:cNvSpPr txBox="1">
            <a:spLocks noChangeArrowheads="1"/>
          </p:cNvSpPr>
          <p:nvPr/>
        </p:nvSpPr>
        <p:spPr bwMode="auto">
          <a:xfrm>
            <a:off x="5134815" y="6076951"/>
            <a:ext cx="5335586" cy="400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lIns="91425" tIns="45700" rIns="91425" bIns="4570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  <a:defRPr/>
            </a:pPr>
            <a:r>
              <a:rPr lang="pt-PT" altLang="en-US" sz="2000">
                <a:solidFill>
                  <a:schemeClr val="tx1"/>
                </a:solidFill>
                <a:latin typeface="Arial Narrow" panose="020B0606020202030204" pitchFamily="34" charset="0"/>
              </a:rPr>
              <a:t>Constrangimentos e Perspectivas</a:t>
            </a:r>
            <a:endParaRPr lang="pt-PT" alt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Google Shape;167;p4"/>
          <p:cNvSpPr>
            <a:spLocks noChangeArrowheads="1"/>
          </p:cNvSpPr>
          <p:nvPr/>
        </p:nvSpPr>
        <p:spPr bwMode="auto">
          <a:xfrm>
            <a:off x="3708326" y="6044103"/>
            <a:ext cx="636588" cy="549275"/>
          </a:xfrm>
          <a:prstGeom prst="ellipse">
            <a:avLst/>
          </a:prstGeom>
          <a:solidFill>
            <a:srgbClr val="118D45">
              <a:alpha val="69803"/>
            </a:srgb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FFFF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06</a:t>
            </a:r>
            <a:endParaRPr lang="en-US" altLang="en-US" b="1" dirty="0">
              <a:solidFill>
                <a:srgbClr val="FFFFFF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2800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Contextualiazação</a:t>
            </a:r>
            <a:endParaRPr lang="pt-BR" sz="28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483633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Modulo de Gestão de Dados Hospitalares (MGDH) é um componente do SIS-MA que permite a recolha, processamento e partilha de informação relacionada com os internamentos e óbitos hospitalares.</a:t>
            </a:r>
            <a:endParaRPr lang="pt-BR" sz="28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Módulo de Nascimento (MDN) está incorporado no SISMA/MGDH , permite a recolha, processamento e partilha de informação relacionados com 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áreas de atenção à saúde materna e neonatal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hospitalar.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8" y="355935"/>
            <a:ext cx="11178641" cy="1285169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Notificações de mortes maternas 1º Semestre </a:t>
            </a:r>
            <a:endParaRPr lang="pt-BR" sz="28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1434353" y="2057399"/>
          <a:ext cx="9708776" cy="3948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699260" y="6261735"/>
            <a:ext cx="60452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SIS-U Modulo de Gestão de Dados Do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Utente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0" y="0"/>
            <a:ext cx="12091670" cy="89090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Discrepância (Notificação VS Auditorias de mortes maternas - 1º Semestre) </a:t>
            </a:r>
            <a:endParaRPr lang="pt-BR" sz="28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71755" y="981075"/>
          <a:ext cx="12120245" cy="509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699260" y="6261735"/>
            <a:ext cx="604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Fonte: SIS-U Modulo de Gestão de Dados Do </a:t>
            </a:r>
            <a:r>
              <a:rPr lang="en-US" dirty="0" err="1"/>
              <a:t>Utente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-635" y="0"/>
            <a:ext cx="12136755" cy="128524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Triangulação de dados de mortes maternas (dados agregados e notificações enviadas) - 1º Semestre </a:t>
            </a:r>
            <a:endParaRPr lang="pt-PT" sz="28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158750" y="1367790"/>
          <a:ext cx="11395710" cy="4893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699260" y="6261735"/>
            <a:ext cx="604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Fonte: SIS-MA e SIS-U Modulo de Gestão de Dados Do </a:t>
            </a:r>
            <a:r>
              <a:rPr lang="en-US" dirty="0" err="1"/>
              <a:t>Utente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506679" y="2459055"/>
            <a:ext cx="11178641" cy="1285169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4000" b="1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Óbitos Neonatais</a:t>
            </a:r>
            <a:endParaRPr lang="pt-BR" sz="40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327660" y="74930"/>
            <a:ext cx="11536680" cy="129349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Notificações de mortes neonatais 1º Semestre </a:t>
            </a:r>
            <a:endParaRPr lang="pt-PT" sz="36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1051560" y="1914524"/>
          <a:ext cx="10287000" cy="421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699260" y="6261735"/>
            <a:ext cx="604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Fonte: SIS-U Modulo de Gestão de Dados Do </a:t>
            </a:r>
            <a:r>
              <a:rPr lang="en-US" dirty="0" err="1"/>
              <a:t>Utente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0" y="0"/>
            <a:ext cx="12136120" cy="151828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Discrepância (Notificações, auditorias e certificadoos de mortes neonatais reportados no 1º Semestre) </a:t>
            </a:r>
            <a:endParaRPr lang="pt-BR" sz="36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0" y="1612900"/>
          <a:ext cx="12136120" cy="4559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699260" y="6261735"/>
            <a:ext cx="604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Fonte: SIS-U Módulo de Gestão de Dados Do </a:t>
            </a:r>
            <a:r>
              <a:rPr lang="en-US" dirty="0" err="1"/>
              <a:t>Utente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640031" y="245905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Registo de nascimentos nas maternidades</a:t>
            </a:r>
            <a:endParaRPr lang="pt-BR" sz="36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8" y="355936"/>
            <a:ext cx="11064341" cy="129357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sz="4000" b="1" dirty="0">
                <a:solidFill>
                  <a:schemeClr val="bg1"/>
                </a:solidFill>
                <a:latin typeface="Bodoni MT" panose="02070603080606020203"/>
                <a:sym typeface="+mn-ea"/>
              </a:rPr>
              <a:t>Taxa de reportagem de submissão de dados de registo de nascimentos no 1º Semestre 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914400" y="2057399"/>
          <a:ext cx="10689335" cy="3840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699260" y="6261735"/>
            <a:ext cx="604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Fonte: SIS-MA e SIS-U Modulo de Gestão de Dados Do </a:t>
            </a:r>
            <a:r>
              <a:rPr lang="en-US" dirty="0" err="1"/>
              <a:t>Utente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Constragimentos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07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545489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PT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 classificação das causas de óbito;</a:t>
            </a:r>
            <a:endParaRPr lang="pt-PT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PT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Discussão irregular dos óbitos maternos e neonatais;</a:t>
            </a:r>
            <a:endParaRPr lang="pt-PT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PT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Caligrafia elegivel no preenchimento da ficha de recolha de mortes maternas e neonatais;</a:t>
            </a:r>
            <a:endParaRPr lang="pt-PT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PT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Preenchimento incompleto dos livros de maternidade (Partos e Admissão).</a:t>
            </a:r>
            <a:endParaRPr lang="pt-BR" alt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32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en-US" altLang="pt-BR" sz="36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Desafios</a:t>
            </a:r>
            <a:endParaRPr lang="en-US" altLang="pt-BR" sz="36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09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2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Notificação fora do prazo estabelecido – menos de 7 dias da ocorrencia do obito; a maioria são notificados apos 7 dias;</a:t>
            </a:r>
            <a:endParaRPr lang="pt-BR" sz="32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Falta de tecnicos na maternidade para dar entrada dados de pré-registo de nascimentos.</a:t>
            </a:r>
            <a:endParaRPr lang="pt-BR" sz="32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32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Obrigado</a:t>
            </a:r>
            <a:endParaRPr lang="en-US" altLang="en-US" sz="11500" b="1" dirty="0">
              <a:solidFill>
                <a:srgbClr val="000000"/>
              </a:solidFill>
              <a:latin typeface="Juice ITC" panose="04040403040A02020202" pitchFamily="82" charset="0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  <a:endParaRPr lang="pt-BR" sz="2400" b="1" i="1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2450</Words>
  <Application>WPS Presentation</Application>
  <PresentationFormat>Widescreen</PresentationFormat>
  <Paragraphs>118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50" baseType="lpstr">
      <vt:lpstr>Arial</vt:lpstr>
      <vt:lpstr>SimSun</vt:lpstr>
      <vt:lpstr>Wingdings</vt:lpstr>
      <vt:lpstr>Times New Roman</vt:lpstr>
      <vt:lpstr>Wingdings 3</vt:lpstr>
      <vt:lpstr>Times New Roman</vt:lpstr>
      <vt:lpstr>Arial</vt:lpstr>
      <vt:lpstr>Arial Narrow</vt:lpstr>
      <vt:lpstr>Kozuka Gothic Pro B</vt:lpstr>
      <vt:lpstr>Yu Gothic</vt:lpstr>
      <vt:lpstr>Bodoni MT</vt:lpstr>
      <vt:lpstr>Calibri</vt:lpstr>
      <vt:lpstr>Courier New</vt:lpstr>
      <vt:lpstr>Bodoni MT</vt:lpstr>
      <vt:lpstr>Aptos Narrow</vt:lpstr>
      <vt:lpstr>Segoe UI Variable Display</vt:lpstr>
      <vt:lpstr>Aptos Narrow</vt:lpstr>
      <vt:lpstr>Juice ITC</vt:lpstr>
      <vt:lpstr>Microsoft YaHei</vt:lpstr>
      <vt:lpstr>Arial Unicode MS</vt:lpstr>
      <vt:lpstr>Calibri Light</vt:lpstr>
      <vt:lpstr>Bahnschrift SemiCondensed</vt:lpstr>
      <vt:lpstr>Bodoni MT Black</vt:lpstr>
      <vt:lpstr>Cambria</vt:lpstr>
      <vt:lpstr>Cambria Math</vt:lpstr>
      <vt:lpstr>Comic Sans MS</vt:lpstr>
      <vt:lpstr>Colonna MT</vt:lpstr>
      <vt:lpstr>Century Schoolbook</vt:lpstr>
      <vt:lpstr>Calisto MT</vt:lpstr>
      <vt:lpstr>Cascadia Code</vt:lpstr>
      <vt:lpstr>Trebuchet MS</vt:lpstr>
      <vt:lpstr>Bahnschrift SemiLight Condensed</vt:lpstr>
      <vt:lpstr>Bahnschrift SemiLight SemiCondensed</vt:lpstr>
      <vt:lpstr>Tempus Sans ITC</vt:lpstr>
      <vt:lpstr>Baskerville Old Face</vt:lpstr>
      <vt:lpstr>Facet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1763</cp:revision>
  <dcterms:created xsi:type="dcterms:W3CDTF">2022-05-17T21:12:00Z</dcterms:created>
  <dcterms:modified xsi:type="dcterms:W3CDTF">2026-07-28T20:19:22Z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2A161EED7AAE45B9A37474BD47E33831_13</vt:lpwstr>
  </property>
  <property fmtid="{D5CDD505-2E9C-101B-9397-08002B2CF9AE}" pid="3" name="KSOProductBuildVer">
    <vt:lpwstr>1033-12.1.0.27458</vt:lpwstr>
  </property>
</Properties>
</file>
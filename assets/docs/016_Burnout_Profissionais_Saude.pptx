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2" r:id="rId2"/>
    <p:sldId id="338" r:id="rId3"/>
    <p:sldId id="344" r:id="rId4"/>
    <p:sldId id="339" r:id="rId5"/>
    <p:sldId id="340" r:id="rId6"/>
    <p:sldId id="343" r:id="rId7"/>
    <p:sldId id="337" r:id="rId8"/>
    <p:sldId id="320" r:id="rId9"/>
    <p:sldId id="336" r:id="rId10"/>
    <p:sldId id="333" r:id="rId11"/>
    <p:sldId id="321" r:id="rId12"/>
    <p:sldId id="334" r:id="rId13"/>
    <p:sldId id="319" r:id="rId14"/>
    <p:sldId id="332" r:id="rId15"/>
    <p:sldId id="335" r:id="rId16"/>
  </p:sldIdLst>
  <p:sldSz cx="12192000" cy="6858000"/>
  <p:notesSz cx="6858000" cy="9144000"/>
  <p:defaultTextStyle>
    <a:defPPr>
      <a:defRPr lang="en-M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69"/>
  </p:normalViewPr>
  <p:slideViewPr>
    <p:cSldViewPr snapToGrid="0" snapToObjects="1">
      <p:cViewPr varScale="1">
        <p:scale>
          <a:sx n="121" d="100"/>
          <a:sy n="121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950C-F464-0D43-83CA-5CBAD44D7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8748B-3637-E544-9F82-E7FB2F20B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099B7-B85D-E340-B00C-5A9C2C2E1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DEB-4EB3-DC4B-800F-D53CDA8831B8}" type="datetimeFigureOut">
              <a:rPr lang="en-MZ" smtClean="0"/>
              <a:t>7/22/26</a:t>
            </a:fld>
            <a:endParaRPr lang="en-M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5A657-AC18-814B-9F33-59BA6F1A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248D3-5127-CC43-B88D-76DAA0FE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6C4F-5A86-7542-BCFB-FF69B1425791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2644098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41515-FF54-0B4D-B9A4-02FF6685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8AFD5-CE5F-F04F-A0DE-5B3953106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1AA3E-D11A-D44E-A955-A990045AB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DEB-4EB3-DC4B-800F-D53CDA8831B8}" type="datetimeFigureOut">
              <a:rPr lang="en-MZ" smtClean="0"/>
              <a:t>7/22/26</a:t>
            </a:fld>
            <a:endParaRPr lang="en-M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62440-2068-F340-86C3-5E46736BF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743F4-4E33-FD48-AF37-2CAD3E8E4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6C4F-5A86-7542-BCFB-FF69B1425791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82246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8C5C-69AC-9D4D-A576-AA9B5E6F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38EFA-70A7-2647-A2C1-A9725F648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032D4-67B1-2E4D-BF74-429D3852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DEB-4EB3-DC4B-800F-D53CDA8831B8}" type="datetimeFigureOut">
              <a:rPr lang="en-MZ" smtClean="0"/>
              <a:t>7/22/26</a:t>
            </a:fld>
            <a:endParaRPr lang="en-M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1B579-8B0D-D44F-A649-BE15CAEC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59D7A-022F-CD41-8263-063852B0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6C4F-5A86-7542-BCFB-FF69B1425791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3193828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9572-D6AB-CD41-B342-76D53237E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F6AD2-2F7C-6040-9C31-B3CA51135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18620-7933-0C42-A65E-03B60C50E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E0832-B0F8-8740-9142-223394866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DEB-4EB3-DC4B-800F-D53CDA8831B8}" type="datetimeFigureOut">
              <a:rPr lang="en-MZ" smtClean="0"/>
              <a:t>7/22/26</a:t>
            </a:fld>
            <a:endParaRPr lang="en-M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BF44A-286D-1342-850E-A5B2F8C3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D2AE3-1B6F-9045-BE00-84E759555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6C4F-5A86-7542-BCFB-FF69B1425791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150274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7045C-8F51-9C41-99AF-A1E1ADB96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61A80-B062-9948-B577-A2FCDCF3F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E1573-CA04-D841-AC65-3D3D5B579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342455-5E72-5B43-94ED-56035ACA2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60560-231E-CC49-B68E-F51A5B2B0B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79E90C-01EE-2549-86D0-166287458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DEB-4EB3-DC4B-800F-D53CDA8831B8}" type="datetimeFigureOut">
              <a:rPr lang="en-MZ" smtClean="0"/>
              <a:t>7/22/26</a:t>
            </a:fld>
            <a:endParaRPr lang="en-M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800F37-4F6F-E04A-8174-8679D2C35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733EBC-6193-6144-8369-09016C6F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6C4F-5A86-7542-BCFB-FF69B1425791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410425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C0CAF-29C6-3D4B-8302-9251C964A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F93F80-5FD9-064E-8D50-0DEF0F35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DEB-4EB3-DC4B-800F-D53CDA8831B8}" type="datetimeFigureOut">
              <a:rPr lang="en-MZ" smtClean="0"/>
              <a:t>7/22/26</a:t>
            </a:fld>
            <a:endParaRPr lang="en-M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68673-5D14-0042-B584-135FB0A56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ADB8A-EF54-074B-B6ED-424E38CD0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6C4F-5A86-7542-BCFB-FF69B1425791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126491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5AF5A5-69E1-0748-96EF-C1F7559B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DEB-4EB3-DC4B-800F-D53CDA8831B8}" type="datetimeFigureOut">
              <a:rPr lang="en-MZ" smtClean="0"/>
              <a:t>7/22/26</a:t>
            </a:fld>
            <a:endParaRPr lang="en-M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A1582-A22C-F04E-805A-CB1B2694F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D01F8-4205-6D42-8214-04EDEBF85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6C4F-5A86-7542-BCFB-FF69B1425791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1347603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8999-B534-FE41-A11A-B79D3C574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16E10-38F0-7E4F-AE14-3354834DF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4E3E9-AC39-6A48-B9B1-67C376D14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A310E-AF2C-5144-97C0-19CE2B966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DEB-4EB3-DC4B-800F-D53CDA8831B8}" type="datetimeFigureOut">
              <a:rPr lang="en-MZ" smtClean="0"/>
              <a:t>7/22/26</a:t>
            </a:fld>
            <a:endParaRPr lang="en-M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FD91F-0A06-2944-B837-5B9268A8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C9568-72F4-874C-BBAF-9E1670F3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6C4F-5A86-7542-BCFB-FF69B1425791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1346019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12C0E-7A52-5146-8658-66CF8F2E6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790172-5C9C-EC48-921E-A2150A604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92EBF-3690-4245-828C-339B61CC7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F16D2-6679-0241-93BA-9D5EA6545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DEB-4EB3-DC4B-800F-D53CDA8831B8}" type="datetimeFigureOut">
              <a:rPr lang="en-MZ" smtClean="0"/>
              <a:t>7/22/26</a:t>
            </a:fld>
            <a:endParaRPr lang="en-M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373D5-D991-9240-8B79-92B7EA862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44A17-ED98-0B45-97A6-F13C6963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6C4F-5A86-7542-BCFB-FF69B1425791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274621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F044B-1291-3740-94C0-00F7995A9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BF2A9-FAAB-F047-A0B0-A196E9F12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2D4CA-4FAC-2E4F-9D70-38536C65B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DEB-4EB3-DC4B-800F-D53CDA8831B8}" type="datetimeFigureOut">
              <a:rPr lang="en-MZ" smtClean="0"/>
              <a:t>7/22/26</a:t>
            </a:fld>
            <a:endParaRPr lang="en-M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2FD1E-B821-2E4B-A751-E2F1DB9BD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F92A0-95EA-F04C-B22B-AD752C1E4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6C4F-5A86-7542-BCFB-FF69B1425791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2775500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4BD64-055F-4042-8D57-E02AEF530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89AA9-BAB1-144E-B3E7-D8983E1BD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3E054-CA09-E243-8045-48A2DB7B6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DEB-4EB3-DC4B-800F-D53CDA8831B8}" type="datetimeFigureOut">
              <a:rPr lang="en-MZ" smtClean="0"/>
              <a:t>7/22/26</a:t>
            </a:fld>
            <a:endParaRPr lang="en-M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9BBB1-974C-954E-B9B7-E75D666DA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7A763-A97C-B54D-8F95-248731A3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6C4F-5A86-7542-BCFB-FF69B1425791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392494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8A6ADF-A903-1A48-805A-14B23431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FD33-58FF-F648-B1A7-4063459F7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3671B-6B7F-B14D-BCD0-1308EE0CD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01DEB-4EB3-DC4B-800F-D53CDA8831B8}" type="datetimeFigureOut">
              <a:rPr lang="en-MZ" smtClean="0"/>
              <a:t>7/22/26</a:t>
            </a:fld>
            <a:endParaRPr lang="en-M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549EA-5ABC-8A4C-8ABC-D39C014D2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418AD-9A71-524D-A7ED-D0C849C71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F6C4F-5A86-7542-BCFB-FF69B1425791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206815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04E185-B6B6-481C-B1D1-57B284AD5B55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686ACF-1C97-B745-A772-ACC7BF60175A}"/>
              </a:ext>
            </a:extLst>
          </p:cNvPr>
          <p:cNvSpPr txBox="1"/>
          <p:nvPr/>
        </p:nvSpPr>
        <p:spPr>
          <a:xfrm>
            <a:off x="2022610" y="3429000"/>
            <a:ext cx="8314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Z" sz="2000" b="1" dirty="0"/>
              <a:t>PROMOÇÃO DO BEM-ESTAR LABORAL: ESTRATÉGIA PARA PREVENIR BURNOUT NO ÂMBITO DE TRABALHO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5262C5-1D5E-CE44-ABF0-73320905FAE1}"/>
              </a:ext>
            </a:extLst>
          </p:cNvPr>
          <p:cNvSpPr txBox="1"/>
          <p:nvPr/>
        </p:nvSpPr>
        <p:spPr>
          <a:xfrm>
            <a:off x="1621536" y="2410290"/>
            <a:ext cx="8948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Helvetica" pitchFamily="2" charset="0"/>
              </a:rPr>
              <a:t>V CONSELHO HOSPITALAR 2026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6C81C8-E51A-0147-81FE-96B318DEF108}"/>
              </a:ext>
            </a:extLst>
          </p:cNvPr>
          <p:cNvSpPr txBox="1"/>
          <p:nvPr/>
        </p:nvSpPr>
        <p:spPr>
          <a:xfrm>
            <a:off x="4986403" y="5187622"/>
            <a:ext cx="22183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Z" b="1" dirty="0"/>
              <a:t>Por: Dirceu Mabunda</a:t>
            </a:r>
          </a:p>
          <a:p>
            <a:pPr algn="ctr"/>
            <a:endParaRPr lang="en-MZ" sz="1600" dirty="0"/>
          </a:p>
        </p:txBody>
      </p:sp>
    </p:spTree>
    <p:extLst>
      <p:ext uri="{BB962C8B-B14F-4D97-AF65-F5344CB8AC3E}">
        <p14:creationId xmlns:p14="http://schemas.microsoft.com/office/powerpoint/2010/main" val="2676354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B6915-6049-BF42-808D-F51A5A579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138" y="601664"/>
            <a:ext cx="7543800" cy="89795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News Gothic MT" panose="020B0503020103020203" pitchFamily="34" charset="0"/>
              </a:rPr>
              <a:t>S</a:t>
            </a:r>
            <a:r>
              <a:rPr lang="en-MZ" sz="3600" b="1" dirty="0">
                <a:latin typeface="News Gothic MT" panose="020B0503020103020203" pitchFamily="34" charset="0"/>
              </a:rPr>
              <a:t>umário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EE0CD-CCA3-CC49-8956-EA2245A61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just">
              <a:buFontTx/>
              <a:buChar char="-"/>
            </a:pPr>
            <a:r>
              <a:rPr lang="en-US" sz="2400" dirty="0">
                <a:latin typeface="News Gothic MT" panose="020B0503020103020203" pitchFamily="34" charset="0"/>
              </a:rPr>
              <a:t>O peso da </a:t>
            </a:r>
            <a:r>
              <a:rPr lang="en-US" sz="2400" dirty="0" err="1">
                <a:latin typeface="News Gothic MT" panose="020B0503020103020203" pitchFamily="34" charset="0"/>
              </a:rPr>
              <a:t>doença</a:t>
            </a:r>
            <a:r>
              <a:rPr lang="en-US" sz="2400" dirty="0">
                <a:latin typeface="News Gothic MT" panose="020B0503020103020203" pitchFamily="34" charset="0"/>
              </a:rPr>
              <a:t> mental no </a:t>
            </a:r>
            <a:r>
              <a:rPr lang="en-US" sz="2400" dirty="0" err="1">
                <a:latin typeface="News Gothic MT" panose="020B0503020103020203" pitchFamily="34" charset="0"/>
              </a:rPr>
              <a:t>trabalho</a:t>
            </a:r>
            <a:endParaRPr lang="en-US" sz="2400" dirty="0">
              <a:latin typeface="News Gothic MT" panose="020B0503020103020203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n-MZ" sz="2400" dirty="0">
                <a:latin typeface="News Gothic MT" panose="020B0503020103020203" pitchFamily="34" charset="0"/>
              </a:rPr>
              <a:t>Stress e seu papel no Burnout</a:t>
            </a:r>
          </a:p>
          <a:p>
            <a:pPr marL="285750" indent="-285750" algn="just">
              <a:buFontTx/>
              <a:buChar char="-"/>
            </a:pPr>
            <a:r>
              <a:rPr lang="en-US" sz="2400" dirty="0">
                <a:latin typeface="News Gothic MT" panose="020B0503020103020203" pitchFamily="34" charset="0"/>
              </a:rPr>
              <a:t>E</a:t>
            </a:r>
            <a:r>
              <a:rPr lang="en-MZ" sz="2400" dirty="0">
                <a:latin typeface="News Gothic MT" panose="020B0503020103020203" pitchFamily="34" charset="0"/>
              </a:rPr>
              <a:t>pidemiologia do Burnout do profissional de saúde</a:t>
            </a:r>
          </a:p>
          <a:p>
            <a:pPr marL="285750" indent="-285750" algn="just">
              <a:buFontTx/>
              <a:buChar char="-"/>
            </a:pPr>
            <a:r>
              <a:rPr lang="en-MZ" sz="2400" dirty="0">
                <a:latin typeface="News Gothic MT" panose="020B0503020103020203" pitchFamily="34" charset="0"/>
              </a:rPr>
              <a:t>Burnout: etiologia e psicopatologia</a:t>
            </a:r>
          </a:p>
          <a:p>
            <a:pPr marL="285750" indent="-285750" algn="just">
              <a:buFontTx/>
              <a:buChar char="-"/>
            </a:pPr>
            <a:r>
              <a:rPr lang="en-MZ" sz="2400" dirty="0">
                <a:latin typeface="News Gothic MT" panose="020B0503020103020203" pitchFamily="34" charset="0"/>
              </a:rPr>
              <a:t>Impacto do Burnout na segurança do paciente</a:t>
            </a:r>
          </a:p>
          <a:p>
            <a:pPr marL="285750" indent="-285750" algn="just">
              <a:buFontTx/>
              <a:buChar char="-"/>
            </a:pPr>
            <a:r>
              <a:rPr lang="en-MZ" sz="2400" dirty="0">
                <a:latin typeface="News Gothic MT" panose="020B0503020103020203" pitchFamily="34" charset="0"/>
              </a:rPr>
              <a:t>Abordagem terapêutica e preventiva do Burnout </a:t>
            </a:r>
          </a:p>
          <a:p>
            <a:pPr marL="285750" indent="-285750" algn="just">
              <a:buFontTx/>
              <a:buChar char="-"/>
            </a:pPr>
            <a:r>
              <a:rPr lang="en-MZ" sz="2400" dirty="0">
                <a:latin typeface="News Gothic MT" panose="020B0503020103020203" pitchFamily="34" charset="0"/>
              </a:rPr>
              <a:t>Conclusão </a:t>
            </a:r>
          </a:p>
          <a:p>
            <a:endParaRPr lang="en-M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EBC87-5F00-694C-AA5F-0FE7B5A9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A8016-1842-49BC-9DAA-1D05001B230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30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96C3-B26A-064C-B74F-7BC8DC79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News Gothic MT" panose="020B0503020103020203" pitchFamily="34" charset="0"/>
              </a:rPr>
              <a:t>O</a:t>
            </a:r>
            <a:r>
              <a:rPr lang="en-MZ" sz="3600" b="1" dirty="0">
                <a:latin typeface="News Gothic MT" panose="020B0503020103020203" pitchFamily="34" charset="0"/>
              </a:rPr>
              <a:t> peso das doenças mentais no trabalho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6998D-5933-A046-BB36-6BAEDCB34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A8016-1842-49BC-9DAA-1D05001B230C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D1428E-0E9B-1A4C-B0AC-B32C78AA2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304" y="1790700"/>
            <a:ext cx="8134616" cy="433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186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0D7D-986A-6A4B-AE34-331E3BD6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138" y="601663"/>
            <a:ext cx="7543800" cy="67627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</a:t>
            </a:r>
            <a:r>
              <a:rPr lang="en-MZ" b="1" dirty="0"/>
              <a:t>tress ocupacional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5BD0D-43FF-A249-BBCD-1B375EDA8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6138" y="1692784"/>
            <a:ext cx="7543800" cy="402272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800" b="1" dirty="0">
                <a:latin typeface="News Gothic MT" panose="020B0503020103020203" pitchFamily="34" charset="0"/>
              </a:rPr>
              <a:t>Stress: </a:t>
            </a:r>
            <a:r>
              <a:rPr lang="en-US" sz="1800" dirty="0" err="1">
                <a:latin typeface="News Gothic MT" panose="020B0503020103020203" pitchFamily="34" charset="0"/>
              </a:rPr>
              <a:t>Resposta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física</a:t>
            </a:r>
            <a:r>
              <a:rPr lang="en-US" sz="1800" dirty="0">
                <a:latin typeface="News Gothic MT" panose="020B0503020103020203" pitchFamily="34" charset="0"/>
              </a:rPr>
              <a:t> e </a:t>
            </a:r>
            <a:r>
              <a:rPr lang="en-US" sz="1800" dirty="0" err="1">
                <a:latin typeface="News Gothic MT" panose="020B0503020103020203" pitchFamily="34" charset="0"/>
              </a:rPr>
              <a:t>emocional</a:t>
            </a:r>
            <a:r>
              <a:rPr lang="en-US" sz="1800" dirty="0">
                <a:latin typeface="News Gothic MT" panose="020B0503020103020203" pitchFamily="34" charset="0"/>
              </a:rPr>
              <a:t> que </a:t>
            </a:r>
            <a:r>
              <a:rPr lang="en-US" sz="1800" dirty="0" err="1">
                <a:latin typeface="News Gothic MT" panose="020B0503020103020203" pitchFamily="34" charset="0"/>
              </a:rPr>
              <a:t>ocorre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quando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os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requisitos</a:t>
            </a:r>
            <a:r>
              <a:rPr lang="en-US" sz="1800" dirty="0">
                <a:latin typeface="News Gothic MT" panose="020B0503020103020203" pitchFamily="34" charset="0"/>
              </a:rPr>
              <a:t> do </a:t>
            </a:r>
            <a:r>
              <a:rPr lang="en-US" sz="1800" dirty="0" err="1">
                <a:latin typeface="News Gothic MT" panose="020B0503020103020203" pitchFamily="34" charset="0"/>
              </a:rPr>
              <a:t>trabalho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não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correspondem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às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capacidades</a:t>
            </a:r>
            <a:r>
              <a:rPr lang="en-US" sz="1800" dirty="0">
                <a:latin typeface="News Gothic MT" panose="020B0503020103020203" pitchFamily="34" charset="0"/>
              </a:rPr>
              <a:t>, </a:t>
            </a:r>
            <a:r>
              <a:rPr lang="en-US" sz="1800" dirty="0" err="1">
                <a:latin typeface="News Gothic MT" panose="020B0503020103020203" pitchFamily="34" charset="0"/>
              </a:rPr>
              <a:t>recursos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ou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necessidades</a:t>
            </a:r>
            <a:r>
              <a:rPr lang="en-US" sz="1800" dirty="0">
                <a:latin typeface="News Gothic MT" panose="020B0503020103020203" pitchFamily="34" charset="0"/>
              </a:rPr>
              <a:t> do </a:t>
            </a:r>
            <a:r>
              <a:rPr lang="en-US" sz="1800" dirty="0" err="1">
                <a:latin typeface="News Gothic MT" panose="020B0503020103020203" pitchFamily="34" charset="0"/>
              </a:rPr>
              <a:t>funcionário</a:t>
            </a:r>
            <a:r>
              <a:rPr lang="en-US" sz="1800" dirty="0">
                <a:latin typeface="News Gothic MT" panose="020B0503020103020203" pitchFamily="34" charset="0"/>
              </a:rPr>
              <a:t>.</a:t>
            </a:r>
          </a:p>
          <a:p>
            <a:pPr algn="just"/>
            <a:r>
              <a:rPr lang="en-US" sz="1800" dirty="0">
                <a:latin typeface="News Gothic MT" panose="020B0503020103020203" pitchFamily="34" charset="0"/>
              </a:rPr>
              <a:t>Stress </a:t>
            </a:r>
            <a:r>
              <a:rPr lang="en-US" sz="1800" dirty="0" err="1">
                <a:latin typeface="News Gothic MT" panose="020B0503020103020203" pitchFamily="34" charset="0"/>
              </a:rPr>
              <a:t>ocupacional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é</a:t>
            </a:r>
            <a:r>
              <a:rPr lang="en-US" sz="1800" dirty="0">
                <a:latin typeface="News Gothic MT" panose="020B0503020103020203" pitchFamily="34" charset="0"/>
              </a:rPr>
              <a:t> factor de </a:t>
            </a:r>
            <a:r>
              <a:rPr lang="en-US" sz="1800" dirty="0" err="1">
                <a:latin typeface="News Gothic MT" panose="020B0503020103020203" pitchFamily="34" charset="0"/>
              </a:rPr>
              <a:t>risco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importante</a:t>
            </a:r>
            <a:r>
              <a:rPr lang="en-US" sz="1800" dirty="0">
                <a:latin typeface="News Gothic MT" panose="020B0503020103020203" pitchFamily="34" charset="0"/>
              </a:rPr>
              <a:t> de </a:t>
            </a:r>
            <a:r>
              <a:rPr lang="en-US" sz="1800" dirty="0" err="1">
                <a:latin typeface="News Gothic MT" panose="020B0503020103020203" pitchFamily="34" charset="0"/>
              </a:rPr>
              <a:t>doenças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cardiovasculares</a:t>
            </a:r>
            <a:r>
              <a:rPr lang="en-US" sz="1800" dirty="0">
                <a:latin typeface="News Gothic MT" panose="020B0503020103020203" pitchFamily="34" charset="0"/>
              </a:rPr>
              <a:t>; Stress </a:t>
            </a:r>
            <a:r>
              <a:rPr lang="en-US" sz="1800" dirty="0" err="1">
                <a:latin typeface="News Gothic MT" panose="020B0503020103020203" pitchFamily="34" charset="0"/>
              </a:rPr>
              <a:t>ocupacional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não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é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condição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tóxica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ou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aguda</a:t>
            </a:r>
            <a:r>
              <a:rPr lang="en-US" sz="1800" dirty="0">
                <a:latin typeface="News Gothic MT" panose="020B0503020103020203" pitchFamily="34" charset="0"/>
              </a:rPr>
              <a:t> que </a:t>
            </a:r>
            <a:r>
              <a:rPr lang="en-US" sz="1800" dirty="0" err="1">
                <a:latin typeface="News Gothic MT" panose="020B0503020103020203" pitchFamily="34" charset="0"/>
              </a:rPr>
              <a:t>pode</a:t>
            </a:r>
            <a:r>
              <a:rPr lang="en-US" sz="1800" dirty="0">
                <a:latin typeface="News Gothic MT" panose="020B0503020103020203" pitchFamily="34" charset="0"/>
              </a:rPr>
              <a:t> ser </a:t>
            </a:r>
            <a:r>
              <a:rPr lang="en-US" sz="1800" dirty="0" err="1">
                <a:latin typeface="News Gothic MT" panose="020B0503020103020203" pitchFamily="34" charset="0"/>
              </a:rPr>
              <a:t>curada</a:t>
            </a:r>
            <a:r>
              <a:rPr lang="en-US" sz="1800" dirty="0">
                <a:latin typeface="News Gothic MT" panose="020B0503020103020203" pitchFamily="34" charset="0"/>
              </a:rPr>
              <a:t> por </a:t>
            </a:r>
            <a:r>
              <a:rPr lang="en-US" sz="1800" dirty="0" err="1">
                <a:latin typeface="News Gothic MT" panose="020B0503020103020203" pitchFamily="34" charset="0"/>
              </a:rPr>
              <a:t>tratamento</a:t>
            </a:r>
            <a:r>
              <a:rPr lang="en-US" sz="1800" dirty="0">
                <a:latin typeface="News Gothic MT" panose="020B0503020103020203" pitchFamily="34" charset="0"/>
              </a:rPr>
              <a:t>.</a:t>
            </a:r>
          </a:p>
          <a:p>
            <a:pPr algn="just"/>
            <a:r>
              <a:rPr lang="en-US" sz="1800" dirty="0" err="1">
                <a:latin typeface="News Gothic MT" panose="020B0503020103020203" pitchFamily="34" charset="0"/>
              </a:rPr>
              <a:t>Três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estagios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epidemiológicos</a:t>
            </a:r>
            <a:r>
              <a:rPr lang="en-US" sz="1800" dirty="0">
                <a:latin typeface="News Gothic MT" panose="020B0503020103020203" pitchFamily="34" charset="0"/>
              </a:rPr>
              <a:t> do stress </a:t>
            </a:r>
            <a:r>
              <a:rPr lang="en-US" sz="1800" dirty="0" err="1">
                <a:latin typeface="News Gothic MT" panose="020B0503020103020203" pitchFamily="34" charset="0"/>
              </a:rPr>
              <a:t>ocupacional</a:t>
            </a:r>
            <a:r>
              <a:rPr lang="en-US" sz="1800" dirty="0">
                <a:latin typeface="News Gothic MT" panose="020B0503020103020203" pitchFamily="34" charset="0"/>
              </a:rPr>
              <a:t>:</a:t>
            </a:r>
          </a:p>
          <a:p>
            <a:pPr marL="0" indent="0" algn="just">
              <a:buNone/>
            </a:pPr>
            <a:r>
              <a:rPr lang="en-US" sz="1800" b="1" dirty="0" err="1">
                <a:latin typeface="News Gothic MT" panose="020B0503020103020203" pitchFamily="34" charset="0"/>
              </a:rPr>
              <a:t>Estágio</a:t>
            </a:r>
            <a:r>
              <a:rPr lang="en-US" sz="1800" b="1" dirty="0">
                <a:latin typeface="News Gothic MT" panose="020B0503020103020203" pitchFamily="34" charset="0"/>
              </a:rPr>
              <a:t> 1</a:t>
            </a:r>
            <a:r>
              <a:rPr lang="en-US" sz="1800" dirty="0">
                <a:latin typeface="News Gothic MT" panose="020B0503020103020203" pitchFamily="34" charset="0"/>
              </a:rPr>
              <a:t>, </a:t>
            </a:r>
            <a:r>
              <a:rPr lang="en-US" sz="1800" dirty="0" err="1">
                <a:latin typeface="News Gothic MT" panose="020B0503020103020203" pitchFamily="34" charset="0"/>
              </a:rPr>
              <a:t>inclui</a:t>
            </a:r>
            <a:r>
              <a:rPr lang="en-US" sz="1800" dirty="0">
                <a:latin typeface="News Gothic MT" panose="020B0503020103020203" pitchFamily="34" charset="0"/>
              </a:rPr>
              <a:t> as </a:t>
            </a:r>
            <a:r>
              <a:rPr lang="en-US" sz="1800" dirty="0" err="1">
                <a:latin typeface="News Gothic MT" panose="020B0503020103020203" pitchFamily="34" charset="0"/>
              </a:rPr>
              <a:t>causas</a:t>
            </a:r>
            <a:r>
              <a:rPr lang="en-US" sz="1800" dirty="0">
                <a:latin typeface="News Gothic MT" panose="020B0503020103020203" pitchFamily="34" charset="0"/>
              </a:rPr>
              <a:t> do stress, </a:t>
            </a:r>
            <a:r>
              <a:rPr lang="en-US" sz="1800" dirty="0" err="1">
                <a:latin typeface="News Gothic MT" panose="020B0503020103020203" pitchFamily="34" charset="0"/>
              </a:rPr>
              <a:t>conhecidos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como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factores</a:t>
            </a:r>
            <a:r>
              <a:rPr lang="en-US" sz="1800" dirty="0">
                <a:latin typeface="News Gothic MT" panose="020B0503020103020203" pitchFamily="34" charset="0"/>
              </a:rPr>
              <a:t> de </a:t>
            </a:r>
            <a:r>
              <a:rPr lang="en-US" sz="1800" dirty="0" err="1">
                <a:latin typeface="News Gothic MT" panose="020B0503020103020203" pitchFamily="34" charset="0"/>
              </a:rPr>
              <a:t>risco</a:t>
            </a:r>
            <a:r>
              <a:rPr lang="en-US" sz="1800" dirty="0">
                <a:latin typeface="News Gothic MT" panose="020B0503020103020203" pitchFamily="34" charset="0"/>
              </a:rPr>
              <a:t>;</a:t>
            </a:r>
          </a:p>
          <a:p>
            <a:pPr marL="0" indent="0" algn="just">
              <a:buNone/>
            </a:pPr>
            <a:r>
              <a:rPr lang="en-US" sz="1800" b="1" dirty="0" err="1">
                <a:latin typeface="News Gothic MT" panose="020B0503020103020203" pitchFamily="34" charset="0"/>
              </a:rPr>
              <a:t>Estágio</a:t>
            </a:r>
            <a:r>
              <a:rPr lang="en-US" sz="1800" b="1" dirty="0">
                <a:latin typeface="News Gothic MT" panose="020B0503020103020203" pitchFamily="34" charset="0"/>
              </a:rPr>
              <a:t> 2</a:t>
            </a:r>
            <a:r>
              <a:rPr lang="en-US" sz="1800" dirty="0">
                <a:latin typeface="News Gothic MT" panose="020B0503020103020203" pitchFamily="34" charset="0"/>
              </a:rPr>
              <a:t>, a </a:t>
            </a:r>
            <a:r>
              <a:rPr lang="en-US" sz="1800" dirty="0" err="1">
                <a:latin typeface="News Gothic MT" panose="020B0503020103020203" pitchFamily="34" charset="0"/>
              </a:rPr>
              <a:t>resposta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ao</a:t>
            </a:r>
            <a:r>
              <a:rPr lang="en-US" sz="1800" dirty="0">
                <a:latin typeface="News Gothic MT" panose="020B0503020103020203" pitchFamily="34" charset="0"/>
              </a:rPr>
              <a:t> stress- </a:t>
            </a:r>
            <a:r>
              <a:rPr lang="en-US" sz="1800" dirty="0" err="1">
                <a:latin typeface="News Gothic MT" panose="020B0503020103020203" pitchFamily="34" charset="0"/>
              </a:rPr>
              <a:t>reacções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normais</a:t>
            </a:r>
            <a:r>
              <a:rPr lang="en-US" sz="1800" dirty="0">
                <a:latin typeface="News Gothic MT" panose="020B0503020103020203" pitchFamily="34" charset="0"/>
              </a:rPr>
              <a:t> e </a:t>
            </a:r>
            <a:r>
              <a:rPr lang="en-US" sz="1800" dirty="0" err="1">
                <a:latin typeface="News Gothic MT" panose="020B0503020103020203" pitchFamily="34" charset="0"/>
              </a:rPr>
              <a:t>naturais</a:t>
            </a:r>
            <a:r>
              <a:rPr lang="en-US" sz="1800" dirty="0">
                <a:latin typeface="News Gothic MT" panose="020B0503020103020203" pitchFamily="34" charset="0"/>
              </a:rPr>
              <a:t> que </a:t>
            </a:r>
            <a:r>
              <a:rPr lang="en-US" sz="1800" dirty="0" err="1">
                <a:latin typeface="News Gothic MT" panose="020B0503020103020203" pitchFamily="34" charset="0"/>
              </a:rPr>
              <a:t>ocorrem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em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resposta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às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demandas</a:t>
            </a:r>
            <a:r>
              <a:rPr lang="en-US" sz="1800" dirty="0">
                <a:latin typeface="News Gothic MT" panose="020B0503020103020203" pitchFamily="34" charset="0"/>
              </a:rPr>
              <a:t> do </a:t>
            </a:r>
            <a:r>
              <a:rPr lang="en-US" sz="1800" dirty="0" err="1">
                <a:latin typeface="News Gothic MT" panose="020B0503020103020203" pitchFamily="34" charset="0"/>
              </a:rPr>
              <a:t>ambiente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ou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pressões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internas</a:t>
            </a:r>
            <a:r>
              <a:rPr lang="en-US" sz="1800" dirty="0">
                <a:latin typeface="News Gothic MT" panose="020B0503020103020203" pitchFamily="34" charset="0"/>
              </a:rPr>
              <a:t>;</a:t>
            </a:r>
          </a:p>
          <a:p>
            <a:pPr marL="0" indent="0" algn="just">
              <a:buNone/>
            </a:pPr>
            <a:r>
              <a:rPr lang="en-US" sz="1800" b="1" dirty="0" err="1">
                <a:latin typeface="News Gothic MT" panose="020B0503020103020203" pitchFamily="34" charset="0"/>
              </a:rPr>
              <a:t>Estágio</a:t>
            </a:r>
            <a:r>
              <a:rPr lang="en-US" sz="1800" b="1" dirty="0">
                <a:latin typeface="News Gothic MT" panose="020B0503020103020203" pitchFamily="34" charset="0"/>
              </a:rPr>
              <a:t> 3, </a:t>
            </a:r>
            <a:r>
              <a:rPr lang="en-US" sz="1800" dirty="0" err="1">
                <a:latin typeface="News Gothic MT" panose="020B0503020103020203" pitchFamily="34" charset="0"/>
              </a:rPr>
              <a:t>inclue</a:t>
            </a:r>
            <a:r>
              <a:rPr lang="en-US" sz="1800" dirty="0">
                <a:latin typeface="News Gothic MT" panose="020B0503020103020203" pitchFamily="34" charset="0"/>
              </a:rPr>
              <a:t> as </a:t>
            </a:r>
            <a:r>
              <a:rPr lang="en-US" sz="1800" dirty="0" err="1">
                <a:latin typeface="News Gothic MT" panose="020B0503020103020203" pitchFamily="34" charset="0"/>
              </a:rPr>
              <a:t>consequencias</a:t>
            </a:r>
            <a:r>
              <a:rPr lang="en-US" sz="1800" dirty="0">
                <a:latin typeface="News Gothic MT" panose="020B0503020103020203" pitchFamily="34" charset="0"/>
              </a:rPr>
              <a:t> da </a:t>
            </a:r>
            <a:r>
              <a:rPr lang="en-US" sz="1800" dirty="0" err="1">
                <a:latin typeface="News Gothic MT" panose="020B0503020103020203" pitchFamily="34" charset="0"/>
              </a:rPr>
              <a:t>historia</a:t>
            </a:r>
            <a:r>
              <a:rPr lang="en-US" sz="1800" dirty="0">
                <a:latin typeface="News Gothic MT" panose="020B0503020103020203" pitchFamily="34" charset="0"/>
              </a:rPr>
              <a:t> de </a:t>
            </a:r>
            <a:r>
              <a:rPr lang="en-US" sz="1800" dirty="0" err="1">
                <a:latin typeface="News Gothic MT" panose="020B0503020103020203" pitchFamily="34" charset="0"/>
              </a:rPr>
              <a:t>vida</a:t>
            </a:r>
            <a:r>
              <a:rPr lang="en-US" sz="1800" dirty="0">
                <a:latin typeface="News Gothic MT" panose="020B0503020103020203" pitchFamily="34" charset="0"/>
              </a:rPr>
              <a:t>, </a:t>
            </a:r>
            <a:r>
              <a:rPr lang="en-US" sz="1800" dirty="0" err="1">
                <a:latin typeface="News Gothic MT" panose="020B0503020103020203" pitchFamily="34" charset="0"/>
              </a:rPr>
              <a:t>seja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formas</a:t>
            </a:r>
            <a:r>
              <a:rPr lang="en-US" sz="1800" dirty="0">
                <a:latin typeface="News Gothic MT" panose="020B0503020103020203" pitchFamily="34" charset="0"/>
              </a:rPr>
              <a:t> de distress (medico, </a:t>
            </a:r>
            <a:r>
              <a:rPr lang="en-US" sz="1800" dirty="0" err="1">
                <a:latin typeface="News Gothic MT" panose="020B0503020103020203" pitchFamily="34" charset="0"/>
              </a:rPr>
              <a:t>psicológico</a:t>
            </a:r>
            <a:r>
              <a:rPr lang="en-US" sz="1800" dirty="0">
                <a:latin typeface="News Gothic MT" panose="020B0503020103020203" pitchFamily="34" charset="0"/>
              </a:rPr>
              <a:t> e  </a:t>
            </a:r>
            <a:r>
              <a:rPr lang="en-US" sz="1800" dirty="0" err="1">
                <a:latin typeface="News Gothic MT" panose="020B0503020103020203" pitchFamily="34" charset="0"/>
              </a:rPr>
              <a:t>comportamental</a:t>
            </a:r>
            <a:r>
              <a:rPr lang="en-US" sz="1800" dirty="0">
                <a:latin typeface="News Gothic MT" panose="020B0503020103020203" pitchFamily="34" charset="0"/>
              </a:rPr>
              <a:t>) </a:t>
            </a:r>
            <a:r>
              <a:rPr lang="en-US" sz="1800" dirty="0" err="1">
                <a:latin typeface="News Gothic MT" panose="020B0503020103020203" pitchFamily="34" charset="0"/>
              </a:rPr>
              <a:t>ou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formas</a:t>
            </a:r>
            <a:r>
              <a:rPr lang="en-US" sz="1800" dirty="0">
                <a:latin typeface="News Gothic MT" panose="020B0503020103020203" pitchFamily="34" charset="0"/>
              </a:rPr>
              <a:t> de eustress (stress </a:t>
            </a:r>
            <a:r>
              <a:rPr lang="en-US" sz="1800" dirty="0" err="1">
                <a:latin typeface="News Gothic MT" panose="020B0503020103020203" pitchFamily="34" charset="0"/>
              </a:rPr>
              <a:t>saudável</a:t>
            </a:r>
            <a:r>
              <a:rPr lang="en-US" sz="1800" dirty="0">
                <a:latin typeface="News Gothic MT" panose="020B0503020103020203" pitchFamily="34" charset="0"/>
              </a:rPr>
              <a:t>).</a:t>
            </a:r>
          </a:p>
          <a:p>
            <a:endParaRPr lang="en-M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9CD04-60FF-2547-BDD1-3CACD67D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A8016-1842-49BC-9DAA-1D05001B230C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083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9850-8714-6641-9413-EC35C33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</a:t>
            </a:r>
            <a:r>
              <a:rPr lang="en-MZ" b="1" dirty="0"/>
              <a:t>ausas de 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4ADE1-3E04-B343-9B32-EE601F500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 fontAlgn="base"/>
            <a:r>
              <a:rPr lang="en-US" dirty="0" err="1">
                <a:latin typeface="Bookman Old Style" panose="02050604050505020204" pitchFamily="18" charset="0"/>
              </a:rPr>
              <a:t>Demandas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  <a:r>
              <a:rPr lang="en-US" dirty="0" err="1">
                <a:latin typeface="Bookman Old Style" panose="02050604050505020204" pitchFamily="18" charset="0"/>
              </a:rPr>
              <a:t>ocupacionais</a:t>
            </a:r>
            <a:r>
              <a:rPr lang="en-US" dirty="0">
                <a:latin typeface="Bookman Old Style" panose="02050604050505020204" pitchFamily="18" charset="0"/>
              </a:rPr>
              <a:t> e de </a:t>
            </a:r>
            <a:r>
              <a:rPr lang="en-US" dirty="0" err="1">
                <a:latin typeface="Bookman Old Style" panose="02050604050505020204" pitchFamily="18" charset="0"/>
              </a:rPr>
              <a:t>trabalho</a:t>
            </a:r>
            <a:r>
              <a:rPr lang="en-US" dirty="0">
                <a:latin typeface="Bookman Old Style" panose="02050604050505020204" pitchFamily="18" charset="0"/>
              </a:rPr>
              <a:t>, </a:t>
            </a:r>
            <a:r>
              <a:rPr lang="en-US" dirty="0" err="1">
                <a:latin typeface="Bookman Old Style" panose="02050604050505020204" pitchFamily="18" charset="0"/>
              </a:rPr>
              <a:t>bem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  <a:r>
              <a:rPr lang="en-US" dirty="0" err="1">
                <a:latin typeface="Bookman Old Style" panose="02050604050505020204" pitchFamily="18" charset="0"/>
              </a:rPr>
              <a:t>como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  <a:r>
              <a:rPr lang="en-US" dirty="0" err="1">
                <a:latin typeface="Bookman Old Style" panose="02050604050505020204" pitchFamily="18" charset="0"/>
              </a:rPr>
              <a:t>stressores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  <a:r>
              <a:rPr lang="en-US" dirty="0" err="1">
                <a:latin typeface="Bookman Old Style" panose="02050604050505020204" pitchFamily="18" charset="0"/>
              </a:rPr>
              <a:t>ambientais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  <a:r>
              <a:rPr lang="en-US" dirty="0" err="1">
                <a:latin typeface="Bookman Old Style" panose="02050604050505020204" pitchFamily="18" charset="0"/>
              </a:rPr>
              <a:t>podem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  <a:r>
              <a:rPr lang="en-US" dirty="0" err="1">
                <a:latin typeface="Bookman Old Style" panose="02050604050505020204" pitchFamily="18" charset="0"/>
              </a:rPr>
              <a:t>desencadear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  <a:r>
              <a:rPr lang="en-US" dirty="0" err="1">
                <a:latin typeface="Bookman Old Style" panose="02050604050505020204" pitchFamily="18" charset="0"/>
              </a:rPr>
              <a:t>resposta</a:t>
            </a:r>
            <a:r>
              <a:rPr lang="en-US" dirty="0">
                <a:latin typeface="Bookman Old Style" panose="02050604050505020204" pitchFamily="18" charset="0"/>
              </a:rPr>
              <a:t> de stress.</a:t>
            </a:r>
          </a:p>
          <a:p>
            <a:pPr algn="just" fontAlgn="base"/>
            <a:r>
              <a:rPr lang="en-US" dirty="0">
                <a:latin typeface="Bookman Old Style" panose="02050604050505020204" pitchFamily="18" charset="0"/>
              </a:rPr>
              <a:t>1- </a:t>
            </a:r>
            <a:r>
              <a:rPr lang="en-US" b="1" dirty="0" err="1">
                <a:latin typeface="Bookman Old Style" panose="02050604050505020204" pitchFamily="18" charset="0"/>
              </a:rPr>
              <a:t>Demandas</a:t>
            </a:r>
            <a:r>
              <a:rPr lang="en-US" b="1" dirty="0">
                <a:latin typeface="Bookman Old Style" panose="02050604050505020204" pitchFamily="18" charset="0"/>
              </a:rPr>
              <a:t> de </a:t>
            </a:r>
            <a:r>
              <a:rPr lang="en-US" b="1" dirty="0" err="1">
                <a:latin typeface="Bookman Old Style" panose="02050604050505020204" pitchFamily="18" charset="0"/>
              </a:rPr>
              <a:t>tarefa</a:t>
            </a:r>
            <a:r>
              <a:rPr lang="en-US" b="1" dirty="0">
                <a:latin typeface="Bookman Old Style" panose="02050604050505020204" pitchFamily="18" charset="0"/>
              </a:rPr>
              <a:t>- </a:t>
            </a:r>
            <a:r>
              <a:rPr lang="en-US" dirty="0" err="1">
                <a:latin typeface="Bookman Old Style" panose="02050604050505020204" pitchFamily="18" charset="0"/>
              </a:rPr>
              <a:t>ocupação</a:t>
            </a:r>
            <a:r>
              <a:rPr lang="en-US" dirty="0">
                <a:latin typeface="Bookman Old Style" panose="02050604050505020204" pitchFamily="18" charset="0"/>
              </a:rPr>
              <a:t>, </a:t>
            </a:r>
            <a:r>
              <a:rPr lang="en-US" dirty="0" err="1">
                <a:latin typeface="Bookman Old Style" panose="02050604050505020204" pitchFamily="18" charset="0"/>
              </a:rPr>
              <a:t>carreira</a:t>
            </a:r>
            <a:r>
              <a:rPr lang="en-US" dirty="0">
                <a:latin typeface="Bookman Old Style" panose="02050604050505020204" pitchFamily="18" charset="0"/>
              </a:rPr>
              <a:t>, carga de </a:t>
            </a:r>
            <a:r>
              <a:rPr lang="en-US" dirty="0" err="1">
                <a:latin typeface="Bookman Old Style" panose="02050604050505020204" pitchFamily="18" charset="0"/>
              </a:rPr>
              <a:t>trablaho</a:t>
            </a:r>
            <a:r>
              <a:rPr lang="en-US" dirty="0">
                <a:latin typeface="Bookman Old Style" panose="02050604050505020204" pitchFamily="18" charset="0"/>
              </a:rPr>
              <a:t>, </a:t>
            </a:r>
            <a:r>
              <a:rPr lang="en-US" dirty="0" err="1">
                <a:latin typeface="Bookman Old Style" panose="02050604050505020204" pitchFamily="18" charset="0"/>
              </a:rPr>
              <a:t>insegurança</a:t>
            </a:r>
            <a:r>
              <a:rPr lang="en-US" dirty="0">
                <a:latin typeface="Bookman Old Style" panose="02050604050505020204" pitchFamily="18" charset="0"/>
              </a:rPr>
              <a:t> no </a:t>
            </a:r>
            <a:r>
              <a:rPr lang="en-US" dirty="0" err="1">
                <a:latin typeface="Bookman Old Style" panose="02050604050505020204" pitchFamily="18" charset="0"/>
              </a:rPr>
              <a:t>trabalho</a:t>
            </a:r>
            <a:r>
              <a:rPr lang="en-US" dirty="0">
                <a:latin typeface="Bookman Old Style" panose="02050604050505020204" pitchFamily="18" charset="0"/>
              </a:rPr>
              <a:t>;</a:t>
            </a:r>
          </a:p>
          <a:p>
            <a:pPr algn="just" fontAlgn="base"/>
            <a:r>
              <a:rPr lang="en-US" dirty="0">
                <a:latin typeface="Bookman Old Style" panose="02050604050505020204" pitchFamily="18" charset="0"/>
              </a:rPr>
              <a:t>2- </a:t>
            </a:r>
            <a:r>
              <a:rPr lang="en-US" b="1" dirty="0" err="1">
                <a:latin typeface="Bookman Old Style" panose="02050604050505020204" pitchFamily="18" charset="0"/>
              </a:rPr>
              <a:t>Demandas</a:t>
            </a:r>
            <a:r>
              <a:rPr lang="en-US" b="1" dirty="0">
                <a:latin typeface="Bookman Old Style" panose="02050604050505020204" pitchFamily="18" charset="0"/>
              </a:rPr>
              <a:t> de </a:t>
            </a:r>
            <a:r>
              <a:rPr lang="en-US" b="1" dirty="0" err="1">
                <a:latin typeface="Bookman Old Style" panose="02050604050505020204" pitchFamily="18" charset="0"/>
              </a:rPr>
              <a:t>papel</a:t>
            </a:r>
            <a:r>
              <a:rPr lang="en-US" b="1" dirty="0">
                <a:latin typeface="Bookman Old Style" panose="02050604050505020204" pitchFamily="18" charset="0"/>
              </a:rPr>
              <a:t>- </a:t>
            </a:r>
            <a:r>
              <a:rPr lang="en-US" dirty="0" err="1">
                <a:latin typeface="Bookman Old Style" panose="02050604050505020204" pitchFamily="18" charset="0"/>
              </a:rPr>
              <a:t>conflitos</a:t>
            </a:r>
            <a:r>
              <a:rPr lang="en-US" dirty="0">
                <a:latin typeface="Bookman Old Style" panose="02050604050505020204" pitchFamily="18" charset="0"/>
              </a:rPr>
              <a:t> de </a:t>
            </a:r>
            <a:r>
              <a:rPr lang="en-US" dirty="0" err="1">
                <a:latin typeface="Bookman Old Style" panose="02050604050505020204" pitchFamily="18" charset="0"/>
              </a:rPr>
              <a:t>papeis</a:t>
            </a:r>
            <a:r>
              <a:rPr lang="en-US" dirty="0">
                <a:latin typeface="Bookman Old Style" panose="02050604050505020204" pitchFamily="18" charset="0"/>
              </a:rPr>
              <a:t> e </a:t>
            </a:r>
            <a:r>
              <a:rPr lang="en-US" dirty="0" err="1">
                <a:latin typeface="Bookman Old Style" panose="02050604050505020204" pitchFamily="18" charset="0"/>
              </a:rPr>
              <a:t>ambiguidade</a:t>
            </a:r>
            <a:r>
              <a:rPr lang="en-US" dirty="0">
                <a:latin typeface="Bookman Old Style" panose="02050604050505020204" pitchFamily="18" charset="0"/>
              </a:rPr>
              <a:t>;</a:t>
            </a:r>
          </a:p>
          <a:p>
            <a:pPr algn="just" fontAlgn="base"/>
            <a:r>
              <a:rPr lang="en-US" dirty="0">
                <a:latin typeface="Bookman Old Style" panose="02050604050505020204" pitchFamily="18" charset="0"/>
              </a:rPr>
              <a:t>3- </a:t>
            </a:r>
            <a:r>
              <a:rPr lang="en-US" b="1" dirty="0" err="1">
                <a:latin typeface="Bookman Old Style" panose="02050604050505020204" pitchFamily="18" charset="0"/>
              </a:rPr>
              <a:t>Demandas</a:t>
            </a:r>
            <a:r>
              <a:rPr lang="en-US" b="1" dirty="0">
                <a:latin typeface="Bookman Old Style" panose="02050604050505020204" pitchFamily="18" charset="0"/>
              </a:rPr>
              <a:t> </a:t>
            </a:r>
            <a:r>
              <a:rPr lang="en-US" b="1" dirty="0" err="1">
                <a:latin typeface="Bookman Old Style" panose="02050604050505020204" pitchFamily="18" charset="0"/>
              </a:rPr>
              <a:t>físicas</a:t>
            </a:r>
            <a:r>
              <a:rPr lang="en-US" b="1" dirty="0">
                <a:latin typeface="Bookman Old Style" panose="02050604050505020204" pitchFamily="18" charset="0"/>
              </a:rPr>
              <a:t>-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  <a:r>
              <a:rPr lang="en-US" dirty="0" err="1">
                <a:latin typeface="Bookman Old Style" panose="02050604050505020204" pitchFamily="18" charset="0"/>
              </a:rPr>
              <a:t>temperatura</a:t>
            </a:r>
            <a:r>
              <a:rPr lang="en-US" dirty="0">
                <a:latin typeface="Bookman Old Style" panose="02050604050505020204" pitchFamily="18" charset="0"/>
              </a:rPr>
              <a:t>, luz, </a:t>
            </a:r>
            <a:r>
              <a:rPr lang="en-US" dirty="0" err="1">
                <a:latin typeface="Bookman Old Style" panose="02050604050505020204" pitchFamily="18" charset="0"/>
              </a:rPr>
              <a:t>ambiente</a:t>
            </a:r>
            <a:r>
              <a:rPr lang="en-US" dirty="0">
                <a:latin typeface="Bookman Old Style" panose="02050604050505020204" pitchFamily="18" charset="0"/>
              </a:rPr>
              <a:t> de </a:t>
            </a:r>
            <a:r>
              <a:rPr lang="en-US" dirty="0" err="1">
                <a:latin typeface="Bookman Old Style" panose="02050604050505020204" pitchFamily="18" charset="0"/>
              </a:rPr>
              <a:t>trabalho</a:t>
            </a:r>
            <a:r>
              <a:rPr lang="en-US" dirty="0">
                <a:latin typeface="Bookman Old Style" panose="02050604050505020204" pitchFamily="18" charset="0"/>
              </a:rPr>
              <a:t>;</a:t>
            </a:r>
          </a:p>
          <a:p>
            <a:pPr algn="just" fontAlgn="base"/>
            <a:r>
              <a:rPr lang="en-US" dirty="0">
                <a:latin typeface="Bookman Old Style" panose="02050604050505020204" pitchFamily="18" charset="0"/>
              </a:rPr>
              <a:t>4- </a:t>
            </a:r>
            <a:r>
              <a:rPr lang="en-US" b="1" dirty="0" err="1">
                <a:latin typeface="Bookman Old Style" panose="02050604050505020204" pitchFamily="18" charset="0"/>
              </a:rPr>
              <a:t>Demandas</a:t>
            </a:r>
            <a:r>
              <a:rPr lang="en-US" b="1" dirty="0">
                <a:latin typeface="Bookman Old Style" panose="02050604050505020204" pitchFamily="18" charset="0"/>
              </a:rPr>
              <a:t> </a:t>
            </a:r>
            <a:r>
              <a:rPr lang="en-US" b="1" dirty="0" err="1">
                <a:latin typeface="Bookman Old Style" panose="02050604050505020204" pitchFamily="18" charset="0"/>
              </a:rPr>
              <a:t>interpessoais</a:t>
            </a:r>
            <a:r>
              <a:rPr lang="en-US" b="1" dirty="0">
                <a:latin typeface="Bookman Old Style" panose="02050604050505020204" pitchFamily="18" charset="0"/>
              </a:rPr>
              <a:t>- </a:t>
            </a:r>
            <a:r>
              <a:rPr lang="en-US" dirty="0" err="1">
                <a:latin typeface="Bookman Old Style" panose="02050604050505020204" pitchFamily="18" charset="0"/>
              </a:rPr>
              <a:t>densidade</a:t>
            </a:r>
            <a:r>
              <a:rPr lang="en-US" dirty="0">
                <a:latin typeface="Bookman Old Style" panose="02050604050505020204" pitchFamily="18" charset="0"/>
              </a:rPr>
              <a:t> social, </a:t>
            </a:r>
            <a:r>
              <a:rPr lang="en-US" dirty="0" err="1">
                <a:latin typeface="Bookman Old Style" panose="02050604050505020204" pitchFamily="18" charset="0"/>
              </a:rPr>
              <a:t>conflitos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  <a:r>
              <a:rPr lang="en-US" dirty="0" err="1">
                <a:latin typeface="Bookman Old Style" panose="02050604050505020204" pitchFamily="18" charset="0"/>
              </a:rPr>
              <a:t>interpessoais</a:t>
            </a:r>
            <a:r>
              <a:rPr lang="en-US" dirty="0">
                <a:latin typeface="Bookman Old Style" panose="02050604050505020204" pitchFamily="18" charset="0"/>
              </a:rPr>
              <a:t>, </a:t>
            </a:r>
            <a:r>
              <a:rPr lang="en-US" dirty="0" err="1">
                <a:latin typeface="Bookman Old Style" panose="02050604050505020204" pitchFamily="18" charset="0"/>
              </a:rPr>
              <a:t>tipo</a:t>
            </a:r>
            <a:r>
              <a:rPr lang="en-US" dirty="0">
                <a:latin typeface="Bookman Old Style" panose="02050604050505020204" pitchFamily="18" charset="0"/>
              </a:rPr>
              <a:t> de </a:t>
            </a:r>
            <a:r>
              <a:rPr lang="en-US" dirty="0" err="1">
                <a:latin typeface="Bookman Old Style" panose="02050604050505020204" pitchFamily="18" charset="0"/>
              </a:rPr>
              <a:t>liderança</a:t>
            </a:r>
            <a:r>
              <a:rPr lang="en-US" dirty="0">
                <a:latin typeface="Bookman Old Style" panose="02050604050505020204" pitchFamily="18" charset="0"/>
              </a:rPr>
              <a:t>, </a:t>
            </a:r>
            <a:r>
              <a:rPr lang="en-US" dirty="0" err="1">
                <a:latin typeface="Bookman Old Style" panose="02050604050505020204" pitchFamily="18" charset="0"/>
              </a:rPr>
              <a:t>pressão</a:t>
            </a:r>
            <a:r>
              <a:rPr lang="en-US" dirty="0">
                <a:latin typeface="Bookman Old Style" panose="02050604050505020204" pitchFamily="18" charset="0"/>
              </a:rPr>
              <a:t> de </a:t>
            </a:r>
            <a:r>
              <a:rPr lang="en-US" dirty="0" err="1">
                <a:latin typeface="Bookman Old Style" panose="02050604050505020204" pitchFamily="18" charset="0"/>
              </a:rPr>
              <a:t>grupo</a:t>
            </a:r>
            <a:r>
              <a:rPr lang="en-US" dirty="0">
                <a:latin typeface="Bookman Old Style" panose="02050604050505020204" pitchFamily="18" charset="0"/>
              </a:rPr>
              <a:t>).</a:t>
            </a:r>
          </a:p>
          <a:p>
            <a:pPr algn="just"/>
            <a:r>
              <a:rPr lang="en-US" sz="1800" dirty="0" err="1">
                <a:latin typeface="News Gothic MT" panose="020B0503020103020203" pitchFamily="34" charset="0"/>
              </a:rPr>
              <a:t>Vulnerabilidade</a:t>
            </a:r>
            <a:r>
              <a:rPr lang="en-US" sz="1800" dirty="0">
                <a:latin typeface="News Gothic MT" panose="020B0503020103020203" pitchFamily="34" charset="0"/>
              </a:rPr>
              <a:t>: </a:t>
            </a:r>
            <a:r>
              <a:rPr lang="en-US" sz="1800" dirty="0" err="1">
                <a:latin typeface="News Gothic MT" panose="020B0503020103020203" pitchFamily="34" charset="0"/>
              </a:rPr>
              <a:t>três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aspectos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aumentam</a:t>
            </a:r>
            <a:r>
              <a:rPr lang="en-US" sz="1800" dirty="0">
                <a:latin typeface="News Gothic MT" panose="020B0503020103020203" pitchFamily="34" charset="0"/>
              </a:rPr>
              <a:t> a </a:t>
            </a:r>
            <a:r>
              <a:rPr lang="en-US" sz="1800" dirty="0" err="1">
                <a:latin typeface="News Gothic MT" panose="020B0503020103020203" pitchFamily="34" charset="0"/>
              </a:rPr>
              <a:t>vulnerabilidade</a:t>
            </a:r>
            <a:r>
              <a:rPr lang="en-US" sz="1800" dirty="0">
                <a:latin typeface="News Gothic MT" panose="020B0503020103020203" pitchFamily="34" charset="0"/>
              </a:rPr>
              <a:t>, </a:t>
            </a:r>
            <a:r>
              <a:rPr lang="en-US" sz="1800" dirty="0" err="1">
                <a:latin typeface="News Gothic MT" panose="020B0503020103020203" pitchFamily="34" charset="0"/>
              </a:rPr>
              <a:t>baixo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nível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sócio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económico</a:t>
            </a:r>
            <a:r>
              <a:rPr lang="en-US" sz="1800" dirty="0">
                <a:latin typeface="News Gothic MT" panose="020B0503020103020203" pitchFamily="34" charset="0"/>
              </a:rPr>
              <a:t>; coronary-prone, </a:t>
            </a:r>
            <a:r>
              <a:rPr lang="en-US" sz="1800" dirty="0" err="1">
                <a:latin typeface="News Gothic MT" panose="020B0503020103020203" pitchFamily="34" charset="0"/>
              </a:rPr>
              <a:t>comportamento</a:t>
            </a:r>
            <a:r>
              <a:rPr lang="en-US" sz="1800" dirty="0">
                <a:latin typeface="News Gothic MT" panose="020B0503020103020203" pitchFamily="34" charset="0"/>
              </a:rPr>
              <a:t> </a:t>
            </a:r>
            <a:r>
              <a:rPr lang="en-US" sz="1800" dirty="0" err="1">
                <a:latin typeface="News Gothic MT" panose="020B0503020103020203" pitchFamily="34" charset="0"/>
              </a:rPr>
              <a:t>tipo</a:t>
            </a:r>
            <a:r>
              <a:rPr lang="en-US" sz="1800" dirty="0">
                <a:latin typeface="News Gothic MT" panose="020B0503020103020203" pitchFamily="34" charset="0"/>
              </a:rPr>
              <a:t> A (</a:t>
            </a:r>
            <a:r>
              <a:rPr lang="en-US" sz="1800" dirty="0" err="1">
                <a:latin typeface="News Gothic MT" panose="020B0503020103020203" pitchFamily="34" charset="0"/>
              </a:rPr>
              <a:t>hostilidade</a:t>
            </a:r>
            <a:r>
              <a:rPr lang="en-US" sz="1800" dirty="0">
                <a:latin typeface="News Gothic MT" panose="020B0503020103020203" pitchFamily="34" charset="0"/>
              </a:rPr>
              <a:t>, </a:t>
            </a:r>
            <a:r>
              <a:rPr lang="en-US" sz="1800" dirty="0" err="1">
                <a:latin typeface="News Gothic MT" panose="020B0503020103020203" pitchFamily="34" charset="0"/>
              </a:rPr>
              <a:t>competividade</a:t>
            </a:r>
            <a:r>
              <a:rPr lang="en-US" sz="1800" dirty="0">
                <a:latin typeface="News Gothic MT" panose="020B0503020103020203" pitchFamily="34" charset="0"/>
              </a:rPr>
              <a:t>, </a:t>
            </a:r>
            <a:r>
              <a:rPr lang="en-US" sz="1800" dirty="0" err="1">
                <a:latin typeface="News Gothic MT" panose="020B0503020103020203" pitchFamily="34" charset="0"/>
              </a:rPr>
              <a:t>raiva</a:t>
            </a:r>
            <a:r>
              <a:rPr lang="en-US" sz="1800" dirty="0">
                <a:latin typeface="News Gothic MT" panose="020B0503020103020203" pitchFamily="34" charset="0"/>
              </a:rPr>
              <a:t>) e </a:t>
            </a:r>
            <a:r>
              <a:rPr lang="en-US" sz="1800" dirty="0" err="1">
                <a:latin typeface="News Gothic MT" panose="020B0503020103020203" pitchFamily="34" charset="0"/>
              </a:rPr>
              <a:t>isolamento</a:t>
            </a:r>
            <a:r>
              <a:rPr lang="en-US" sz="1800" dirty="0">
                <a:latin typeface="News Gothic MT" panose="020B0503020103020203" pitchFamily="34" charset="0"/>
              </a:rPr>
              <a:t> social.</a:t>
            </a:r>
          </a:p>
          <a:p>
            <a:endParaRPr lang="en-M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FA82F-1C95-9841-BD64-57E4743F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A8016-1842-49BC-9DAA-1D05001B230C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74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09961-9892-6B4B-AC86-BFA3FD436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138" y="601663"/>
            <a:ext cx="7543800" cy="87076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News Gothic MT" panose="020B0503020103020203" pitchFamily="34" charset="0"/>
              </a:rPr>
              <a:t>A</a:t>
            </a:r>
            <a:r>
              <a:rPr lang="en-MZ" sz="3600" b="1" dirty="0">
                <a:latin typeface="News Gothic MT" panose="020B0503020103020203" pitchFamily="34" charset="0"/>
              </a:rPr>
              <a:t> vida do profissional de saúde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9B415-E964-A745-9754-FA9BC7495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A8016-1842-49BC-9DAA-1D05001B230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6E5EF6-5F1A-DC47-ACFC-9B6BC47674AA}"/>
              </a:ext>
            </a:extLst>
          </p:cNvPr>
          <p:cNvSpPr txBox="1"/>
          <p:nvPr/>
        </p:nvSpPr>
        <p:spPr>
          <a:xfrm>
            <a:off x="2676145" y="3621025"/>
            <a:ext cx="22032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Z" sz="2800" b="1" dirty="0">
                <a:latin typeface="News Gothic MT" panose="020B0503020103020203" pitchFamily="34" charset="0"/>
              </a:rPr>
              <a:t>Profissional</a:t>
            </a:r>
          </a:p>
          <a:p>
            <a:r>
              <a:rPr lang="en-US" sz="2800" b="1" dirty="0">
                <a:latin typeface="News Gothic MT" panose="020B0503020103020203" pitchFamily="34" charset="0"/>
              </a:rPr>
              <a:t>de </a:t>
            </a:r>
            <a:r>
              <a:rPr lang="en-US" sz="2800" b="1" dirty="0" err="1">
                <a:latin typeface="News Gothic MT" panose="020B0503020103020203" pitchFamily="34" charset="0"/>
              </a:rPr>
              <a:t>Saúde</a:t>
            </a:r>
            <a:endParaRPr lang="en-MZ" sz="2800" b="1" dirty="0">
              <a:latin typeface="News Gothic MT" panose="020B0503020103020203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00EC8-7031-EB46-99C9-A622C0C6ED98}"/>
              </a:ext>
            </a:extLst>
          </p:cNvPr>
          <p:cNvCxnSpPr/>
          <p:nvPr/>
        </p:nvCxnSpPr>
        <p:spPr>
          <a:xfrm>
            <a:off x="4888992" y="2377440"/>
            <a:ext cx="0" cy="3456432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54557A-EE30-BA49-897A-4896B1739ADF}"/>
              </a:ext>
            </a:extLst>
          </p:cNvPr>
          <p:cNvSpPr txBox="1"/>
          <p:nvPr/>
        </p:nvSpPr>
        <p:spPr>
          <a:xfrm>
            <a:off x="5053584" y="2800253"/>
            <a:ext cx="55286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News Gothic MT" panose="020B0503020103020203" pitchFamily="34" charset="0"/>
              </a:rPr>
              <a:t>- Muita d</a:t>
            </a:r>
            <a:r>
              <a:rPr lang="en-MZ" dirty="0">
                <a:latin typeface="News Gothic MT" panose="020B0503020103020203" pitchFamily="34" charset="0"/>
              </a:rPr>
              <a:t>emanda e longa</a:t>
            </a:r>
          </a:p>
          <a:p>
            <a:pPr algn="just"/>
            <a:r>
              <a:rPr lang="en-US" dirty="0">
                <a:latin typeface="News Gothic MT" panose="020B0503020103020203" pitchFamily="34" charset="0"/>
              </a:rPr>
              <a:t>- M</a:t>
            </a:r>
            <a:r>
              <a:rPr lang="en-MZ" dirty="0">
                <a:latin typeface="News Gothic MT" panose="020B0503020103020203" pitchFamily="34" charset="0"/>
              </a:rPr>
              <a:t>estria, habilidades técnicas complexas</a:t>
            </a:r>
          </a:p>
          <a:p>
            <a:pPr algn="just"/>
            <a:r>
              <a:rPr lang="en-US" dirty="0">
                <a:latin typeface="News Gothic MT" panose="020B0503020103020203" pitchFamily="34" charset="0"/>
              </a:rPr>
              <a:t>- R</a:t>
            </a:r>
            <a:r>
              <a:rPr lang="en-MZ" dirty="0">
                <a:latin typeface="News Gothic MT" panose="020B0503020103020203" pitchFamily="34" charset="0"/>
              </a:rPr>
              <a:t>apidez na sintese informação diagnóstica</a:t>
            </a:r>
          </a:p>
          <a:p>
            <a:pPr algn="just"/>
            <a:r>
              <a:rPr lang="en-US" dirty="0">
                <a:latin typeface="News Gothic MT" panose="020B0503020103020203" pitchFamily="34" charset="0"/>
              </a:rPr>
              <a:t>- R</a:t>
            </a:r>
            <a:r>
              <a:rPr lang="en-MZ" dirty="0">
                <a:latin typeface="News Gothic MT" panose="020B0503020103020203" pitchFamily="34" charset="0"/>
              </a:rPr>
              <a:t>esiliência: opera condições margem para erro não </a:t>
            </a:r>
            <a:r>
              <a:rPr lang="en-US" dirty="0" err="1">
                <a:latin typeface="News Gothic MT" panose="020B0503020103020203" pitchFamily="34" charset="0"/>
              </a:rPr>
              <a:t>deve</a:t>
            </a:r>
            <a:r>
              <a:rPr lang="en-US" dirty="0">
                <a:latin typeface="News Gothic MT" panose="020B0503020103020203" pitchFamily="34" charset="0"/>
              </a:rPr>
              <a:t> </a:t>
            </a:r>
            <a:r>
              <a:rPr lang="en-US" dirty="0" err="1">
                <a:latin typeface="News Gothic MT" panose="020B0503020103020203" pitchFamily="34" charset="0"/>
              </a:rPr>
              <a:t>existir</a:t>
            </a:r>
            <a:endParaRPr lang="en-US" dirty="0">
              <a:latin typeface="News Gothic MT" panose="020B0503020103020203" pitchFamily="34" charset="0"/>
            </a:endParaRPr>
          </a:p>
          <a:p>
            <a:pPr algn="just"/>
            <a:r>
              <a:rPr lang="en-US" dirty="0">
                <a:latin typeface="News Gothic MT" panose="020B0503020103020203" pitchFamily="34" charset="0"/>
              </a:rPr>
              <a:t>- Horas </a:t>
            </a:r>
            <a:r>
              <a:rPr lang="en-US" dirty="0" err="1">
                <a:latin typeface="News Gothic MT" panose="020B0503020103020203" pitchFamily="34" charset="0"/>
              </a:rPr>
              <a:t>prolongadas</a:t>
            </a:r>
            <a:r>
              <a:rPr lang="en-US" dirty="0">
                <a:latin typeface="News Gothic MT" panose="020B0503020103020203" pitchFamily="34" charset="0"/>
              </a:rPr>
              <a:t> de </a:t>
            </a:r>
            <a:r>
              <a:rPr lang="en-US" dirty="0" err="1">
                <a:latin typeface="News Gothic MT" panose="020B0503020103020203" pitchFamily="34" charset="0"/>
              </a:rPr>
              <a:t>trabalho</a:t>
            </a:r>
            <a:endParaRPr lang="en-US" dirty="0">
              <a:latin typeface="News Gothic MT" panose="020B0503020103020203" pitchFamily="34" charset="0"/>
            </a:endParaRPr>
          </a:p>
          <a:p>
            <a:pPr algn="just"/>
            <a:r>
              <a:rPr lang="en-US" dirty="0">
                <a:latin typeface="News Gothic MT" panose="020B0503020103020203" pitchFamily="34" charset="0"/>
              </a:rPr>
              <a:t>- </a:t>
            </a:r>
            <a:r>
              <a:rPr lang="en-US" dirty="0" err="1">
                <a:latin typeface="News Gothic MT" panose="020B0503020103020203" pitchFamily="34" charset="0"/>
              </a:rPr>
              <a:t>Elevada</a:t>
            </a:r>
            <a:r>
              <a:rPr lang="en-US" dirty="0">
                <a:latin typeface="News Gothic MT" panose="020B0503020103020203" pitchFamily="34" charset="0"/>
              </a:rPr>
              <a:t> </a:t>
            </a:r>
            <a:r>
              <a:rPr lang="en-US" dirty="0" err="1">
                <a:latin typeface="News Gothic MT" panose="020B0503020103020203" pitchFamily="34" charset="0"/>
              </a:rPr>
              <a:t>diversidade</a:t>
            </a:r>
            <a:r>
              <a:rPr lang="en-US" dirty="0">
                <a:latin typeface="News Gothic MT" panose="020B0503020103020203" pitchFamily="34" charset="0"/>
              </a:rPr>
              <a:t> </a:t>
            </a:r>
            <a:r>
              <a:rPr lang="en-US" dirty="0" err="1">
                <a:latin typeface="News Gothic MT" panose="020B0503020103020203" pitchFamily="34" charset="0"/>
              </a:rPr>
              <a:t>pacientes</a:t>
            </a:r>
            <a:endParaRPr lang="en-US" dirty="0">
              <a:latin typeface="News Gothic MT" panose="020B0503020103020203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n-US" dirty="0" err="1">
                <a:latin typeface="News Gothic MT" panose="020B0503020103020203" pitchFamily="34" charset="0"/>
              </a:rPr>
              <a:t>Dano</a:t>
            </a:r>
            <a:r>
              <a:rPr lang="en-US" dirty="0">
                <a:latin typeface="News Gothic MT" panose="020B0503020103020203" pitchFamily="34" charset="0"/>
              </a:rPr>
              <a:t> </a:t>
            </a:r>
            <a:r>
              <a:rPr lang="en-US" dirty="0" err="1">
                <a:latin typeface="News Gothic MT" panose="020B0503020103020203" pitchFamily="34" charset="0"/>
              </a:rPr>
              <a:t>psicológico</a:t>
            </a:r>
            <a:r>
              <a:rPr lang="en-US" dirty="0">
                <a:latin typeface="News Gothic MT" panose="020B0503020103020203" pitchFamily="34" charset="0"/>
              </a:rPr>
              <a:t>: </a:t>
            </a:r>
            <a:r>
              <a:rPr lang="en-US" dirty="0" err="1">
                <a:latin typeface="News Gothic MT" panose="020B0503020103020203" pitchFamily="34" charset="0"/>
              </a:rPr>
              <a:t>alteração</a:t>
            </a:r>
            <a:r>
              <a:rPr lang="en-US" dirty="0">
                <a:latin typeface="News Gothic MT" panose="020B0503020103020203" pitchFamily="34" charset="0"/>
              </a:rPr>
              <a:t> da </a:t>
            </a:r>
            <a:r>
              <a:rPr lang="en-US" dirty="0" err="1">
                <a:latin typeface="News Gothic MT" panose="020B0503020103020203" pitchFamily="34" charset="0"/>
              </a:rPr>
              <a:t>vida</a:t>
            </a:r>
            <a:r>
              <a:rPr lang="en-US" dirty="0">
                <a:latin typeface="News Gothic MT" panose="020B0503020103020203" pitchFamily="34" charset="0"/>
              </a:rPr>
              <a:t> dos </a:t>
            </a:r>
            <a:r>
              <a:rPr lang="en-US" dirty="0" err="1">
                <a:latin typeface="News Gothic MT" panose="020B0503020103020203" pitchFamily="34" charset="0"/>
              </a:rPr>
              <a:t>pacientes</a:t>
            </a:r>
            <a:endParaRPr lang="en-US" dirty="0">
              <a:latin typeface="News Gothic MT" panose="020B0503020103020203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n-US" dirty="0" err="1">
                <a:latin typeface="News Gothic MT" panose="020B0503020103020203" pitchFamily="34" charset="0"/>
              </a:rPr>
              <a:t>Profissional</a:t>
            </a:r>
            <a:r>
              <a:rPr lang="en-US" dirty="0">
                <a:latin typeface="News Gothic MT" panose="020B0503020103020203" pitchFamily="34" charset="0"/>
              </a:rPr>
              <a:t> que </a:t>
            </a:r>
            <a:r>
              <a:rPr lang="en-US" dirty="0" err="1">
                <a:latin typeface="News Gothic MT" panose="020B0503020103020203" pitchFamily="34" charset="0"/>
              </a:rPr>
              <a:t>actua</a:t>
            </a:r>
            <a:r>
              <a:rPr lang="en-US" dirty="0">
                <a:latin typeface="News Gothic MT" panose="020B0503020103020203" pitchFamily="34" charset="0"/>
              </a:rPr>
              <a:t> com </a:t>
            </a:r>
            <a:r>
              <a:rPr lang="en-US" dirty="0" err="1">
                <a:latin typeface="News Gothic MT" panose="020B0503020103020203" pitchFamily="34" charset="0"/>
              </a:rPr>
              <a:t>compaixão</a:t>
            </a:r>
            <a:r>
              <a:rPr lang="en-US" dirty="0">
                <a:latin typeface="News Gothic MT" panose="020B0503020103020203" pitchFamily="34" charset="0"/>
              </a:rPr>
              <a:t> e  </a:t>
            </a:r>
            <a:r>
              <a:rPr lang="en-US" dirty="0" err="1">
                <a:latin typeface="News Gothic MT" panose="020B0503020103020203" pitchFamily="34" charset="0"/>
              </a:rPr>
              <a:t>competência</a:t>
            </a:r>
            <a:r>
              <a:rPr lang="en-US" dirty="0">
                <a:latin typeface="News Gothic MT" panose="020B0503020103020203" pitchFamily="34" charset="0"/>
              </a:rPr>
              <a:t>.</a:t>
            </a:r>
            <a:endParaRPr lang="en-MZ" dirty="0">
              <a:latin typeface="News Gothic MT" panose="020B0503020103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16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B220-6564-C74F-BE03-594A3B264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MZ" sz="3600" b="1" dirty="0">
                <a:latin typeface="News Gothic MT" panose="020B0503020103020203" pitchFamily="34" charset="0"/>
              </a:rPr>
              <a:t>Burnout entre os profissionais de saúde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EA2BE-5E08-CF4A-B35F-B120DE34A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Z" dirty="0">
                <a:latin typeface="News Gothic MT" panose="020B0503020103020203" pitchFamily="34" charset="0"/>
              </a:rPr>
              <a:t>China: cerca de 70% dos cirurgiões tiveram problemas mentais após complicações de gastrectomia radical, 25% doenç mental grave </a:t>
            </a:r>
            <a:r>
              <a:rPr lang="en-MZ" sz="1200" dirty="0">
                <a:latin typeface="News Gothic MT" panose="020B0503020103020203" pitchFamily="34" charset="0"/>
              </a:rPr>
              <a:t>(</a:t>
            </a:r>
            <a:r>
              <a:rPr lang="en-US" sz="1200" dirty="0" err="1">
                <a:latin typeface="News Gothic MT" panose="020B0503020103020203" pitchFamily="34" charset="0"/>
              </a:rPr>
              <a:t>Hongyong</a:t>
            </a:r>
            <a:r>
              <a:rPr lang="en-US" sz="1200" dirty="0">
                <a:latin typeface="News Gothic MT" panose="020B0503020103020203" pitchFamily="34" charset="0"/>
              </a:rPr>
              <a:t> He, et al).</a:t>
            </a:r>
          </a:p>
          <a:p>
            <a:pPr algn="just"/>
            <a:r>
              <a:rPr lang="en-US" dirty="0">
                <a:latin typeface="News Gothic MT" panose="020B0503020103020203" pitchFamily="34" charset="0"/>
              </a:rPr>
              <a:t>Kuwait: </a:t>
            </a:r>
            <a:r>
              <a:rPr lang="en-US" dirty="0" err="1">
                <a:latin typeface="News Gothic MT" panose="020B0503020103020203" pitchFamily="34" charset="0"/>
              </a:rPr>
              <a:t>alta</a:t>
            </a:r>
            <a:r>
              <a:rPr lang="en-US" dirty="0">
                <a:latin typeface="News Gothic MT" panose="020B0503020103020203" pitchFamily="34" charset="0"/>
              </a:rPr>
              <a:t> </a:t>
            </a:r>
            <a:r>
              <a:rPr lang="en-US" dirty="0" err="1">
                <a:latin typeface="News Gothic MT" panose="020B0503020103020203" pitchFamily="34" charset="0"/>
              </a:rPr>
              <a:t>prevalência</a:t>
            </a:r>
            <a:r>
              <a:rPr lang="en-US" dirty="0">
                <a:latin typeface="News Gothic MT" panose="020B0503020103020203" pitchFamily="34" charset="0"/>
              </a:rPr>
              <a:t> de Burnout entre </a:t>
            </a:r>
            <a:r>
              <a:rPr lang="en-US" dirty="0" err="1">
                <a:latin typeface="News Gothic MT" panose="020B0503020103020203" pitchFamily="34" charset="0"/>
              </a:rPr>
              <a:t>cirurgiões</a:t>
            </a:r>
            <a:r>
              <a:rPr lang="en-US" dirty="0">
                <a:latin typeface="News Gothic MT" panose="020B0503020103020203" pitchFamily="34" charset="0"/>
              </a:rPr>
              <a:t> </a:t>
            </a:r>
            <a:r>
              <a:rPr lang="en-US" sz="1200" dirty="0">
                <a:latin typeface="News Gothic MT" panose="020B0503020103020203" pitchFamily="34" charset="0"/>
              </a:rPr>
              <a:t>(Amr </a:t>
            </a:r>
            <a:r>
              <a:rPr lang="en-US" sz="1200" dirty="0" err="1">
                <a:latin typeface="News Gothic MT" panose="020B0503020103020203" pitchFamily="34" charset="0"/>
              </a:rPr>
              <a:t>Akl</a:t>
            </a:r>
            <a:r>
              <a:rPr lang="en-US" sz="1200" dirty="0">
                <a:latin typeface="News Gothic MT" panose="020B0503020103020203" pitchFamily="34" charset="0"/>
              </a:rPr>
              <a:t> et al, 2022).</a:t>
            </a:r>
          </a:p>
          <a:p>
            <a:pPr algn="just"/>
            <a:r>
              <a:rPr lang="en-US" dirty="0">
                <a:effectLst/>
                <a:latin typeface="News Gothic MT" panose="020B0503020103020203" pitchFamily="34" charset="0"/>
              </a:rPr>
              <a:t>Korea do Sul: </a:t>
            </a:r>
            <a:r>
              <a:rPr lang="en-US" dirty="0" err="1">
                <a:effectLst/>
                <a:latin typeface="News Gothic MT" panose="020B0503020103020203" pitchFamily="34" charset="0"/>
              </a:rPr>
              <a:t>prevalênci</a:t>
            </a:r>
            <a:r>
              <a:rPr lang="en-US" dirty="0" err="1">
                <a:latin typeface="News Gothic MT" panose="020B0503020103020203" pitchFamily="34" charset="0"/>
              </a:rPr>
              <a:t>a</a:t>
            </a:r>
            <a:r>
              <a:rPr lang="en-US" dirty="0">
                <a:latin typeface="News Gothic MT" panose="020B0503020103020203" pitchFamily="34" charset="0"/>
              </a:rPr>
              <a:t> de Burnout entre </a:t>
            </a:r>
            <a:r>
              <a:rPr lang="en-US" dirty="0" err="1">
                <a:latin typeface="News Gothic MT" panose="020B0503020103020203" pitchFamily="34" charset="0"/>
              </a:rPr>
              <a:t>cirurgiões</a:t>
            </a:r>
            <a:r>
              <a:rPr lang="en-US" dirty="0">
                <a:latin typeface="News Gothic MT" panose="020B0503020103020203" pitchFamily="34" charset="0"/>
              </a:rPr>
              <a:t> </a:t>
            </a:r>
            <a:r>
              <a:rPr lang="en-US" dirty="0" err="1">
                <a:latin typeface="News Gothic MT" panose="020B0503020103020203" pitchFamily="34" charset="0"/>
              </a:rPr>
              <a:t>foi</a:t>
            </a:r>
            <a:r>
              <a:rPr lang="en-US" dirty="0">
                <a:latin typeface="News Gothic MT" panose="020B0503020103020203" pitchFamily="34" charset="0"/>
              </a:rPr>
              <a:t> de 70,5% </a:t>
            </a:r>
            <a:r>
              <a:rPr lang="en-US" sz="1200" dirty="0">
                <a:latin typeface="News Gothic MT" panose="020B0503020103020203" pitchFamily="34" charset="0"/>
              </a:rPr>
              <a:t>(</a:t>
            </a:r>
            <a:r>
              <a:rPr lang="en-US" sz="1200" dirty="0" err="1">
                <a:latin typeface="News Gothic MT" panose="020B0503020103020203" pitchFamily="34" charset="0"/>
              </a:rPr>
              <a:t>Jihyeon</a:t>
            </a:r>
            <a:r>
              <a:rPr lang="en-US" sz="1200" dirty="0">
                <a:latin typeface="News Gothic MT" panose="020B0503020103020203" pitchFamily="34" charset="0"/>
              </a:rPr>
              <a:t> Choi et al, 2025)</a:t>
            </a:r>
          </a:p>
          <a:p>
            <a:pPr algn="just"/>
            <a:r>
              <a:rPr lang="en-US" b="1" dirty="0">
                <a:latin typeface="News Gothic MT" panose="020B0503020103020203" pitchFamily="34" charset="0"/>
              </a:rPr>
              <a:t>Burundi: </a:t>
            </a:r>
            <a:r>
              <a:rPr lang="en-US" dirty="0">
                <a:latin typeface="News Gothic MT" panose="020B0503020103020203" pitchFamily="34" charset="0"/>
              </a:rPr>
              <a:t>Burnout entre medicos </a:t>
            </a:r>
            <a:r>
              <a:rPr lang="en-US" dirty="0" err="1">
                <a:latin typeface="News Gothic MT" panose="020B0503020103020203" pitchFamily="34" charset="0"/>
              </a:rPr>
              <a:t>foi</a:t>
            </a:r>
            <a:r>
              <a:rPr lang="en-US" dirty="0">
                <a:latin typeface="News Gothic MT" panose="020B0503020103020203" pitchFamily="34" charset="0"/>
              </a:rPr>
              <a:t> </a:t>
            </a:r>
            <a:r>
              <a:rPr lang="en-US" dirty="0" err="1">
                <a:latin typeface="News Gothic MT" panose="020B0503020103020203" pitchFamily="34" charset="0"/>
              </a:rPr>
              <a:t>cerca</a:t>
            </a:r>
            <a:r>
              <a:rPr lang="en-US" dirty="0">
                <a:latin typeface="News Gothic MT" panose="020B0503020103020203" pitchFamily="34" charset="0"/>
              </a:rPr>
              <a:t> de </a:t>
            </a:r>
            <a:r>
              <a:rPr lang="en-MZ" dirty="0">
                <a:effectLst/>
                <a:latin typeface="News Gothic MT" panose="020B0503020103020203" pitchFamily="34" charset="0"/>
              </a:rPr>
              <a:t> 66.2% </a:t>
            </a:r>
            <a:r>
              <a:rPr lang="en-MZ" sz="1200" dirty="0">
                <a:latin typeface="News Gothic MT" panose="020B0503020103020203" pitchFamily="34" charset="0"/>
              </a:rPr>
              <a:t>(</a:t>
            </a:r>
            <a:r>
              <a:rPr lang="en-US" sz="1200" dirty="0">
                <a:latin typeface="News Gothic MT" panose="020B0503020103020203" pitchFamily="34" charset="0"/>
              </a:rPr>
              <a:t>Innocent </a:t>
            </a:r>
            <a:r>
              <a:rPr lang="en-US" sz="1200" dirty="0" err="1">
                <a:latin typeface="News Gothic MT" panose="020B0503020103020203" pitchFamily="34" charset="0"/>
              </a:rPr>
              <a:t>Nduwimana</a:t>
            </a:r>
            <a:r>
              <a:rPr lang="en-US" sz="1200" dirty="0">
                <a:latin typeface="News Gothic MT" panose="020B0503020103020203" pitchFamily="34" charset="0"/>
              </a:rPr>
              <a:t> et al, 2026)</a:t>
            </a:r>
            <a:r>
              <a:rPr lang="en-US" dirty="0">
                <a:effectLst/>
                <a:latin typeface="News Gothic MT" panose="020B0503020103020203" pitchFamily="34" charset="0"/>
              </a:rPr>
              <a:t> </a:t>
            </a:r>
          </a:p>
          <a:p>
            <a:pPr marL="0" indent="0">
              <a:buNone/>
            </a:pPr>
            <a:endParaRPr lang="en-US" dirty="0">
              <a:effectLst/>
              <a:latin typeface="Helvetica" pitchFamily="2" charset="0"/>
            </a:endParaRPr>
          </a:p>
          <a:p>
            <a:endParaRPr lang="en-US" dirty="0">
              <a:effectLst/>
              <a:latin typeface="Helvetica" pitchFamily="2" charset="0"/>
            </a:endParaRPr>
          </a:p>
          <a:p>
            <a:endParaRPr lang="en-MZ" dirty="0"/>
          </a:p>
          <a:p>
            <a:endParaRPr lang="en-M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A0471-506C-9146-AF89-B93AFEAA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A8016-1842-49BC-9DAA-1D05001B230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548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04E185-B6B6-481C-B1D1-57B284AD5B55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04355-03C0-7742-84A8-7597116351A4}"/>
              </a:ext>
            </a:extLst>
          </p:cNvPr>
          <p:cNvSpPr txBox="1"/>
          <p:nvPr/>
        </p:nvSpPr>
        <p:spPr>
          <a:xfrm>
            <a:off x="2353056" y="2048257"/>
            <a:ext cx="80832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MZ" sz="2000" b="1" dirty="0">
                <a:latin typeface="News Gothic MT" panose="020B0503020103020203" pitchFamily="34" charset="0"/>
              </a:rPr>
              <a:t>1974- Freudenberg: </a:t>
            </a:r>
            <a:r>
              <a:rPr lang="en-MZ" sz="2000" dirty="0">
                <a:latin typeface="News Gothic MT" panose="020B0503020103020203" pitchFamily="34" charset="0"/>
              </a:rPr>
              <a:t>” ficar desgastado devido a demandas excessivas”- estado de exausto.</a:t>
            </a:r>
          </a:p>
          <a:p>
            <a:pPr algn="just"/>
            <a:r>
              <a:rPr lang="en-MZ" sz="2000" b="1" dirty="0">
                <a:latin typeface="News Gothic MT" panose="020B0503020103020203" pitchFamily="34" charset="0"/>
              </a:rPr>
              <a:t>Maslach e Schaufeli- </a:t>
            </a:r>
            <a:r>
              <a:rPr lang="en-MZ" sz="2000" dirty="0">
                <a:latin typeface="News Gothic MT" panose="020B0503020103020203" pitchFamily="34" charset="0"/>
              </a:rPr>
              <a:t>Modelo Tridimensional de Burnout; exaustão pura (emocional) incluiram despersonalização (agir despersonalizado perante paciente e baixa motivação) e baixo senso de realização.</a:t>
            </a:r>
          </a:p>
          <a:p>
            <a:pPr algn="just"/>
            <a:r>
              <a:rPr lang="en-MZ" sz="2000" dirty="0">
                <a:latin typeface="News Gothic MT" panose="020B0503020103020203" pitchFamily="34" charset="0"/>
              </a:rPr>
              <a:t>CID-11: Fenômeno ocupacional QD85.</a:t>
            </a:r>
          </a:p>
          <a:p>
            <a:pPr algn="just"/>
            <a:r>
              <a:rPr lang="en-MZ" sz="2000" b="1" dirty="0">
                <a:latin typeface="News Gothic MT" panose="020B0503020103020203" pitchFamily="34" charset="0"/>
              </a:rPr>
              <a:t>Tavella e Parker: </a:t>
            </a:r>
            <a:r>
              <a:rPr lang="en-MZ" sz="2000" dirty="0">
                <a:latin typeface="News Gothic MT" panose="020B0503020103020203" pitchFamily="34" charset="0"/>
              </a:rPr>
              <a:t>ansiedade e stress, irritabilidade, problemas de funcionamento executivo e redução do funcionamento.</a:t>
            </a:r>
          </a:p>
          <a:p>
            <a:endParaRPr lang="en-M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F67A81-4C59-ED40-B98D-2B3AB99A83A8}"/>
              </a:ext>
            </a:extLst>
          </p:cNvPr>
          <p:cNvSpPr txBox="1"/>
          <p:nvPr/>
        </p:nvSpPr>
        <p:spPr>
          <a:xfrm>
            <a:off x="5255741" y="469557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Z" b="1" dirty="0"/>
              <a:t>BURNOUT</a:t>
            </a:r>
            <a:r>
              <a:rPr lang="en-MZ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95027-7E80-3147-BFF0-22BB07B8CBD7}"/>
              </a:ext>
            </a:extLst>
          </p:cNvPr>
          <p:cNvSpPr txBox="1"/>
          <p:nvPr/>
        </p:nvSpPr>
        <p:spPr>
          <a:xfrm>
            <a:off x="2485124" y="5348676"/>
            <a:ext cx="22740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Z" sz="1600" dirty="0">
                <a:latin typeface="News Gothic MT" panose="020B0503020103020203" pitchFamily="34" charset="0"/>
              </a:rPr>
              <a:t>Shaun Prentice, 2026</a:t>
            </a:r>
          </a:p>
        </p:txBody>
      </p:sp>
    </p:spTree>
    <p:extLst>
      <p:ext uri="{BB962C8B-B14F-4D97-AF65-F5344CB8AC3E}">
        <p14:creationId xmlns:p14="http://schemas.microsoft.com/office/powerpoint/2010/main" val="381236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B006-81A4-9948-9CC3-E4C7078CD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138" y="601663"/>
            <a:ext cx="7543800" cy="676274"/>
          </a:xfrm>
        </p:spPr>
        <p:txBody>
          <a:bodyPr>
            <a:normAutofit/>
          </a:bodyPr>
          <a:lstStyle/>
          <a:p>
            <a:pPr algn="ctr"/>
            <a:r>
              <a:rPr lang="en-MZ" sz="3600" b="1" dirty="0">
                <a:latin typeface="News Gothic MT" panose="020B0503020103020203" pitchFamily="34" charset="0"/>
              </a:rPr>
              <a:t>Burnout- 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02130-CAB6-8448-92A6-03CED34C7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br>
              <a:rPr lang="en-US" dirty="0">
                <a:effectLst/>
                <a:latin typeface="Times" pitchFamily="2" charset="0"/>
              </a:rPr>
            </a:br>
            <a:r>
              <a:rPr lang="en-US" dirty="0" err="1">
                <a:effectLst/>
                <a:latin typeface="Times" pitchFamily="2" charset="0"/>
              </a:rPr>
              <a:t>Sindrome</a:t>
            </a:r>
            <a:r>
              <a:rPr lang="en-US" dirty="0">
                <a:effectLst/>
                <a:latin typeface="Times" pitchFamily="2" charset="0"/>
              </a:rPr>
              <a:t> </a:t>
            </a:r>
            <a:r>
              <a:rPr lang="en-US" dirty="0" err="1">
                <a:effectLst/>
                <a:latin typeface="Times" pitchFamily="2" charset="0"/>
              </a:rPr>
              <a:t>resultante</a:t>
            </a:r>
            <a:r>
              <a:rPr lang="en-US" dirty="0">
                <a:effectLst/>
                <a:latin typeface="Times" pitchFamily="2" charset="0"/>
              </a:rPr>
              <a:t> de stress </a:t>
            </a:r>
            <a:r>
              <a:rPr lang="en-US" dirty="0" err="1">
                <a:effectLst/>
                <a:latin typeface="Times" pitchFamily="2" charset="0"/>
              </a:rPr>
              <a:t>crônico</a:t>
            </a:r>
            <a:r>
              <a:rPr lang="en-US" dirty="0">
                <a:effectLst/>
                <a:latin typeface="Times" pitchFamily="2" charset="0"/>
              </a:rPr>
              <a:t> do </a:t>
            </a:r>
            <a:r>
              <a:rPr lang="en-US" dirty="0" err="1">
                <a:effectLst/>
                <a:latin typeface="Times" pitchFamily="2" charset="0"/>
              </a:rPr>
              <a:t>trabalho</a:t>
            </a:r>
            <a:r>
              <a:rPr lang="en-US" dirty="0">
                <a:effectLst/>
                <a:latin typeface="Times" pitchFamily="2" charset="0"/>
              </a:rPr>
              <a:t>, 3 </a:t>
            </a:r>
            <a:r>
              <a:rPr lang="en-US" dirty="0" err="1">
                <a:effectLst/>
                <a:latin typeface="Times" pitchFamily="2" charset="0"/>
              </a:rPr>
              <a:t>dimensões:exaustão</a:t>
            </a:r>
            <a:r>
              <a:rPr lang="en-US" dirty="0">
                <a:effectLst/>
                <a:latin typeface="Times" pitchFamily="2" charset="0"/>
              </a:rPr>
              <a:t> </a:t>
            </a:r>
            <a:r>
              <a:rPr lang="en-US" dirty="0" err="1">
                <a:effectLst/>
                <a:latin typeface="Times" pitchFamily="2" charset="0"/>
              </a:rPr>
              <a:t>crônica</a:t>
            </a:r>
            <a:r>
              <a:rPr lang="en-US" dirty="0">
                <a:effectLst/>
                <a:latin typeface="Times" pitchFamily="2" charset="0"/>
              </a:rPr>
              <a:t>; </a:t>
            </a:r>
            <a:r>
              <a:rPr lang="en-US" dirty="0" err="1">
                <a:effectLst/>
                <a:latin typeface="Times" pitchFamily="2" charset="0"/>
              </a:rPr>
              <a:t>cinismo</a:t>
            </a:r>
            <a:r>
              <a:rPr lang="en-US" dirty="0">
                <a:effectLst/>
                <a:latin typeface="Times" pitchFamily="2" charset="0"/>
              </a:rPr>
              <a:t> e attitude de </a:t>
            </a:r>
            <a:r>
              <a:rPr lang="en-US" dirty="0" err="1">
                <a:effectLst/>
                <a:latin typeface="Times" pitchFamily="2" charset="0"/>
              </a:rPr>
              <a:t>desleixo</a:t>
            </a:r>
            <a:r>
              <a:rPr lang="en-US" dirty="0">
                <a:effectLst/>
                <a:latin typeface="Times" pitchFamily="2" charset="0"/>
              </a:rPr>
              <a:t> </a:t>
            </a:r>
            <a:r>
              <a:rPr lang="en-US" dirty="0" err="1">
                <a:effectLst/>
                <a:latin typeface="Times" pitchFamily="2" charset="0"/>
              </a:rPr>
              <a:t>em</a:t>
            </a:r>
            <a:r>
              <a:rPr lang="en-US" dirty="0">
                <a:effectLst/>
                <a:latin typeface="Times" pitchFamily="2" charset="0"/>
              </a:rPr>
              <a:t> </a:t>
            </a:r>
            <a:r>
              <a:rPr lang="en-US" dirty="0" err="1">
                <a:effectLst/>
                <a:latin typeface="Times" pitchFamily="2" charset="0"/>
              </a:rPr>
              <a:t>relação</a:t>
            </a:r>
            <a:r>
              <a:rPr lang="en-US" dirty="0">
                <a:effectLst/>
                <a:latin typeface="Times" pitchFamily="2" charset="0"/>
              </a:rPr>
              <a:t> </a:t>
            </a:r>
            <a:r>
              <a:rPr lang="en-US" dirty="0" err="1">
                <a:effectLst/>
                <a:latin typeface="Times" pitchFamily="2" charset="0"/>
              </a:rPr>
              <a:t>ao</a:t>
            </a:r>
            <a:r>
              <a:rPr lang="en-US" dirty="0">
                <a:effectLst/>
                <a:latin typeface="Times" pitchFamily="2" charset="0"/>
              </a:rPr>
              <a:t> </a:t>
            </a:r>
            <a:r>
              <a:rPr lang="en-US" dirty="0" err="1">
                <a:effectLst/>
                <a:latin typeface="Times" pitchFamily="2" charset="0"/>
              </a:rPr>
              <a:t>trabalho</a:t>
            </a:r>
            <a:r>
              <a:rPr lang="en-US" dirty="0">
                <a:effectLst/>
                <a:latin typeface="Times" pitchFamily="2" charset="0"/>
              </a:rPr>
              <a:t> e clients e </a:t>
            </a:r>
            <a:r>
              <a:rPr lang="en-US" dirty="0" err="1">
                <a:effectLst/>
                <a:latin typeface="Times" pitchFamily="2" charset="0"/>
              </a:rPr>
              <a:t>redução</a:t>
            </a:r>
            <a:r>
              <a:rPr lang="en-US" dirty="0">
                <a:effectLst/>
                <a:latin typeface="Times" pitchFamily="2" charset="0"/>
              </a:rPr>
              <a:t> da </a:t>
            </a:r>
            <a:r>
              <a:rPr lang="en-US" dirty="0" err="1">
                <a:effectLst/>
                <a:latin typeface="Times" pitchFamily="2" charset="0"/>
              </a:rPr>
              <a:t>eficácia</a:t>
            </a:r>
            <a:r>
              <a:rPr lang="en-US" dirty="0">
                <a:effectLst/>
                <a:latin typeface="Times" pitchFamily="2" charset="0"/>
              </a:rPr>
              <a:t> professional (</a:t>
            </a:r>
            <a:r>
              <a:rPr lang="en-US" dirty="0" err="1">
                <a:effectLst/>
                <a:latin typeface="Times" pitchFamily="2" charset="0"/>
              </a:rPr>
              <a:t>dificuldade</a:t>
            </a:r>
            <a:r>
              <a:rPr lang="en-US" dirty="0">
                <a:effectLst/>
                <a:latin typeface="Times" pitchFamily="2" charset="0"/>
              </a:rPr>
              <a:t> </a:t>
            </a:r>
            <a:r>
              <a:rPr lang="en-US" dirty="0" err="1">
                <a:effectLst/>
                <a:latin typeface="Times" pitchFamily="2" charset="0"/>
              </a:rPr>
              <a:t>em</a:t>
            </a:r>
            <a:r>
              <a:rPr lang="en-US" dirty="0">
                <a:effectLst/>
                <a:latin typeface="Times" pitchFamily="2" charset="0"/>
              </a:rPr>
              <a:t> </a:t>
            </a:r>
            <a:r>
              <a:rPr lang="en-US" dirty="0" err="1">
                <a:effectLst/>
                <a:latin typeface="Times" pitchFamily="2" charset="0"/>
              </a:rPr>
              <a:t>concentrar</a:t>
            </a:r>
            <a:r>
              <a:rPr lang="en-US" dirty="0">
                <a:effectLst/>
                <a:latin typeface="Times" pitchFamily="2" charset="0"/>
              </a:rPr>
              <a:t>-se, </a:t>
            </a:r>
            <a:r>
              <a:rPr lang="en-US" dirty="0" err="1">
                <a:effectLst/>
                <a:latin typeface="Times" pitchFamily="2" charset="0"/>
              </a:rPr>
              <a:t>lembrar</a:t>
            </a:r>
            <a:r>
              <a:rPr lang="en-US" dirty="0">
                <a:effectLst/>
                <a:latin typeface="Times" pitchFamily="2" charset="0"/>
              </a:rPr>
              <a:t> </a:t>
            </a:r>
            <a:r>
              <a:rPr lang="en-US" dirty="0" err="1">
                <a:effectLst/>
                <a:latin typeface="Times" pitchFamily="2" charset="0"/>
              </a:rPr>
              <a:t>detalhes</a:t>
            </a:r>
            <a:r>
              <a:rPr lang="en-US" dirty="0">
                <a:effectLst/>
                <a:latin typeface="Times" pitchFamily="2" charset="0"/>
              </a:rPr>
              <a:t> e </a:t>
            </a:r>
            <a:r>
              <a:rPr lang="en-US" dirty="0" err="1">
                <a:effectLst/>
                <a:latin typeface="Times" pitchFamily="2" charset="0"/>
              </a:rPr>
              <a:t>processar</a:t>
            </a:r>
            <a:r>
              <a:rPr lang="en-US" dirty="0">
                <a:effectLst/>
                <a:latin typeface="Times" pitchFamily="2" charset="0"/>
              </a:rPr>
              <a:t> </a:t>
            </a:r>
            <a:r>
              <a:rPr lang="en-US" dirty="0" err="1">
                <a:effectLst/>
                <a:latin typeface="Times" pitchFamily="2" charset="0"/>
              </a:rPr>
              <a:t>informação</a:t>
            </a:r>
            <a:r>
              <a:rPr lang="en-US" dirty="0">
                <a:effectLst/>
                <a:latin typeface="Times" pitchFamily="2" charset="0"/>
              </a:rPr>
              <a:t> de forma </a:t>
            </a:r>
            <a:r>
              <a:rPr lang="en-US" dirty="0" err="1">
                <a:effectLst/>
                <a:latin typeface="Times" pitchFamily="2" charset="0"/>
              </a:rPr>
              <a:t>eficiente</a:t>
            </a:r>
            <a:r>
              <a:rPr lang="en-US" dirty="0">
                <a:effectLst/>
                <a:latin typeface="Times" pitchFamily="2" charset="0"/>
              </a:rPr>
              <a:t>). </a:t>
            </a:r>
          </a:p>
          <a:p>
            <a:pPr marL="0" indent="0">
              <a:buNone/>
            </a:pPr>
            <a:r>
              <a:rPr lang="en-US" b="1" dirty="0" err="1">
                <a:latin typeface="Times" pitchFamily="2" charset="0"/>
              </a:rPr>
              <a:t>Consequências</a:t>
            </a:r>
            <a:r>
              <a:rPr lang="en-US" b="1" dirty="0">
                <a:latin typeface="Times" pitchFamily="2" charset="0"/>
              </a:rPr>
              <a:t>:</a:t>
            </a:r>
          </a:p>
          <a:p>
            <a:pPr marL="0" indent="0">
              <a:buNone/>
            </a:pPr>
            <a:r>
              <a:rPr lang="en-US" b="1" dirty="0">
                <a:latin typeface="Times" pitchFamily="2" charset="0"/>
              </a:rPr>
              <a:t>- </a:t>
            </a:r>
            <a:r>
              <a:rPr lang="en-US" b="1" dirty="0" err="1">
                <a:latin typeface="Times" pitchFamily="2" charset="0"/>
              </a:rPr>
              <a:t>Aumenta</a:t>
            </a:r>
            <a:r>
              <a:rPr lang="en-US" b="1" dirty="0">
                <a:latin typeface="Times" pitchFamily="2" charset="0"/>
              </a:rPr>
              <a:t> </a:t>
            </a:r>
            <a:r>
              <a:rPr lang="en-US" b="1" dirty="0" err="1">
                <a:latin typeface="Times" pitchFamily="2" charset="0"/>
              </a:rPr>
              <a:t>risco</a:t>
            </a:r>
            <a:r>
              <a:rPr lang="en-US" b="1" dirty="0">
                <a:latin typeface="Times" pitchFamily="2" charset="0"/>
              </a:rPr>
              <a:t> de </a:t>
            </a:r>
            <a:r>
              <a:rPr lang="en-US" b="1" dirty="0" err="1">
                <a:latin typeface="Times" pitchFamily="2" charset="0"/>
              </a:rPr>
              <a:t>ansiedade</a:t>
            </a:r>
            <a:r>
              <a:rPr lang="en-US" b="1" dirty="0">
                <a:latin typeface="Times" pitchFamily="2" charset="0"/>
              </a:rPr>
              <a:t>, </a:t>
            </a:r>
            <a:r>
              <a:rPr lang="en-US" b="1" dirty="0" err="1">
                <a:latin typeface="Times" pitchFamily="2" charset="0"/>
              </a:rPr>
              <a:t>depressão</a:t>
            </a:r>
            <a:r>
              <a:rPr lang="en-US" b="1" dirty="0">
                <a:latin typeface="Times" pitchFamily="2" charset="0"/>
              </a:rPr>
              <a:t>, </a:t>
            </a:r>
            <a:r>
              <a:rPr lang="en-US" b="1" dirty="0" err="1">
                <a:latin typeface="Times" pitchFamily="2" charset="0"/>
              </a:rPr>
              <a:t>dor</a:t>
            </a:r>
            <a:r>
              <a:rPr lang="en-US" b="1" dirty="0">
                <a:latin typeface="Times" pitchFamily="2" charset="0"/>
              </a:rPr>
              <a:t> muscular, Diabetes </a:t>
            </a:r>
            <a:r>
              <a:rPr lang="en-US" b="1" dirty="0" err="1">
                <a:latin typeface="Times" pitchFamily="2" charset="0"/>
              </a:rPr>
              <a:t>tipo</a:t>
            </a:r>
            <a:r>
              <a:rPr lang="en-US" b="1" dirty="0">
                <a:latin typeface="Times" pitchFamily="2" charset="0"/>
              </a:rPr>
              <a:t> 2 e </a:t>
            </a:r>
            <a:r>
              <a:rPr lang="en-US" b="1" dirty="0" err="1">
                <a:latin typeface="Times" pitchFamily="2" charset="0"/>
              </a:rPr>
              <a:t>doenças</a:t>
            </a:r>
            <a:r>
              <a:rPr lang="en-US" b="1" dirty="0">
                <a:latin typeface="Times" pitchFamily="2" charset="0"/>
              </a:rPr>
              <a:t> </a:t>
            </a:r>
            <a:r>
              <a:rPr lang="en-US" b="1" dirty="0" err="1">
                <a:latin typeface="Times" pitchFamily="2" charset="0"/>
              </a:rPr>
              <a:t>cardiovasculares</a:t>
            </a:r>
            <a:endParaRPr lang="en-US" b="1" dirty="0">
              <a:latin typeface="Times" pitchFamily="2" charset="0"/>
            </a:endParaRPr>
          </a:p>
          <a:p>
            <a:pPr marL="0" indent="0">
              <a:buNone/>
            </a:pPr>
            <a:r>
              <a:rPr lang="en-US" b="1" dirty="0">
                <a:latin typeface="Times" pitchFamily="2" charset="0"/>
              </a:rPr>
              <a:t>- </a:t>
            </a:r>
            <a:r>
              <a:rPr lang="en-US" b="1" dirty="0" err="1">
                <a:latin typeface="Times" pitchFamily="2" charset="0"/>
              </a:rPr>
              <a:t>Destroi</a:t>
            </a:r>
            <a:r>
              <a:rPr lang="en-US" b="1" dirty="0">
                <a:latin typeface="Times" pitchFamily="2" charset="0"/>
              </a:rPr>
              <a:t> a </a:t>
            </a:r>
            <a:r>
              <a:rPr lang="en-US" b="1" dirty="0" err="1">
                <a:latin typeface="Times" pitchFamily="2" charset="0"/>
              </a:rPr>
              <a:t>empatia</a:t>
            </a:r>
            <a:r>
              <a:rPr lang="en-US" b="1" dirty="0">
                <a:latin typeface="Times" pitchFamily="2" charset="0"/>
              </a:rPr>
              <a:t>, </a:t>
            </a:r>
            <a:r>
              <a:rPr lang="en-US" b="1" dirty="0" err="1">
                <a:latin typeface="Times" pitchFamily="2" charset="0"/>
              </a:rPr>
              <a:t>precisão</a:t>
            </a:r>
            <a:r>
              <a:rPr lang="en-US" b="1" dirty="0">
                <a:latin typeface="Times" pitchFamily="2" charset="0"/>
              </a:rPr>
              <a:t> e control </a:t>
            </a:r>
            <a:r>
              <a:rPr lang="en-US" b="1" dirty="0" err="1">
                <a:latin typeface="Times" pitchFamily="2" charset="0"/>
              </a:rPr>
              <a:t>cognitivo</a:t>
            </a:r>
            <a:r>
              <a:rPr lang="en-US" b="1" dirty="0">
                <a:latin typeface="Times" pitchFamily="2" charset="0"/>
              </a:rPr>
              <a:t>, </a:t>
            </a:r>
            <a:r>
              <a:rPr lang="en-US" b="1" dirty="0" err="1">
                <a:latin typeface="Times" pitchFamily="2" charset="0"/>
              </a:rPr>
              <a:t>essenciais</a:t>
            </a:r>
            <a:r>
              <a:rPr lang="en-US" b="1" dirty="0">
                <a:latin typeface="Times" pitchFamily="2" charset="0"/>
              </a:rPr>
              <a:t> para </a:t>
            </a:r>
            <a:r>
              <a:rPr lang="en-US" b="1" dirty="0" err="1">
                <a:latin typeface="Times" pitchFamily="2" charset="0"/>
              </a:rPr>
              <a:t>cuidados</a:t>
            </a:r>
            <a:r>
              <a:rPr lang="en-US" b="1" dirty="0">
                <a:latin typeface="Times" pitchFamily="2" charset="0"/>
              </a:rPr>
              <a:t> de </a:t>
            </a:r>
            <a:r>
              <a:rPr lang="en-US" b="1" dirty="0" err="1">
                <a:latin typeface="Times" pitchFamily="2" charset="0"/>
              </a:rPr>
              <a:t>segurança</a:t>
            </a:r>
            <a:r>
              <a:rPr lang="en-US" b="1" dirty="0">
                <a:latin typeface="Times" pitchFamily="2" charset="0"/>
              </a:rPr>
              <a:t> e </a:t>
            </a:r>
            <a:r>
              <a:rPr lang="en-US" b="1" dirty="0" err="1">
                <a:latin typeface="Times" pitchFamily="2" charset="0"/>
              </a:rPr>
              <a:t>compaixão</a:t>
            </a:r>
            <a:r>
              <a:rPr lang="en-US" b="1" dirty="0">
                <a:latin typeface="Times" pitchFamily="2" charset="0"/>
              </a:rPr>
              <a:t>.</a:t>
            </a:r>
          </a:p>
          <a:p>
            <a:pPr marL="0" indent="0">
              <a:buNone/>
            </a:pPr>
            <a:br>
              <a:rPr lang="en-US" dirty="0">
                <a:effectLst/>
                <a:latin typeface="Times" pitchFamily="2" charset="0"/>
              </a:rPr>
            </a:br>
            <a:r>
              <a:rPr lang="en-US" dirty="0">
                <a:effectLst/>
                <a:latin typeface="Times" pitchFamily="2" charset="0"/>
              </a:rPr>
              <a:t> </a:t>
            </a:r>
            <a:endParaRPr lang="en-US" b="1" dirty="0">
              <a:effectLst/>
              <a:latin typeface="Times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F3DAB-5D4B-D54D-B2D9-984B2325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A8016-1842-49BC-9DAA-1D05001B230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929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04E185-B6B6-481C-B1D1-57B284AD5B55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04355-03C0-7742-84A8-7597116351A4}"/>
              </a:ext>
            </a:extLst>
          </p:cNvPr>
          <p:cNvSpPr txBox="1"/>
          <p:nvPr/>
        </p:nvSpPr>
        <p:spPr>
          <a:xfrm>
            <a:off x="3147949" y="324881"/>
            <a:ext cx="6437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Z" b="1" dirty="0"/>
              <a:t>BURNOUT</a:t>
            </a:r>
            <a:r>
              <a:rPr lang="en-MZ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4D11FA-342F-0F4B-9AB6-979EF1473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944" y="685800"/>
            <a:ext cx="5468112" cy="51389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4D0271-D478-D34D-B33F-914ADDEF5D3E}"/>
              </a:ext>
            </a:extLst>
          </p:cNvPr>
          <p:cNvSpPr txBox="1"/>
          <p:nvPr/>
        </p:nvSpPr>
        <p:spPr>
          <a:xfrm>
            <a:off x="4413505" y="2121409"/>
            <a:ext cx="2798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Z" sz="2400" b="1" dirty="0"/>
              <a:t>BURNOUT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2C2F36-DEF1-B542-AB42-45E2C603E4F3}"/>
              </a:ext>
            </a:extLst>
          </p:cNvPr>
          <p:cNvSpPr txBox="1"/>
          <p:nvPr/>
        </p:nvSpPr>
        <p:spPr>
          <a:xfrm>
            <a:off x="1622426" y="5103674"/>
            <a:ext cx="90455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MZ" dirty="0"/>
              <a:t>Cinco sintomas chave: i) </a:t>
            </a:r>
            <a:r>
              <a:rPr lang="en-MZ" b="1" dirty="0"/>
              <a:t>exaustão</a:t>
            </a:r>
            <a:r>
              <a:rPr lang="en-MZ" dirty="0"/>
              <a:t> (física, cognitiva e fadiga emocinal); ii) </a:t>
            </a:r>
            <a:r>
              <a:rPr lang="en-MZ" b="1" dirty="0"/>
              <a:t>despersonalização</a:t>
            </a:r>
            <a:r>
              <a:rPr lang="en-MZ" dirty="0"/>
              <a:t> (abandono de relações profissioanis e sociais, indiferença e desmotivação pelo trabalho); iii) </a:t>
            </a:r>
            <a:r>
              <a:rPr lang="en-MZ" b="1" dirty="0"/>
              <a:t>perda de senso de conquista/ganho, baixa auto estima e negligência </a:t>
            </a:r>
            <a:r>
              <a:rPr lang="en-MZ" dirty="0"/>
              <a:t>das necessidades pessoais físicas e psicológicas; iv) </a:t>
            </a:r>
            <a:r>
              <a:rPr lang="en-MZ" b="1" dirty="0"/>
              <a:t>sensação de suas emoções tornarem-se elavadas</a:t>
            </a:r>
            <a:r>
              <a:rPr lang="en-MZ" dirty="0"/>
              <a:t>, mais irritável e v) </a:t>
            </a:r>
            <a:r>
              <a:rPr lang="en-MZ" b="1" dirty="0"/>
              <a:t>redução do funcionamento cognitivo</a:t>
            </a:r>
            <a:r>
              <a:rPr lang="en-MZ" dirty="0"/>
              <a:t> (redução da velocidade de processamento, fraca concentração) e redução da qualidade do trabalho.</a:t>
            </a:r>
          </a:p>
        </p:txBody>
      </p:sp>
    </p:spTree>
    <p:extLst>
      <p:ext uri="{BB962C8B-B14F-4D97-AF65-F5344CB8AC3E}">
        <p14:creationId xmlns:p14="http://schemas.microsoft.com/office/powerpoint/2010/main" val="3339731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04E185-B6B6-481C-B1D1-57B284AD5B5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04355-03C0-7742-84A8-7597116351A4}"/>
              </a:ext>
            </a:extLst>
          </p:cNvPr>
          <p:cNvSpPr txBox="1"/>
          <p:nvPr/>
        </p:nvSpPr>
        <p:spPr>
          <a:xfrm>
            <a:off x="3730047" y="910827"/>
            <a:ext cx="541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Z" b="1" dirty="0"/>
              <a:t>Classificação do Burnout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27EAA0-911B-7745-83D5-6E083DA784A7}"/>
              </a:ext>
            </a:extLst>
          </p:cNvPr>
          <p:cNvSpPr txBox="1"/>
          <p:nvPr/>
        </p:nvSpPr>
        <p:spPr>
          <a:xfrm>
            <a:off x="3206497" y="3429000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Z" b="1" dirty="0"/>
              <a:t>BURNOUT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2D4482-C7E8-2249-873D-20D8FF54A190}"/>
              </a:ext>
            </a:extLst>
          </p:cNvPr>
          <p:cNvCxnSpPr>
            <a:cxnSpLocks/>
          </p:cNvCxnSpPr>
          <p:nvPr/>
        </p:nvCxnSpPr>
        <p:spPr>
          <a:xfrm>
            <a:off x="4706112" y="1700784"/>
            <a:ext cx="0" cy="4572000"/>
          </a:xfrm>
          <a:prstGeom prst="line">
            <a:avLst/>
          </a:prstGeom>
          <a:ln w="698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0736849-CF85-A844-97E7-98666B208718}"/>
              </a:ext>
            </a:extLst>
          </p:cNvPr>
          <p:cNvSpPr txBox="1"/>
          <p:nvPr/>
        </p:nvSpPr>
        <p:spPr>
          <a:xfrm>
            <a:off x="5038422" y="1800581"/>
            <a:ext cx="5463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Z" b="1" dirty="0"/>
              <a:t>“Frenético”: </a:t>
            </a:r>
            <a:r>
              <a:rPr lang="en-MZ" dirty="0"/>
              <a:t>indivíduos sobrecaregam-se com o trabalho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5FF62-3A00-F449-84C9-14540DCB61F6}"/>
              </a:ext>
            </a:extLst>
          </p:cNvPr>
          <p:cNvSpPr txBox="1"/>
          <p:nvPr/>
        </p:nvSpPr>
        <p:spPr>
          <a:xfrm>
            <a:off x="5038423" y="3240305"/>
            <a:ext cx="50568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Z" b="1" dirty="0"/>
              <a:t>Pouco desafiado: </a:t>
            </a:r>
            <a:r>
              <a:rPr lang="en-MZ" dirty="0"/>
              <a:t>indivíduos sentem-se aborecidos, </a:t>
            </a:r>
          </a:p>
          <a:p>
            <a:r>
              <a:rPr lang="en-US" dirty="0"/>
              <a:t>I</a:t>
            </a:r>
            <a:r>
              <a:rPr lang="en-MZ" dirty="0"/>
              <a:t>ndiferentes e estagnados no seu desenvolvimento </a:t>
            </a:r>
          </a:p>
          <a:p>
            <a:r>
              <a:rPr lang="en-MZ" dirty="0"/>
              <a:t>profissional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19C66A-A5DE-B647-A1D8-2154BFDC7BB6}"/>
              </a:ext>
            </a:extLst>
          </p:cNvPr>
          <p:cNvSpPr txBox="1"/>
          <p:nvPr/>
        </p:nvSpPr>
        <p:spPr>
          <a:xfrm>
            <a:off x="5020553" y="5023844"/>
            <a:ext cx="51875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Z" b="1" dirty="0"/>
              <a:t>Desgastado: </a:t>
            </a:r>
            <a:r>
              <a:rPr lang="en-MZ" dirty="0"/>
              <a:t>indivíduo negligencia as suas </a:t>
            </a:r>
          </a:p>
          <a:p>
            <a:r>
              <a:rPr lang="en-US" dirty="0"/>
              <a:t>R</a:t>
            </a:r>
            <a:r>
              <a:rPr lang="en-MZ" dirty="0"/>
              <a:t>esponsabilidades, facilmente fica exausto e sente-se</a:t>
            </a:r>
          </a:p>
          <a:p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valorizado</a:t>
            </a:r>
            <a:r>
              <a:rPr lang="en-US" dirty="0"/>
              <a:t>.</a:t>
            </a:r>
            <a:endParaRPr lang="en-MZ" dirty="0"/>
          </a:p>
          <a:p>
            <a:r>
              <a:rPr lang="en-MZ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94DD3D-8136-8648-8BC4-6DA78FE79D01}"/>
              </a:ext>
            </a:extLst>
          </p:cNvPr>
          <p:cNvSpPr txBox="1"/>
          <p:nvPr/>
        </p:nvSpPr>
        <p:spPr>
          <a:xfrm>
            <a:off x="1622426" y="6272784"/>
            <a:ext cx="9147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Z" b="1" dirty="0"/>
              <a:t>Reação tardia as stress crônico- mecanismos de auto-proteção psicologica minimiza tensão</a:t>
            </a:r>
          </a:p>
        </p:txBody>
      </p:sp>
    </p:spTree>
    <p:extLst>
      <p:ext uri="{BB962C8B-B14F-4D97-AF65-F5344CB8AC3E}">
        <p14:creationId xmlns:p14="http://schemas.microsoft.com/office/powerpoint/2010/main" val="2878942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1756F-A70A-934E-931A-107FD8703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138" y="601664"/>
            <a:ext cx="7543800" cy="532193"/>
          </a:xfrm>
        </p:spPr>
        <p:txBody>
          <a:bodyPr>
            <a:normAutofit/>
          </a:bodyPr>
          <a:lstStyle/>
          <a:p>
            <a:pPr algn="ctr"/>
            <a:r>
              <a:rPr lang="en-MZ" sz="3200" b="1" dirty="0">
                <a:latin typeface="News Gothic MT" panose="020B0503020103020203" pitchFamily="34" charset="0"/>
              </a:rPr>
              <a:t>Mecanismos Biológicos de Burnout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00566-1F63-B74D-BE00-BFEE4120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A8016-1842-49BC-9DAA-1D05001B230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0D8AF-7EC0-2E45-AED7-FD99B82F2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605" y="1133857"/>
            <a:ext cx="7543800" cy="5122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D23754-7674-114B-98AB-3068EA760294}"/>
              </a:ext>
            </a:extLst>
          </p:cNvPr>
          <p:cNvSpPr txBox="1"/>
          <p:nvPr/>
        </p:nvSpPr>
        <p:spPr>
          <a:xfrm>
            <a:off x="1908048" y="5907024"/>
            <a:ext cx="28712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Adam Bayes et al, 2021</a:t>
            </a:r>
          </a:p>
          <a:p>
            <a:endParaRPr lang="en-MZ" dirty="0"/>
          </a:p>
        </p:txBody>
      </p:sp>
    </p:spTree>
    <p:extLst>
      <p:ext uri="{BB962C8B-B14F-4D97-AF65-F5344CB8AC3E}">
        <p14:creationId xmlns:p14="http://schemas.microsoft.com/office/powerpoint/2010/main" val="817047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04E185-B6B6-481C-B1D1-57B284AD5B55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04355-03C0-7742-84A8-7597116351A4}"/>
              </a:ext>
            </a:extLst>
          </p:cNvPr>
          <p:cNvSpPr txBox="1"/>
          <p:nvPr/>
        </p:nvSpPr>
        <p:spPr>
          <a:xfrm>
            <a:off x="2315986" y="1176504"/>
            <a:ext cx="8083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Z" sz="2000" b="1" dirty="0"/>
              <a:t>Diagnóstico Diferencial de Burnout e outros construtos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E1FE02-A794-AC41-9A1D-BA611D5C2DF3}"/>
              </a:ext>
            </a:extLst>
          </p:cNvPr>
          <p:cNvGraphicFramePr>
            <a:graphicFrameLocks noGrp="1"/>
          </p:cNvGraphicFramePr>
          <p:nvPr/>
        </p:nvGraphicFramePr>
        <p:xfrm>
          <a:off x="1808206" y="1576615"/>
          <a:ext cx="8464378" cy="44728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1926">
                  <a:extLst>
                    <a:ext uri="{9D8B030D-6E8A-4147-A177-3AD203B41FA5}">
                      <a16:colId xmlns:a16="http://schemas.microsoft.com/office/drawing/2014/main" val="3548998316"/>
                    </a:ext>
                  </a:extLst>
                </a:gridCol>
                <a:gridCol w="2981926">
                  <a:extLst>
                    <a:ext uri="{9D8B030D-6E8A-4147-A177-3AD203B41FA5}">
                      <a16:colId xmlns:a16="http://schemas.microsoft.com/office/drawing/2014/main" val="1626247836"/>
                    </a:ext>
                  </a:extLst>
                </a:gridCol>
                <a:gridCol w="2500526">
                  <a:extLst>
                    <a:ext uri="{9D8B030D-6E8A-4147-A177-3AD203B41FA5}">
                      <a16:colId xmlns:a16="http://schemas.microsoft.com/office/drawing/2014/main" val="1796852092"/>
                    </a:ext>
                  </a:extLst>
                </a:gridCol>
              </a:tblGrid>
              <a:tr h="4893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 err="1">
                          <a:effectLst/>
                        </a:rPr>
                        <a:t>Construto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 err="1">
                          <a:effectLst/>
                        </a:rPr>
                        <a:t>Distinção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en-US" sz="1800" b="1" u="none" strike="noStrike" dirty="0" err="1">
                          <a:effectLst/>
                        </a:rPr>
                        <a:t>em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en-US" sz="1800" b="1" u="none" strike="noStrike" dirty="0" err="1">
                          <a:effectLst/>
                        </a:rPr>
                        <a:t>relação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en-US" sz="1800" b="1" u="none" strike="noStrike" dirty="0" err="1">
                          <a:effectLst/>
                        </a:rPr>
                        <a:t>à</a:t>
                      </a:r>
                      <a:r>
                        <a:rPr lang="en-US" sz="1800" b="1" u="none" strike="noStrike" dirty="0">
                          <a:effectLst/>
                        </a:rPr>
                        <a:t> Burnout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 err="1">
                          <a:effectLst/>
                        </a:rPr>
                        <a:t>Características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en-US" sz="1800" b="1" u="none" strike="noStrike" dirty="0" err="1">
                          <a:effectLst/>
                        </a:rPr>
                        <a:t>contrastantes</a:t>
                      </a:r>
                      <a:r>
                        <a:rPr lang="en-US" sz="1800" b="1" u="none" strike="noStrike" dirty="0">
                          <a:effectLst/>
                        </a:rPr>
                        <a:t> de Burnout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096283"/>
                  </a:ext>
                </a:extLst>
              </a:tr>
              <a:tr h="250012">
                <a:tc rowSpan="4">
                  <a:txBody>
                    <a:bodyPr/>
                    <a:lstStyle/>
                    <a:p>
                      <a:pPr algn="l" fontAlgn="t"/>
                      <a:r>
                        <a:rPr lang="en-US" sz="1800" b="1" u="none" strike="noStrike" dirty="0" err="1">
                          <a:effectLst/>
                        </a:rPr>
                        <a:t>Depressão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- Falta de </a:t>
                      </a:r>
                      <a:r>
                        <a:rPr lang="en-US" sz="1400" u="none" strike="noStrike" dirty="0" err="1">
                          <a:effectLst/>
                        </a:rPr>
                        <a:t>esperança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- </a:t>
                      </a:r>
                      <a:r>
                        <a:rPr lang="en-US" sz="1400" u="none" strike="noStrike" dirty="0" err="1">
                          <a:effectLst/>
                        </a:rPr>
                        <a:t>Impotência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719638"/>
                  </a:ext>
                </a:extLst>
              </a:tr>
              <a:tr h="489340">
                <a:tc vMerge="1">
                  <a:txBody>
                    <a:bodyPr/>
                    <a:lstStyle/>
                    <a:p>
                      <a:endParaRPr lang="en-M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- </a:t>
                      </a:r>
                      <a:r>
                        <a:rPr lang="en-US" sz="1400" u="none" strike="noStrike" dirty="0" err="1">
                          <a:effectLst/>
                        </a:rPr>
                        <a:t>Muitos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sintomas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neurovegetativos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- </a:t>
                      </a:r>
                      <a:r>
                        <a:rPr lang="en-US" sz="1400" u="none" strike="noStrike" dirty="0" err="1">
                          <a:effectLst/>
                        </a:rPr>
                        <a:t>Poucos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sintomas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neurovegetativos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725430"/>
                  </a:ext>
                </a:extLst>
              </a:tr>
              <a:tr h="250012">
                <a:tc vMerge="1">
                  <a:txBody>
                    <a:bodyPr/>
                    <a:lstStyle/>
                    <a:p>
                      <a:endParaRPr lang="en-M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- Causa </a:t>
                      </a:r>
                      <a:r>
                        <a:rPr lang="en-US" sz="1400" u="none" strike="noStrike" dirty="0" err="1">
                          <a:effectLst/>
                        </a:rPr>
                        <a:t>pode</a:t>
                      </a:r>
                      <a:r>
                        <a:rPr lang="en-US" sz="1400" u="none" strike="noStrike" dirty="0">
                          <a:effectLst/>
                        </a:rPr>
                        <a:t> ser </a:t>
                      </a:r>
                      <a:r>
                        <a:rPr lang="en-US" sz="1400" u="none" strike="noStrike" dirty="0" err="1">
                          <a:effectLst/>
                        </a:rPr>
                        <a:t>pouco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clara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- Causa </a:t>
                      </a:r>
                      <a:r>
                        <a:rPr lang="en-US" sz="1400" u="none" strike="noStrike" dirty="0" err="1">
                          <a:effectLst/>
                        </a:rPr>
                        <a:t>clara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214220"/>
                  </a:ext>
                </a:extLst>
              </a:tr>
              <a:tr h="250012">
                <a:tc vMerge="1">
                  <a:txBody>
                    <a:bodyPr/>
                    <a:lstStyle/>
                    <a:p>
                      <a:endParaRPr lang="en-M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- Grande </a:t>
                      </a:r>
                      <a:r>
                        <a:rPr lang="en-US" sz="1400" u="none" strike="noStrike" dirty="0" err="1">
                          <a:effectLst/>
                        </a:rPr>
                        <a:t>sentimento</a:t>
                      </a:r>
                      <a:r>
                        <a:rPr lang="en-US" sz="1400" u="none" strike="noStrike" dirty="0">
                          <a:effectLst/>
                        </a:rPr>
                        <a:t> de tristeza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- </a:t>
                      </a:r>
                      <a:r>
                        <a:rPr lang="en-US" sz="1400" u="none" strike="noStrike" dirty="0" err="1">
                          <a:effectLst/>
                        </a:rPr>
                        <a:t>Sensação</a:t>
                      </a:r>
                      <a:r>
                        <a:rPr lang="en-US" sz="1400" u="none" strike="noStrike" dirty="0">
                          <a:effectLst/>
                        </a:rPr>
                        <a:t> de </a:t>
                      </a:r>
                      <a:r>
                        <a:rPr lang="en-US" sz="1400" u="none" strike="noStrike" dirty="0" err="1">
                          <a:effectLst/>
                        </a:rPr>
                        <a:t>vazio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959538"/>
                  </a:ext>
                </a:extLst>
              </a:tr>
              <a:tr h="489340">
                <a:tc rowSpan="2">
                  <a:txBody>
                    <a:bodyPr/>
                    <a:lstStyle/>
                    <a:p>
                      <a:pPr algn="l" fontAlgn="t"/>
                      <a:r>
                        <a:rPr lang="en-US" sz="1800" b="1" u="none" strike="noStrike">
                          <a:effectLst/>
                        </a:rPr>
                        <a:t>Stress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- </a:t>
                      </a:r>
                      <a:r>
                        <a:rPr lang="en-US" sz="1400" u="none" strike="noStrike" dirty="0" err="1">
                          <a:effectLst/>
                        </a:rPr>
                        <a:t>Adaptação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temporária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à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ameaça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- </a:t>
                      </a:r>
                      <a:r>
                        <a:rPr lang="en-US" sz="1400" u="none" strike="noStrike" dirty="0" err="1">
                          <a:effectLst/>
                        </a:rPr>
                        <a:t>Resposta</a:t>
                      </a:r>
                      <a:r>
                        <a:rPr lang="en-US" sz="1400" u="none" strike="noStrike" dirty="0">
                          <a:effectLst/>
                        </a:rPr>
                        <a:t> a </a:t>
                      </a:r>
                      <a:r>
                        <a:rPr lang="en-US" sz="1400" u="none" strike="noStrike" dirty="0" err="1">
                          <a:effectLst/>
                        </a:rPr>
                        <a:t>experiência</a:t>
                      </a:r>
                      <a:r>
                        <a:rPr lang="en-US" sz="1400" u="none" strike="noStrike" dirty="0">
                          <a:effectLst/>
                        </a:rPr>
                        <a:t> de stress </a:t>
                      </a:r>
                      <a:r>
                        <a:rPr lang="en-US" sz="1400" u="none" strike="noStrike" dirty="0" err="1">
                          <a:effectLst/>
                        </a:rPr>
                        <a:t>crônica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941128"/>
                  </a:ext>
                </a:extLst>
              </a:tr>
              <a:tr h="489340">
                <a:tc vMerge="1">
                  <a:txBody>
                    <a:bodyPr/>
                    <a:lstStyle/>
                    <a:p>
                      <a:endParaRPr lang="en-M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- </a:t>
                      </a:r>
                      <a:r>
                        <a:rPr lang="en-US" sz="1400" u="none" strike="noStrike" dirty="0" err="1">
                          <a:effectLst/>
                        </a:rPr>
                        <a:t>Pode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incluir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mudanças</a:t>
                      </a:r>
                      <a:r>
                        <a:rPr lang="en-US" sz="1400" u="none" strike="noStrike" dirty="0">
                          <a:effectLst/>
                        </a:rPr>
                        <a:t> da </a:t>
                      </a:r>
                      <a:r>
                        <a:rPr lang="en-US" sz="1400" u="none" strike="noStrike" dirty="0" err="1">
                          <a:effectLst/>
                        </a:rPr>
                        <a:t>atitude</a:t>
                      </a:r>
                      <a:r>
                        <a:rPr lang="en-US" sz="1400" u="none" strike="noStrike" dirty="0">
                          <a:effectLst/>
                        </a:rPr>
                        <a:t> e </a:t>
                      </a:r>
                      <a:r>
                        <a:rPr lang="en-US" sz="1400" u="none" strike="noStrike" dirty="0" err="1">
                          <a:effectLst/>
                        </a:rPr>
                        <a:t>comportamento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- </a:t>
                      </a:r>
                      <a:r>
                        <a:rPr lang="en-US" sz="1400" u="none" strike="noStrike" dirty="0" err="1">
                          <a:effectLst/>
                        </a:rPr>
                        <a:t>Definido</a:t>
                      </a:r>
                      <a:r>
                        <a:rPr lang="en-US" sz="1400" u="none" strike="noStrike" dirty="0">
                          <a:effectLst/>
                        </a:rPr>
                        <a:t> por </a:t>
                      </a:r>
                      <a:r>
                        <a:rPr lang="en-US" sz="1400" u="none" strike="noStrike" dirty="0" err="1">
                          <a:effectLst/>
                        </a:rPr>
                        <a:t>mudanças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na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atitude</a:t>
                      </a:r>
                      <a:r>
                        <a:rPr lang="en-US" sz="1400" u="none" strike="noStrike" dirty="0">
                          <a:effectLst/>
                        </a:rPr>
                        <a:t> e </a:t>
                      </a:r>
                      <a:r>
                        <a:rPr lang="en-US" sz="1400" u="none" strike="noStrike" dirty="0" err="1">
                          <a:effectLst/>
                        </a:rPr>
                        <a:t>comportamentos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28302"/>
                  </a:ext>
                </a:extLst>
              </a:tr>
              <a:tr h="967995">
                <a:tc rowSpan="2">
                  <a:txBody>
                    <a:bodyPr/>
                    <a:lstStyle/>
                    <a:p>
                      <a:pPr algn="l" fontAlgn="t"/>
                      <a:r>
                        <a:rPr lang="en-US" sz="1800" b="1" u="none" strike="noStrike" dirty="0">
                          <a:effectLst/>
                        </a:rPr>
                        <a:t>Vicarious Trauma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- </a:t>
                      </a:r>
                      <a:r>
                        <a:rPr lang="en-US" sz="1400" u="none" strike="noStrike" dirty="0" err="1">
                          <a:effectLst/>
                        </a:rPr>
                        <a:t>Sintomas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mais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específicos</a:t>
                      </a:r>
                      <a:r>
                        <a:rPr lang="en-US" sz="1400" u="none" strike="noStrike" dirty="0">
                          <a:effectLst/>
                        </a:rPr>
                        <a:t> (</a:t>
                      </a:r>
                      <a:r>
                        <a:rPr lang="en-US" sz="1400" u="none" strike="noStrike" dirty="0" err="1">
                          <a:effectLst/>
                        </a:rPr>
                        <a:t>despersonalização</a:t>
                      </a:r>
                      <a:r>
                        <a:rPr lang="en-US" sz="1400" u="none" strike="noStrike" dirty="0">
                          <a:effectLst/>
                        </a:rPr>
                        <a:t>, </a:t>
                      </a:r>
                      <a:r>
                        <a:rPr lang="en-US" sz="1400" u="none" strike="noStrike" dirty="0" err="1">
                          <a:effectLst/>
                        </a:rPr>
                        <a:t>ansiedade</a:t>
                      </a:r>
                      <a:r>
                        <a:rPr lang="en-US" sz="1400" u="none" strike="noStrike" dirty="0">
                          <a:effectLst/>
                        </a:rPr>
                        <a:t>, </a:t>
                      </a:r>
                      <a:r>
                        <a:rPr lang="en-US" sz="1400" u="none" strike="noStrike" dirty="0" err="1">
                          <a:effectLst/>
                        </a:rPr>
                        <a:t>mudanças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cognitivas</a:t>
                      </a:r>
                      <a:r>
                        <a:rPr lang="en-US" sz="1400" u="none" strike="noStrike" dirty="0">
                          <a:effectLst/>
                        </a:rPr>
                        <a:t>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- </a:t>
                      </a:r>
                      <a:r>
                        <a:rPr lang="en-US" sz="1400" u="none" strike="noStrike" dirty="0" err="1">
                          <a:effectLst/>
                        </a:rPr>
                        <a:t>Sintomas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vários</a:t>
                      </a:r>
                      <a:r>
                        <a:rPr lang="en-US" sz="1400" u="none" strike="noStrike" dirty="0">
                          <a:effectLst/>
                        </a:rPr>
                        <a:t> (</a:t>
                      </a:r>
                      <a:r>
                        <a:rPr lang="en-US" sz="1400" u="none" strike="noStrike" dirty="0" err="1">
                          <a:effectLst/>
                        </a:rPr>
                        <a:t>inclui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exaustão</a:t>
                      </a:r>
                      <a:r>
                        <a:rPr lang="en-US" sz="1400" u="none" strike="noStrike" dirty="0">
                          <a:effectLst/>
                        </a:rPr>
                        <a:t>, </a:t>
                      </a:r>
                      <a:r>
                        <a:rPr lang="en-US" sz="1400" u="none" strike="noStrike" dirty="0" err="1">
                          <a:effectLst/>
                        </a:rPr>
                        <a:t>redução</a:t>
                      </a:r>
                      <a:r>
                        <a:rPr lang="en-US" sz="1400" u="none" strike="noStrike" dirty="0">
                          <a:effectLst/>
                        </a:rPr>
                        <a:t> do </a:t>
                      </a:r>
                      <a:r>
                        <a:rPr lang="en-US" sz="1400" u="none" strike="noStrike" dirty="0" err="1">
                          <a:effectLst/>
                        </a:rPr>
                        <a:t>desempenho</a:t>
                      </a:r>
                      <a:r>
                        <a:rPr lang="en-US" sz="1400" u="none" strike="noStrike" dirty="0">
                          <a:effectLst/>
                        </a:rPr>
                        <a:t> e </a:t>
                      </a:r>
                      <a:r>
                        <a:rPr lang="en-US" sz="1400" u="none" strike="noStrike" dirty="0" err="1">
                          <a:effectLst/>
                        </a:rPr>
                        <a:t>mudanças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emocionais</a:t>
                      </a:r>
                      <a:r>
                        <a:rPr lang="en-US" sz="1400" u="none" strike="noStrike" dirty="0">
                          <a:effectLst/>
                        </a:rPr>
                        <a:t>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81503"/>
                  </a:ext>
                </a:extLst>
              </a:tr>
              <a:tr h="728667">
                <a:tc vMerge="1">
                  <a:txBody>
                    <a:bodyPr/>
                    <a:lstStyle/>
                    <a:p>
                      <a:endParaRPr lang="en-M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- </a:t>
                      </a:r>
                      <a:r>
                        <a:rPr lang="en-US" sz="1400" u="none" strike="noStrike" dirty="0" err="1">
                          <a:effectLst/>
                        </a:rPr>
                        <a:t>Etiologia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específica</a:t>
                      </a:r>
                      <a:r>
                        <a:rPr lang="en-US" sz="1400" u="none" strike="noStrike" dirty="0">
                          <a:effectLst/>
                        </a:rPr>
                        <a:t> (surge da </a:t>
                      </a:r>
                      <a:r>
                        <a:rPr lang="en-US" sz="1400" u="none" strike="noStrike" dirty="0" err="1">
                          <a:effectLst/>
                        </a:rPr>
                        <a:t>exposição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crônica</a:t>
                      </a:r>
                      <a:r>
                        <a:rPr lang="en-US" sz="1400" u="none" strike="noStrike" dirty="0">
                          <a:effectLst/>
                        </a:rPr>
                        <a:t> a </a:t>
                      </a:r>
                      <a:r>
                        <a:rPr lang="en-US" sz="1400" u="none" strike="noStrike" dirty="0" err="1">
                          <a:effectLst/>
                        </a:rPr>
                        <a:t>experiências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traumáticas</a:t>
                      </a:r>
                      <a:r>
                        <a:rPr lang="en-US" sz="1400" u="none" strike="noStrike" dirty="0">
                          <a:effectLst/>
                        </a:rPr>
                        <a:t> dos </a:t>
                      </a:r>
                      <a:r>
                        <a:rPr lang="en-US" sz="1400" u="none" strike="noStrike" dirty="0" err="1">
                          <a:effectLst/>
                        </a:rPr>
                        <a:t>pacientes</a:t>
                      </a:r>
                      <a:r>
                        <a:rPr lang="en-US" sz="1400" u="none" strike="noStrike" dirty="0">
                          <a:effectLst/>
                        </a:rPr>
                        <a:t>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- </a:t>
                      </a:r>
                      <a:r>
                        <a:rPr lang="en-US" sz="1400" u="none" strike="noStrike" dirty="0" err="1">
                          <a:effectLst/>
                        </a:rPr>
                        <a:t>Causas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diversas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439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2998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04E185-B6B6-481C-B1D1-57B284AD5B5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04355-03C0-7742-84A8-7597116351A4}"/>
              </a:ext>
            </a:extLst>
          </p:cNvPr>
          <p:cNvSpPr txBox="1"/>
          <p:nvPr/>
        </p:nvSpPr>
        <p:spPr>
          <a:xfrm>
            <a:off x="2184099" y="65388"/>
            <a:ext cx="8083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Z" sz="2000" b="1" dirty="0"/>
              <a:t>Intervenção terapêutica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B3F450-8640-DE48-94EE-AED2AFAFE8D4}"/>
              </a:ext>
            </a:extLst>
          </p:cNvPr>
          <p:cNvGraphicFramePr>
            <a:graphicFrameLocks noGrp="1"/>
          </p:cNvGraphicFramePr>
          <p:nvPr/>
        </p:nvGraphicFramePr>
        <p:xfrm>
          <a:off x="2586682" y="413390"/>
          <a:ext cx="7821826" cy="64282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82025">
                  <a:extLst>
                    <a:ext uri="{9D8B030D-6E8A-4147-A177-3AD203B41FA5}">
                      <a16:colId xmlns:a16="http://schemas.microsoft.com/office/drawing/2014/main" val="1914264912"/>
                    </a:ext>
                  </a:extLst>
                </a:gridCol>
                <a:gridCol w="1933911">
                  <a:extLst>
                    <a:ext uri="{9D8B030D-6E8A-4147-A177-3AD203B41FA5}">
                      <a16:colId xmlns:a16="http://schemas.microsoft.com/office/drawing/2014/main" val="3499729574"/>
                    </a:ext>
                  </a:extLst>
                </a:gridCol>
                <a:gridCol w="1709839">
                  <a:extLst>
                    <a:ext uri="{9D8B030D-6E8A-4147-A177-3AD203B41FA5}">
                      <a16:colId xmlns:a16="http://schemas.microsoft.com/office/drawing/2014/main" val="3517738979"/>
                    </a:ext>
                  </a:extLst>
                </a:gridCol>
                <a:gridCol w="1696051">
                  <a:extLst>
                    <a:ext uri="{9D8B030D-6E8A-4147-A177-3AD203B41FA5}">
                      <a16:colId xmlns:a16="http://schemas.microsoft.com/office/drawing/2014/main" val="2975586452"/>
                    </a:ext>
                  </a:extLst>
                </a:gridCol>
              </a:tblGrid>
              <a:tr h="1737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Pronto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err="1">
                          <a:effectLst/>
                        </a:rPr>
                        <a:t>Reactivo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err="1">
                          <a:effectLst/>
                        </a:rPr>
                        <a:t>Ferido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err="1">
                          <a:effectLst/>
                        </a:rPr>
                        <a:t>Doente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065266"/>
                  </a:ext>
                </a:extLst>
              </a:tr>
              <a:tr h="51317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effectLst/>
                        </a:rPr>
                        <a:t>Coping e </a:t>
                      </a:r>
                      <a:r>
                        <a:rPr lang="en-US" sz="1200" b="0" u="none" strike="noStrike" dirty="0" err="1">
                          <a:effectLst/>
                        </a:rPr>
                        <a:t>resiliência</a:t>
                      </a:r>
                      <a:r>
                        <a:rPr lang="en-US" sz="1200" b="0" u="none" strike="noStrike" dirty="0">
                          <a:effectLst/>
                        </a:rPr>
                        <a:t> </a:t>
                      </a:r>
                      <a:r>
                        <a:rPr lang="en-US" sz="1200" b="0" u="none" strike="noStrike" dirty="0" err="1">
                          <a:effectLst/>
                        </a:rPr>
                        <a:t>adaptativa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Distress </a:t>
                      </a:r>
                      <a:r>
                        <a:rPr lang="en-US" sz="1200" u="none" strike="noStrike" dirty="0" err="1">
                          <a:effectLst/>
                        </a:rPr>
                        <a:t>leve</a:t>
                      </a:r>
                      <a:r>
                        <a:rPr lang="en-US" sz="1200" u="none" strike="noStrike" dirty="0">
                          <a:effectLst/>
                        </a:rPr>
                        <a:t> e </a:t>
                      </a:r>
                      <a:r>
                        <a:rPr lang="en-US" sz="1200" u="none" strike="noStrike" dirty="0" err="1">
                          <a:effectLst/>
                        </a:rPr>
                        <a:t>transitório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Perda</a:t>
                      </a:r>
                      <a:r>
                        <a:rPr lang="en-US" sz="1200" u="none" strike="noStrike" dirty="0">
                          <a:effectLst/>
                        </a:rPr>
                        <a:t> do </a:t>
                      </a:r>
                      <a:r>
                        <a:rPr lang="en-US" sz="1200" u="none" strike="noStrike" dirty="0" err="1">
                          <a:effectLst/>
                        </a:rPr>
                        <a:t>funcionamento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óptimo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Mais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severo</a:t>
                      </a:r>
                      <a:r>
                        <a:rPr lang="en-US" sz="1200" u="none" strike="noStrike" dirty="0">
                          <a:effectLst/>
                        </a:rPr>
                        <a:t> e </a:t>
                      </a:r>
                      <a:r>
                        <a:rPr lang="en-US" sz="1200" u="none" strike="noStrike" dirty="0" err="1">
                          <a:effectLst/>
                        </a:rPr>
                        <a:t>em</a:t>
                      </a:r>
                      <a:r>
                        <a:rPr lang="en-US" sz="1200" u="none" strike="noStrike" dirty="0">
                          <a:effectLst/>
                        </a:rPr>
                        <a:t> distress </a:t>
                      </a:r>
                      <a:r>
                        <a:rPr lang="en-US" sz="1200" u="none" strike="noStrike" dirty="0" err="1">
                          <a:effectLst/>
                        </a:rPr>
                        <a:t>persistente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ou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perda</a:t>
                      </a:r>
                      <a:r>
                        <a:rPr lang="en-US" sz="1200" u="none" strike="noStrike" dirty="0">
                          <a:effectLst/>
                        </a:rPr>
                        <a:t> de </a:t>
                      </a:r>
                      <a:r>
                        <a:rPr lang="en-US" sz="1200" u="none" strike="noStrike" dirty="0" err="1">
                          <a:effectLst/>
                        </a:rPr>
                        <a:t>função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Distress </a:t>
                      </a:r>
                      <a:r>
                        <a:rPr lang="en-US" sz="1200" u="none" strike="noStrike" dirty="0" err="1">
                          <a:effectLst/>
                        </a:rPr>
                        <a:t>ou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perda</a:t>
                      </a:r>
                      <a:r>
                        <a:rPr lang="en-US" sz="1200" u="none" strike="noStrike" dirty="0">
                          <a:effectLst/>
                        </a:rPr>
                        <a:t> de </a:t>
                      </a:r>
                      <a:r>
                        <a:rPr lang="en-US" sz="1200" u="none" strike="noStrike" dirty="0" err="1">
                          <a:effectLst/>
                        </a:rPr>
                        <a:t>função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persistente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158641"/>
                  </a:ext>
                </a:extLst>
              </a:tr>
              <a:tr h="34348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effectLst/>
                        </a:rPr>
                        <a:t>Performance </a:t>
                      </a:r>
                      <a:r>
                        <a:rPr lang="en-US" sz="1200" b="0" u="none" strike="noStrike" dirty="0" err="1">
                          <a:effectLst/>
                        </a:rPr>
                        <a:t>cirúrgico</a:t>
                      </a:r>
                      <a:r>
                        <a:rPr lang="en-US" sz="1200" b="0" u="none" strike="noStrike" dirty="0">
                          <a:effectLst/>
                        </a:rPr>
                        <a:t> </a:t>
                      </a:r>
                      <a:r>
                        <a:rPr lang="en-US" sz="1200" b="0" u="none" strike="noStrike" dirty="0" err="1">
                          <a:effectLst/>
                        </a:rPr>
                        <a:t>óptimo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Sempre resolve com </a:t>
                      </a:r>
                      <a:r>
                        <a:rPr lang="en-US" sz="1200" u="none" strike="noStrike" dirty="0" err="1">
                          <a:effectLst/>
                        </a:rPr>
                        <a:t>repouso</a:t>
                      </a:r>
                      <a:r>
                        <a:rPr lang="en-US" sz="1200" u="none" strike="noStrike" dirty="0">
                          <a:effectLst/>
                        </a:rPr>
                        <a:t> e </a:t>
                      </a:r>
                      <a:r>
                        <a:rPr lang="en-US" sz="1200" u="none" strike="noStrike" dirty="0" err="1">
                          <a:effectLst/>
                        </a:rPr>
                        <a:t>suporte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Deixa</a:t>
                      </a:r>
                      <a:r>
                        <a:rPr lang="en-US" sz="1200" u="none" strike="noStrike" dirty="0">
                          <a:effectLst/>
                        </a:rPr>
                        <a:t> "</a:t>
                      </a:r>
                      <a:r>
                        <a:rPr lang="en-US" sz="1200" u="none" strike="noStrike" dirty="0" err="1">
                          <a:effectLst/>
                        </a:rPr>
                        <a:t>cicatriz</a:t>
                      </a:r>
                      <a:r>
                        <a:rPr lang="en-US" sz="1200" u="none" strike="noStrike" dirty="0">
                          <a:effectLst/>
                        </a:rPr>
                        <a:t>"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Perturbação</a:t>
                      </a:r>
                      <a:r>
                        <a:rPr lang="en-US" sz="1200" u="none" strike="noStrike" dirty="0">
                          <a:effectLst/>
                        </a:rPr>
                        <a:t> mental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290156"/>
                  </a:ext>
                </a:extLst>
              </a:tr>
              <a:tr h="34348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 err="1">
                          <a:effectLst/>
                        </a:rPr>
                        <a:t>Bem</a:t>
                      </a:r>
                      <a:r>
                        <a:rPr lang="en-US" sz="1200" b="0" u="none" strike="noStrike" dirty="0">
                          <a:effectLst/>
                        </a:rPr>
                        <a:t> </a:t>
                      </a:r>
                      <a:r>
                        <a:rPr lang="en-US" sz="1200" b="0" u="none" strike="noStrike" dirty="0" err="1">
                          <a:effectLst/>
                        </a:rPr>
                        <a:t>Estar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Baixo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risco</a:t>
                      </a:r>
                      <a:r>
                        <a:rPr lang="en-US" sz="1200" u="none" strike="noStrike" dirty="0">
                          <a:effectLst/>
                        </a:rPr>
                        <a:t> de </a:t>
                      </a:r>
                      <a:r>
                        <a:rPr lang="en-US" sz="1200" u="none" strike="noStrike" dirty="0" err="1">
                          <a:effectLst/>
                        </a:rPr>
                        <a:t>doença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Alto </a:t>
                      </a:r>
                      <a:r>
                        <a:rPr lang="en-US" sz="1200" u="none" strike="noStrike" dirty="0" err="1">
                          <a:effectLst/>
                        </a:rPr>
                        <a:t>risco</a:t>
                      </a:r>
                      <a:r>
                        <a:rPr lang="en-US" sz="1200" u="none" strike="noStrike" dirty="0">
                          <a:effectLst/>
                        </a:rPr>
                        <a:t> de </a:t>
                      </a:r>
                      <a:r>
                        <a:rPr lang="en-US" sz="1200" u="none" strike="noStrike" dirty="0" err="1">
                          <a:effectLst/>
                        </a:rPr>
                        <a:t>doença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Ferimentos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morais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não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resolvidos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040164"/>
                  </a:ext>
                </a:extLst>
              </a:tr>
              <a:tr h="17379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 err="1">
                          <a:effectLst/>
                        </a:rPr>
                        <a:t>Características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 err="1">
                          <a:effectLst/>
                        </a:rPr>
                        <a:t>Características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 err="1">
                          <a:effectLst/>
                        </a:rPr>
                        <a:t>Causas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 err="1">
                          <a:effectLst/>
                        </a:rPr>
                        <a:t>Tipos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002418"/>
                  </a:ext>
                </a:extLst>
              </a:tr>
              <a:tr h="35399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effectLst/>
                        </a:rPr>
                        <a:t> </a:t>
                      </a:r>
                      <a:r>
                        <a:rPr lang="en-US" sz="1200" b="0" u="none" strike="noStrike" dirty="0" err="1">
                          <a:effectLst/>
                        </a:rPr>
                        <a:t>Bem</a:t>
                      </a:r>
                      <a:r>
                        <a:rPr lang="en-US" sz="1200" b="0" u="none" strike="noStrike" dirty="0">
                          <a:effectLst/>
                        </a:rPr>
                        <a:t> </a:t>
                      </a:r>
                      <a:r>
                        <a:rPr lang="en-US" sz="1200" b="0" u="none" strike="noStrike" dirty="0" err="1">
                          <a:effectLst/>
                        </a:rPr>
                        <a:t>treinado</a:t>
                      </a:r>
                      <a:r>
                        <a:rPr lang="en-US" sz="1200" b="0" u="none" strike="noStrike" dirty="0">
                          <a:effectLst/>
                        </a:rPr>
                        <a:t> e </a:t>
                      </a:r>
                      <a:r>
                        <a:rPr lang="en-US" sz="1200" b="0" u="none" strike="noStrike" dirty="0" err="1">
                          <a:effectLst/>
                        </a:rPr>
                        <a:t>preparado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Irritabilidade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ou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frustação</a:t>
                      </a:r>
                      <a:r>
                        <a:rPr lang="en-US" sz="1200" u="none" strike="noStrike" dirty="0">
                          <a:effectLst/>
                        </a:rPr>
                        <a:t> no </a:t>
                      </a:r>
                      <a:r>
                        <a:rPr lang="en-US" sz="1200" u="none" strike="noStrike" dirty="0" err="1">
                          <a:effectLst/>
                        </a:rPr>
                        <a:t>bloco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operatório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Complicações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cirúrgicas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ou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desfechos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adversos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Depressão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055765"/>
                  </a:ext>
                </a:extLst>
              </a:tr>
              <a:tr h="22072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 err="1">
                          <a:effectLst/>
                        </a:rPr>
                        <a:t>Ajustado</a:t>
                      </a:r>
                      <a:r>
                        <a:rPr lang="en-US" sz="1200" b="0" u="none" strike="noStrike" dirty="0">
                          <a:effectLst/>
                        </a:rPr>
                        <a:t> e </a:t>
                      </a:r>
                      <a:r>
                        <a:rPr lang="en-US" sz="1200" b="0" u="none" strike="noStrike" dirty="0" err="1">
                          <a:effectLst/>
                        </a:rPr>
                        <a:t>focado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Ansiedade</a:t>
                      </a:r>
                      <a:r>
                        <a:rPr lang="en-US" sz="1200" u="none" strike="noStrike" dirty="0">
                          <a:effectLst/>
                        </a:rPr>
                        <a:t> antes dos </a:t>
                      </a:r>
                      <a:r>
                        <a:rPr lang="en-US" sz="1200" u="none" strike="noStrike" dirty="0" err="1">
                          <a:effectLst/>
                        </a:rPr>
                        <a:t>casos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Perda</a:t>
                      </a:r>
                      <a:r>
                        <a:rPr lang="en-US" sz="1200" u="none" strike="noStrike" dirty="0">
                          <a:effectLst/>
                        </a:rPr>
                        <a:t> de </a:t>
                      </a:r>
                      <a:r>
                        <a:rPr lang="en-US" sz="1200" u="none" strike="noStrike" dirty="0" err="1">
                          <a:effectLst/>
                        </a:rPr>
                        <a:t>pacientes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Ansiedade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318508"/>
                  </a:ext>
                </a:extLst>
              </a:tr>
              <a:tr h="34348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effectLst/>
                        </a:rPr>
                        <a:t>No </a:t>
                      </a:r>
                      <a:r>
                        <a:rPr lang="en-US" sz="1200" b="0" u="none" strike="noStrike" dirty="0" err="1">
                          <a:effectLst/>
                        </a:rPr>
                        <a:t>controlo</a:t>
                      </a:r>
                      <a:r>
                        <a:rPr lang="en-US" sz="1200" b="0" u="none" strike="noStrike" dirty="0">
                          <a:effectLst/>
                        </a:rPr>
                        <a:t> dos </a:t>
                      </a:r>
                      <a:r>
                        <a:rPr lang="en-US" sz="1200" b="0" u="none" strike="noStrike" dirty="0" err="1">
                          <a:effectLst/>
                        </a:rPr>
                        <a:t>procedimentos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Perda</a:t>
                      </a:r>
                      <a:r>
                        <a:rPr lang="en-US" sz="1200" u="none" strike="noStrike" dirty="0">
                          <a:effectLst/>
                        </a:rPr>
                        <a:t> do </a:t>
                      </a:r>
                      <a:r>
                        <a:rPr lang="en-US" sz="1200" u="none" strike="noStrike" dirty="0" err="1">
                          <a:effectLst/>
                        </a:rPr>
                        <a:t>completo</a:t>
                      </a:r>
                      <a:r>
                        <a:rPr lang="en-US" sz="1200" u="none" strike="noStrike" dirty="0">
                          <a:effectLst/>
                        </a:rPr>
                        <a:t> auto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Dilemas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éticos</a:t>
                      </a:r>
                      <a:r>
                        <a:rPr lang="en-US" sz="1200" u="none" strike="noStrike" dirty="0">
                          <a:effectLst/>
                        </a:rPr>
                        <a:t> no </a:t>
                      </a:r>
                      <a:r>
                        <a:rPr lang="en-US" sz="1200" u="none" strike="noStrike" dirty="0" err="1">
                          <a:effectLst/>
                        </a:rPr>
                        <a:t>cuidado</a:t>
                      </a:r>
                      <a:r>
                        <a:rPr lang="en-US" sz="1200" u="none" strike="noStrike" dirty="0">
                          <a:effectLst/>
                        </a:rPr>
                        <a:t> do </a:t>
                      </a:r>
                      <a:r>
                        <a:rPr lang="en-US" sz="1200" u="none" strike="noStrike" dirty="0" err="1">
                          <a:effectLst/>
                        </a:rPr>
                        <a:t>paciente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PTSD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251453"/>
                  </a:ext>
                </a:extLst>
              </a:tr>
              <a:tr h="34348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 err="1">
                          <a:effectLst/>
                        </a:rPr>
                        <a:t>Comporta</a:t>
                      </a:r>
                      <a:r>
                        <a:rPr lang="en-US" sz="1200" b="0" u="none" strike="noStrike" dirty="0">
                          <a:effectLst/>
                        </a:rPr>
                        <a:t>-se de forma </a:t>
                      </a:r>
                      <a:r>
                        <a:rPr lang="en-US" sz="1200" b="0" u="none" strike="noStrike" dirty="0" err="1">
                          <a:effectLst/>
                        </a:rPr>
                        <a:t>etica</a:t>
                      </a:r>
                      <a:r>
                        <a:rPr lang="en-US" sz="1200" b="0" u="none" strike="noStrike" dirty="0">
                          <a:effectLst/>
                        </a:rPr>
                        <a:t> e </a:t>
                      </a:r>
                      <a:r>
                        <a:rPr lang="en-US" sz="1200" b="0" u="none" strike="noStrike" dirty="0" err="1">
                          <a:effectLst/>
                        </a:rPr>
                        <a:t>profissional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Foco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pobre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Ambiente</a:t>
                      </a:r>
                      <a:r>
                        <a:rPr lang="en-US" sz="1200" u="none" strike="noStrike" dirty="0">
                          <a:effectLst/>
                        </a:rPr>
                        <a:t> de </a:t>
                      </a:r>
                      <a:r>
                        <a:rPr lang="en-US" sz="1200" u="none" strike="noStrike" dirty="0" err="1">
                          <a:effectLst/>
                        </a:rPr>
                        <a:t>trabalho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sem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apoio</a:t>
                      </a:r>
                      <a:r>
                        <a:rPr lang="en-US" sz="1200" u="none" strike="noStrike" dirty="0">
                          <a:effectLst/>
                        </a:rPr>
                        <a:t>/ </a:t>
                      </a:r>
                      <a:r>
                        <a:rPr lang="en-US" sz="1200" u="none" strike="noStrike" dirty="0" err="1">
                          <a:effectLst/>
                        </a:rPr>
                        <a:t>precário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Uso</a:t>
                      </a:r>
                      <a:r>
                        <a:rPr lang="en-US" sz="1200" u="none" strike="noStrike" dirty="0">
                          <a:effectLst/>
                        </a:rPr>
                        <a:t> de </a:t>
                      </a:r>
                      <a:r>
                        <a:rPr lang="en-US" sz="1200" u="none" strike="noStrike" dirty="0" err="1">
                          <a:effectLst/>
                        </a:rPr>
                        <a:t>Substâncias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066414"/>
                  </a:ext>
                </a:extLst>
              </a:tr>
              <a:tr h="17379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 err="1">
                          <a:effectLst/>
                        </a:rPr>
                        <a:t>Efectivo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Dificuldade no sono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 err="1">
                          <a:effectLst/>
                        </a:rPr>
                        <a:t>Caracteristicas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 err="1">
                          <a:effectLst/>
                        </a:rPr>
                        <a:t>Características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91353"/>
                  </a:ext>
                </a:extLst>
              </a:tr>
              <a:tr h="51317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 err="1">
                          <a:effectLst/>
                        </a:rPr>
                        <a:t>Engajado</a:t>
                      </a:r>
                      <a:r>
                        <a:rPr lang="en-US" sz="1200" b="0" u="none" strike="noStrike" dirty="0">
                          <a:effectLst/>
                        </a:rPr>
                        <a:t> e </a:t>
                      </a:r>
                      <a:r>
                        <a:rPr lang="en-US" sz="1200" b="0" u="none" strike="noStrike" dirty="0" err="1">
                          <a:effectLst/>
                        </a:rPr>
                        <a:t>cuidadoso</a:t>
                      </a:r>
                      <a:r>
                        <a:rPr lang="en-US" sz="1200" b="0" u="none" strike="noStrike" dirty="0">
                          <a:effectLst/>
                        </a:rPr>
                        <a:t> com o </a:t>
                      </a:r>
                      <a:r>
                        <a:rPr lang="en-US" sz="1200" b="0" u="none" strike="noStrike" dirty="0" err="1">
                          <a:effectLst/>
                        </a:rPr>
                        <a:t>paciente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Falta de </a:t>
                      </a:r>
                      <a:r>
                        <a:rPr lang="en-US" sz="1200" u="none" strike="noStrike" dirty="0" err="1">
                          <a:effectLst/>
                        </a:rPr>
                        <a:t>engajamento</a:t>
                      </a:r>
                      <a:r>
                        <a:rPr lang="en-US" sz="1200" u="none" strike="noStrike" dirty="0">
                          <a:effectLst/>
                        </a:rPr>
                        <a:t> e </a:t>
                      </a:r>
                      <a:r>
                        <a:rPr lang="en-US" sz="1200" u="none" strike="noStrike" dirty="0" err="1">
                          <a:effectLst/>
                        </a:rPr>
                        <a:t>cuidado</a:t>
                      </a:r>
                      <a:r>
                        <a:rPr lang="en-US" sz="1200" u="none" strike="noStrike" dirty="0">
                          <a:effectLst/>
                        </a:rPr>
                        <a:t> com o </a:t>
                      </a:r>
                      <a:r>
                        <a:rPr lang="en-US" sz="1200" u="none" strike="noStrike" dirty="0" err="1">
                          <a:effectLst/>
                        </a:rPr>
                        <a:t>paciente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Pânico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ou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raiva</a:t>
                      </a:r>
                      <a:r>
                        <a:rPr lang="en-US" sz="1200" u="none" strike="noStrike" dirty="0">
                          <a:effectLst/>
                        </a:rPr>
                        <a:t> e </a:t>
                      </a:r>
                      <a:r>
                        <a:rPr lang="en-US" sz="1200" u="none" strike="noStrike" dirty="0" err="1">
                          <a:effectLst/>
                        </a:rPr>
                        <a:t>descontrolo</a:t>
                      </a:r>
                      <a:r>
                        <a:rPr lang="en-US" sz="1200" u="none" strike="noStrike" dirty="0">
                          <a:effectLst/>
                        </a:rPr>
                        <a:t> antes </a:t>
                      </a:r>
                      <a:r>
                        <a:rPr lang="en-US" sz="1200" u="none" strike="noStrike" dirty="0" err="1">
                          <a:effectLst/>
                        </a:rPr>
                        <a:t>ou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durante</a:t>
                      </a:r>
                      <a:r>
                        <a:rPr lang="en-US" sz="1200" u="none" strike="noStrike" dirty="0">
                          <a:effectLst/>
                        </a:rPr>
                        <a:t> a </a:t>
                      </a:r>
                      <a:r>
                        <a:rPr lang="en-US" sz="1200" u="none" strike="noStrike" dirty="0" err="1">
                          <a:effectLst/>
                        </a:rPr>
                        <a:t>cirurgia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Sintomas</a:t>
                      </a:r>
                      <a:r>
                        <a:rPr lang="en-US" sz="1200" u="none" strike="noStrike" dirty="0">
                          <a:effectLst/>
                        </a:rPr>
                        <a:t> e </a:t>
                      </a:r>
                      <a:r>
                        <a:rPr lang="en-US" sz="1200" u="none" strike="noStrike" dirty="0" err="1">
                          <a:effectLst/>
                        </a:rPr>
                        <a:t>incapacidade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persistem</a:t>
                      </a:r>
                      <a:r>
                        <a:rPr lang="en-US" sz="1200" u="none" strike="noStrike" dirty="0">
                          <a:effectLst/>
                        </a:rPr>
                        <a:t> por </a:t>
                      </a:r>
                      <a:r>
                        <a:rPr lang="en-US" sz="1200" u="none" strike="noStrike" dirty="0" err="1">
                          <a:effectLst/>
                        </a:rPr>
                        <a:t>várias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semanas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762909"/>
                  </a:ext>
                </a:extLst>
              </a:tr>
              <a:tr h="353990">
                <a:tc>
                  <a:txBody>
                    <a:bodyPr/>
                    <a:lstStyle/>
                    <a:p>
                      <a:pPr algn="l" fontAlgn="b"/>
                      <a:r>
                        <a:rPr lang="en-MZ" sz="1200" b="1" u="none" strike="noStrike" dirty="0">
                          <a:effectLst/>
                        </a:rPr>
                        <a:t> </a:t>
                      </a:r>
                      <a:endParaRPr lang="en-MZ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Z" sz="1200" u="none" strike="noStrike" dirty="0">
                          <a:effectLst/>
                        </a:rPr>
                        <a:t> </a:t>
                      </a:r>
                      <a:endParaRPr lang="en-MZ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Perda</a:t>
                      </a:r>
                      <a:r>
                        <a:rPr lang="en-US" sz="1200" u="none" strike="noStrike" dirty="0">
                          <a:effectLst/>
                        </a:rPr>
                        <a:t> de </a:t>
                      </a:r>
                      <a:r>
                        <a:rPr lang="en-US" sz="1200" u="none" strike="noStrike" dirty="0" err="1">
                          <a:effectLst/>
                        </a:rPr>
                        <a:t>controlo</a:t>
                      </a:r>
                      <a:r>
                        <a:rPr lang="en-US" sz="1200" u="none" strike="noStrike" dirty="0">
                          <a:effectLst/>
                        </a:rPr>
                        <a:t> do </a:t>
                      </a:r>
                      <a:r>
                        <a:rPr lang="en-US" sz="1200" u="none" strike="noStrike" dirty="0" err="1">
                          <a:effectLst/>
                        </a:rPr>
                        <a:t>corpo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ou</a:t>
                      </a:r>
                      <a:r>
                        <a:rPr lang="en-US" sz="1200" u="none" strike="noStrike" dirty="0">
                          <a:effectLst/>
                        </a:rPr>
                        <a:t> da </a:t>
                      </a:r>
                      <a:r>
                        <a:rPr lang="en-US" sz="1200" u="none" strike="noStrike" dirty="0" err="1">
                          <a:effectLst/>
                        </a:rPr>
                        <a:t>mente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Sintomas</a:t>
                      </a:r>
                      <a:r>
                        <a:rPr lang="en-US" sz="1200" u="none" strike="noStrike" dirty="0">
                          <a:effectLst/>
                        </a:rPr>
                        <a:t> e </a:t>
                      </a:r>
                      <a:r>
                        <a:rPr lang="en-US" sz="1200" u="none" strike="noStrike" dirty="0" err="1">
                          <a:effectLst/>
                        </a:rPr>
                        <a:t>incapacidade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pioram</a:t>
                      </a:r>
                      <a:r>
                        <a:rPr lang="en-US" sz="1200" u="none" strike="noStrike" dirty="0">
                          <a:effectLst/>
                        </a:rPr>
                        <a:t> com o tempo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343283"/>
                  </a:ext>
                </a:extLst>
              </a:tr>
              <a:tr h="513172">
                <a:tc>
                  <a:txBody>
                    <a:bodyPr/>
                    <a:lstStyle/>
                    <a:p>
                      <a:pPr algn="l" fontAlgn="b"/>
                      <a:r>
                        <a:rPr lang="en-MZ" sz="1200" b="1" u="none" strike="noStrike" dirty="0">
                          <a:effectLst/>
                        </a:rPr>
                        <a:t> </a:t>
                      </a:r>
                      <a:endParaRPr lang="en-MZ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Z" sz="1200" u="none" strike="noStrike" dirty="0">
                          <a:effectLst/>
                        </a:rPr>
                        <a:t> </a:t>
                      </a:r>
                      <a:endParaRPr lang="en-MZ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Pensamentos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intrusivos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recorentes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sobre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eventos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adversos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Z" sz="1200" u="none" strike="noStrike" dirty="0">
                          <a:effectLst/>
                        </a:rPr>
                        <a:t> </a:t>
                      </a:r>
                      <a:endParaRPr lang="en-MZ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434910"/>
                  </a:ext>
                </a:extLst>
              </a:tr>
              <a:tr h="513172">
                <a:tc>
                  <a:txBody>
                    <a:bodyPr/>
                    <a:lstStyle/>
                    <a:p>
                      <a:pPr algn="l" fontAlgn="b"/>
                      <a:r>
                        <a:rPr lang="en-MZ" sz="1200" b="1" u="none" strike="noStrike" dirty="0">
                          <a:effectLst/>
                        </a:rPr>
                        <a:t> </a:t>
                      </a:r>
                      <a:endParaRPr lang="en-MZ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Z" sz="1200" u="none" strike="noStrike" dirty="0">
                          <a:effectLst/>
                        </a:rPr>
                        <a:t> </a:t>
                      </a:r>
                      <a:endParaRPr lang="en-MZ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Culpa </a:t>
                      </a:r>
                      <a:r>
                        <a:rPr lang="en-US" sz="1200" u="none" strike="noStrike" dirty="0" err="1">
                          <a:effectLst/>
                        </a:rPr>
                        <a:t>recorrente</a:t>
                      </a:r>
                      <a:r>
                        <a:rPr lang="en-US" sz="1200" u="none" strike="noStrike" dirty="0">
                          <a:effectLst/>
                        </a:rPr>
                        <a:t>, </a:t>
                      </a:r>
                      <a:r>
                        <a:rPr lang="en-US" sz="1200" u="none" strike="noStrike" dirty="0" err="1">
                          <a:effectLst/>
                        </a:rPr>
                        <a:t>ódio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ou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dúvidas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sobre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sua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capacidade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Z" sz="1200" u="none" strike="noStrike" dirty="0">
                          <a:effectLst/>
                        </a:rPr>
                        <a:t> </a:t>
                      </a:r>
                      <a:endParaRPr lang="en-MZ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21575"/>
                  </a:ext>
                </a:extLst>
              </a:tr>
              <a:tr h="353990">
                <a:tc>
                  <a:txBody>
                    <a:bodyPr/>
                    <a:lstStyle/>
                    <a:p>
                      <a:pPr algn="l" fontAlgn="b"/>
                      <a:r>
                        <a:rPr lang="en-MZ" sz="1200" b="1" u="none" strike="noStrike" dirty="0">
                          <a:effectLst/>
                        </a:rPr>
                        <a:t> </a:t>
                      </a:r>
                      <a:endParaRPr lang="en-MZ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Z" sz="1200" u="none" strike="noStrike" dirty="0">
                          <a:effectLst/>
                        </a:rPr>
                        <a:t> </a:t>
                      </a:r>
                      <a:endParaRPr lang="en-MZ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Disconexão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emocional</a:t>
                      </a:r>
                      <a:r>
                        <a:rPr lang="en-US" sz="1200" u="none" strike="noStrike" dirty="0">
                          <a:effectLst/>
                        </a:rPr>
                        <a:t> com </a:t>
                      </a:r>
                      <a:r>
                        <a:rPr lang="en-US" sz="1200" u="none" strike="noStrike" dirty="0" err="1">
                          <a:effectLst/>
                        </a:rPr>
                        <a:t>pacientes</a:t>
                      </a:r>
                      <a:r>
                        <a:rPr lang="en-US" sz="1200" u="none" strike="noStrike" dirty="0">
                          <a:effectLst/>
                        </a:rPr>
                        <a:t> e </a:t>
                      </a:r>
                      <a:r>
                        <a:rPr lang="en-US" sz="1200" u="none" strike="noStrike" dirty="0" err="1">
                          <a:effectLst/>
                        </a:rPr>
                        <a:t>colegas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Z" sz="1200" u="none" strike="noStrike" dirty="0">
                          <a:effectLst/>
                        </a:rPr>
                        <a:t> </a:t>
                      </a:r>
                      <a:endParaRPr lang="en-MZ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443439"/>
                  </a:ext>
                </a:extLst>
              </a:tr>
              <a:tr h="471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effectLst/>
                        </a:rPr>
                        <a:t>Direção</a:t>
                      </a:r>
                      <a:r>
                        <a:rPr lang="en-US" sz="1200" b="1" u="none" strike="noStrike" dirty="0">
                          <a:effectLst/>
                        </a:rPr>
                        <a:t> do Hospital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ctr">
                    <a:solidFill>
                      <a:srgbClr val="00B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Individual, Pares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effectLst/>
                        </a:rPr>
                        <a:t>Programas</a:t>
                      </a:r>
                      <a:r>
                        <a:rPr lang="en-US" sz="1200" b="1" u="none" strike="noStrike" dirty="0">
                          <a:effectLst/>
                        </a:rPr>
                        <a:t> de </a:t>
                      </a:r>
                      <a:r>
                        <a:rPr lang="en-US" sz="1200" b="1" u="none" strike="noStrike" dirty="0" err="1">
                          <a:effectLst/>
                        </a:rPr>
                        <a:t>Assistência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ao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Trabalhador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98003"/>
                  </a:ext>
                </a:extLst>
              </a:tr>
              <a:tr h="3434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effectLst/>
                        </a:rPr>
                        <a:t>Responsabilidade</a:t>
                      </a:r>
                      <a:r>
                        <a:rPr lang="en-US" sz="1200" b="1" u="none" strike="noStrike" dirty="0">
                          <a:effectLst/>
                        </a:rPr>
                        <a:t> dos </a:t>
                      </a:r>
                      <a:r>
                        <a:rPr lang="en-US" sz="1200" b="1" u="none" strike="noStrike" dirty="0" err="1">
                          <a:effectLst/>
                        </a:rPr>
                        <a:t>Gestores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ctr">
                    <a:solidFill>
                      <a:srgbClr val="00B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effectLst/>
                        </a:rPr>
                        <a:t>Responsabilidade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Institucional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effectLst/>
                        </a:rPr>
                        <a:t>Responsabilidade</a:t>
                      </a:r>
                      <a:r>
                        <a:rPr lang="en-US" sz="1200" b="1" u="none" strike="noStrike" dirty="0">
                          <a:effectLst/>
                        </a:rPr>
                        <a:t> dos </a:t>
                      </a:r>
                      <a:r>
                        <a:rPr lang="en-US" sz="1200" b="1" u="none" strike="noStrike" dirty="0" err="1">
                          <a:effectLst/>
                        </a:rPr>
                        <a:t>Serviços</a:t>
                      </a:r>
                      <a:r>
                        <a:rPr lang="en-US" sz="1200" b="1" u="none" strike="noStrike" dirty="0">
                          <a:effectLst/>
                        </a:rPr>
                        <a:t> de </a:t>
                      </a:r>
                      <a:r>
                        <a:rPr lang="en-US" sz="1200" b="1" u="none" strike="noStrike" dirty="0" err="1">
                          <a:effectLst/>
                        </a:rPr>
                        <a:t>Suporte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17" marR="4417" marT="4417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04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52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B4A5-3BBC-A146-89E2-95FDAB7D7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MZ" sz="3600" b="1" dirty="0">
                <a:latin typeface="News Gothic MT" panose="020B0503020103020203" pitchFamily="34" charset="0"/>
              </a:rPr>
              <a:t>Conclusão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3D4BF-DA3B-2441-92DA-629A0E491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MZ" dirty="0">
                <a:latin typeface="News Gothic MT" panose="020B0503020103020203" pitchFamily="34" charset="0"/>
              </a:rPr>
              <a:t>- Burnout como paradoxo</a:t>
            </a:r>
          </a:p>
          <a:p>
            <a:pPr algn="just"/>
            <a:endParaRPr lang="en-MZ" b="1" dirty="0">
              <a:latin typeface="News Gothic MT" panose="020B0503020103020203" pitchFamily="34" charset="0"/>
            </a:endParaRPr>
          </a:p>
          <a:p>
            <a:pPr marL="0" indent="0" algn="just">
              <a:buNone/>
            </a:pPr>
            <a:r>
              <a:rPr lang="en-MZ" b="1" dirty="0">
                <a:latin typeface="News Gothic MT" panose="020B0503020103020203" pitchFamily="34" charset="0"/>
              </a:rPr>
              <a:t>- </a:t>
            </a:r>
            <a:r>
              <a:rPr lang="en-MZ" dirty="0">
                <a:latin typeface="News Gothic MT" panose="020B0503020103020203" pitchFamily="34" charset="0"/>
              </a:rPr>
              <a:t>Exaustão é um alerta, e não sinal de honra; - recuperação não é luxo e sim manutenção; </a:t>
            </a:r>
          </a:p>
          <a:p>
            <a:pPr marL="0" indent="0" algn="just">
              <a:buNone/>
            </a:pPr>
            <a:r>
              <a:rPr lang="en-MZ" dirty="0">
                <a:latin typeface="News Gothic MT" panose="020B0503020103020203" pitchFamily="34" charset="0"/>
              </a:rPr>
              <a:t>- Capacitação dos profissionais e optimização do local de trabalho: Burnout muda de FIM----PONTO DE VIRAGEM.</a:t>
            </a:r>
          </a:p>
          <a:p>
            <a:endParaRPr lang="en-M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C24BC-60D2-844A-9641-EC14832C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A8016-1842-49BC-9DAA-1D05001B230C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303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1193</Words>
  <Application>Microsoft Macintosh PowerPoint</Application>
  <PresentationFormat>Widescreen</PresentationFormat>
  <Paragraphs>182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Bookman Old Style</vt:lpstr>
      <vt:lpstr>Calibri</vt:lpstr>
      <vt:lpstr>Calibri Light</vt:lpstr>
      <vt:lpstr>Helvetica</vt:lpstr>
      <vt:lpstr>News Gothic MT</vt:lpstr>
      <vt:lpstr>Times</vt:lpstr>
      <vt:lpstr>Office Theme</vt:lpstr>
      <vt:lpstr>PowerPoint Presentation</vt:lpstr>
      <vt:lpstr>Sumário </vt:lpstr>
      <vt:lpstr>O peso das doenças mentais no trabalho</vt:lpstr>
      <vt:lpstr>Stress ocupacional</vt:lpstr>
      <vt:lpstr>Causas de stress</vt:lpstr>
      <vt:lpstr>A vida do profissional de saúde</vt:lpstr>
      <vt:lpstr>Burnout entre os profissionais de saúde</vt:lpstr>
      <vt:lpstr>PowerPoint Presentation</vt:lpstr>
      <vt:lpstr>Burnout- OMS</vt:lpstr>
      <vt:lpstr>PowerPoint Presentation</vt:lpstr>
      <vt:lpstr>PowerPoint Presentation</vt:lpstr>
      <vt:lpstr>Mecanismos Biológicos de Burnout</vt:lpstr>
      <vt:lpstr>PowerPoint Presentation</vt:lpstr>
      <vt:lpstr>PowerPoint Presentation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2026-07-22T11:01:22Z</dcterms:created>
  <dcterms:modified xsi:type="dcterms:W3CDTF">2026-07-22T11:08:37Z</dcterms:modified>
</cp:coreProperties>
</file>
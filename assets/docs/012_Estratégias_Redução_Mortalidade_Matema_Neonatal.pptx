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809" r:id="rId2"/>
    <p:sldId id="434" r:id="rId3"/>
    <p:sldId id="810" r:id="rId4"/>
    <p:sldId id="818" r:id="rId5"/>
    <p:sldId id="819" r:id="rId6"/>
    <p:sldId id="821" r:id="rId7"/>
    <p:sldId id="811" r:id="rId8"/>
    <p:sldId id="812" r:id="rId9"/>
    <p:sldId id="822" r:id="rId10"/>
    <p:sldId id="823" r:id="rId11"/>
    <p:sldId id="824" r:id="rId12"/>
    <p:sldId id="825" r:id="rId13"/>
    <p:sldId id="826" r:id="rId14"/>
    <p:sldId id="816" r:id="rId15"/>
    <p:sldId id="827" r:id="rId16"/>
    <p:sldId id="68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F7D95"/>
    <a:srgbClr val="59AF7D"/>
    <a:srgbClr val="0A508F"/>
    <a:srgbClr val="EFF505"/>
    <a:srgbClr val="00FFCC"/>
    <a:srgbClr val="FFFF99"/>
    <a:srgbClr val="003E1C"/>
    <a:srgbClr val="94C765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66" autoAdjust="0"/>
    <p:restoredTop sz="94434" autoAdjust="0"/>
  </p:normalViewPr>
  <p:slideViewPr>
    <p:cSldViewPr snapToGrid="0" showGuides="1">
      <p:cViewPr varScale="1">
        <p:scale>
          <a:sx n="63" d="100"/>
          <a:sy n="63" d="100"/>
        </p:scale>
        <p:origin x="984" y="56"/>
      </p:cViewPr>
      <p:guideLst>
        <p:guide orient="horz" pos="2136"/>
        <p:guide pos="36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884"/>
    </p:cViewPr>
  </p:sorterViewPr>
  <p:notesViewPr>
    <p:cSldViewPr snapToGrid="0">
      <p:cViewPr varScale="1">
        <p:scale>
          <a:sx n="71" d="100"/>
          <a:sy n="71" d="100"/>
        </p:scale>
        <p:origin x="197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uptodate.com/contents/magnesium-sulfate-drug-information?search=maternal%20mortality&amp;topicRef=16688&amp;source=see_link&amp;searchCorrelationId=8f766e45-32d1-42f0-92c8-e3152c24ff05&amp;searchCorrelationTerm=maternal%20mortality" TargetMode="External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uptodate.com/contents/magnesium-sulfate-drug-information?search=maternal%20mortality&amp;topicRef=16688&amp;source=see_link&amp;searchCorrelationId=8f766e45-32d1-42f0-92c8-e3152c24ff05&amp;searchCorrelationTerm=maternal%20mortality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05CC22-629C-403F-83BD-E877DBE1037F}" type="doc">
      <dgm:prSet loTypeId="urn:microsoft.com/office/officeart/2005/8/layout/vProcess5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B366D5F-8C5F-4A9A-95C7-22A26D96D985}">
      <dgm:prSet custT="1"/>
      <dgm:spPr/>
      <dgm:t>
        <a:bodyPr/>
        <a:lstStyle/>
        <a:p>
          <a:r>
            <a:rPr lang="pt-PT" sz="1800" dirty="0"/>
            <a:t>As principais causas de mortalidade materna são hemorragia, distúrbios hipertensivos, </a:t>
          </a:r>
          <a:r>
            <a:rPr lang="pt-PT" sz="1800" dirty="0" err="1"/>
            <a:t>infecção</a:t>
          </a:r>
          <a:r>
            <a:rPr lang="pt-PT" sz="1800" dirty="0"/>
            <a:t>, trabalho de parto obstruído e complicações de abortos inseguros, correspondendo a cerca de 70% dos casos. </a:t>
          </a:r>
          <a:endParaRPr lang="en-US" sz="1800" dirty="0"/>
        </a:p>
      </dgm:t>
    </dgm:pt>
    <dgm:pt modelId="{D4B41A23-E814-4FC1-BC70-3875C469E1F3}" type="parTrans" cxnId="{A4D513C1-9761-42C6-991C-DCB8F73635D9}">
      <dgm:prSet/>
      <dgm:spPr/>
      <dgm:t>
        <a:bodyPr/>
        <a:lstStyle/>
        <a:p>
          <a:endParaRPr lang="en-US"/>
        </a:p>
      </dgm:t>
    </dgm:pt>
    <dgm:pt modelId="{28D8A738-28BA-4E49-BDEA-8564C3694C66}" type="sibTrans" cxnId="{A4D513C1-9761-42C6-991C-DCB8F73635D9}">
      <dgm:prSet/>
      <dgm:spPr/>
      <dgm:t>
        <a:bodyPr/>
        <a:lstStyle/>
        <a:p>
          <a:endParaRPr lang="en-US"/>
        </a:p>
      </dgm:t>
    </dgm:pt>
    <dgm:pt modelId="{6FBD6FBE-FF91-4ED9-BA6F-FC6FBA0F1366}">
      <dgm:prSet custT="1"/>
      <dgm:spPr/>
      <dgm:t>
        <a:bodyPr/>
        <a:lstStyle/>
        <a:p>
          <a:r>
            <a:rPr lang="pt-PT" sz="1800" dirty="0"/>
            <a:t>Além disso, mais de 2 milhões de bebés não sobrevivem ao primeiro mês e cerca de 2 milhões a mais são natimortos, o equivalente a aproximadamente uma morte evitável a cada 7 segundos.</a:t>
          </a:r>
          <a:endParaRPr lang="en-US" sz="1800" dirty="0"/>
        </a:p>
      </dgm:t>
    </dgm:pt>
    <dgm:pt modelId="{403E5A02-BB18-4000-8C23-20E53377BE3D}" type="parTrans" cxnId="{FA93499A-0253-4EDA-8A76-6ABB22C4EBCF}">
      <dgm:prSet/>
      <dgm:spPr/>
      <dgm:t>
        <a:bodyPr/>
        <a:lstStyle/>
        <a:p>
          <a:endParaRPr lang="en-US"/>
        </a:p>
      </dgm:t>
    </dgm:pt>
    <dgm:pt modelId="{E924E050-F8C8-4815-842C-61315C851384}" type="sibTrans" cxnId="{FA93499A-0253-4EDA-8A76-6ABB22C4EBCF}">
      <dgm:prSet/>
      <dgm:spPr/>
      <dgm:t>
        <a:bodyPr/>
        <a:lstStyle/>
        <a:p>
          <a:endParaRPr lang="en-US"/>
        </a:p>
      </dgm:t>
    </dgm:pt>
    <dgm:pt modelId="{5DB0F917-328D-43CF-8B2F-0B3CB6A04FFF}">
      <dgm:prSet custT="1"/>
      <dgm:spPr/>
      <dgm:t>
        <a:bodyPr/>
        <a:lstStyle/>
        <a:p>
          <a:r>
            <a:rPr lang="pt-PT" sz="1800" dirty="0"/>
            <a:t>Em países de baixa e média renda, os fatores causais principais são cuidados pré-natais, intraparto e pós-parto inadequados por profissionais qualificados e infraestruturas, equipamentos e serviços inadequados. </a:t>
          </a:r>
          <a:endParaRPr lang="en-US" sz="1800" dirty="0"/>
        </a:p>
      </dgm:t>
    </dgm:pt>
    <dgm:pt modelId="{17728E7D-D1D1-4BE9-AD23-FCFB770C6757}" type="parTrans" cxnId="{93F12CA4-1509-41F1-BB4E-D0ADB0DF6231}">
      <dgm:prSet/>
      <dgm:spPr/>
      <dgm:t>
        <a:bodyPr/>
        <a:lstStyle/>
        <a:p>
          <a:endParaRPr lang="en-US"/>
        </a:p>
      </dgm:t>
    </dgm:pt>
    <dgm:pt modelId="{208209BB-F241-4FC5-83E7-8272F3AF82C6}" type="sibTrans" cxnId="{93F12CA4-1509-41F1-BB4E-D0ADB0DF6231}">
      <dgm:prSet/>
      <dgm:spPr/>
      <dgm:t>
        <a:bodyPr/>
        <a:lstStyle/>
        <a:p>
          <a:endParaRPr lang="en-US"/>
        </a:p>
      </dgm:t>
    </dgm:pt>
    <dgm:pt modelId="{001B39EF-57E0-4E95-B465-BF63B8FDD8D5}">
      <dgm:prSet custT="1"/>
      <dgm:spPr/>
      <dgm:t>
        <a:bodyPr/>
        <a:lstStyle/>
        <a:p>
          <a:r>
            <a:rPr lang="pt-PT" sz="1800" dirty="0"/>
            <a:t>A redução da taxa global de mortalidade materna requer a participação de governos, sistemas de saúde, comunidades e famílias a nível global, carecendo de uma abordagem de </a:t>
          </a:r>
          <a:r>
            <a:rPr lang="pt-PT" sz="1800" dirty="0" err="1"/>
            <a:t>factores</a:t>
          </a:r>
          <a:r>
            <a:rPr lang="pt-PT" sz="1800" dirty="0"/>
            <a:t> políticos, económicos, sociais, técnicos e ambientais que contribuam para a morbimortalidade materna.</a:t>
          </a:r>
          <a:endParaRPr lang="en-US" sz="1800" dirty="0"/>
        </a:p>
      </dgm:t>
    </dgm:pt>
    <dgm:pt modelId="{A510E236-05CE-4FD8-A69E-61628B71CBB8}" type="parTrans" cxnId="{F83B8D98-66B8-41E4-91AF-618323F59D50}">
      <dgm:prSet/>
      <dgm:spPr/>
      <dgm:t>
        <a:bodyPr/>
        <a:lstStyle/>
        <a:p>
          <a:endParaRPr lang="en-US"/>
        </a:p>
      </dgm:t>
    </dgm:pt>
    <dgm:pt modelId="{0A180B87-4FF4-4B97-A917-CA3CD47ABD15}" type="sibTrans" cxnId="{F83B8D98-66B8-41E4-91AF-618323F59D50}">
      <dgm:prSet/>
      <dgm:spPr/>
      <dgm:t>
        <a:bodyPr/>
        <a:lstStyle/>
        <a:p>
          <a:endParaRPr lang="en-US"/>
        </a:p>
      </dgm:t>
    </dgm:pt>
    <dgm:pt modelId="{E9A8F76B-70AB-4210-AD76-CBC5B267EA39}" type="pres">
      <dgm:prSet presAssocID="{0105CC22-629C-403F-83BD-E877DBE1037F}" presName="outerComposite" presStyleCnt="0">
        <dgm:presLayoutVars>
          <dgm:chMax val="5"/>
          <dgm:dir/>
          <dgm:resizeHandles val="exact"/>
        </dgm:presLayoutVars>
      </dgm:prSet>
      <dgm:spPr/>
    </dgm:pt>
    <dgm:pt modelId="{8454FCE4-4F4D-4457-80FE-0536BCACC1F8}" type="pres">
      <dgm:prSet presAssocID="{0105CC22-629C-403F-83BD-E877DBE1037F}" presName="dummyMaxCanvas" presStyleCnt="0">
        <dgm:presLayoutVars/>
      </dgm:prSet>
      <dgm:spPr/>
    </dgm:pt>
    <dgm:pt modelId="{207EEA39-648E-413B-9B71-98793CE971F4}" type="pres">
      <dgm:prSet presAssocID="{0105CC22-629C-403F-83BD-E877DBE1037F}" presName="FourNodes_1" presStyleLbl="node1" presStyleIdx="0" presStyleCnt="4" custLinFactNeighborY="-18709">
        <dgm:presLayoutVars>
          <dgm:bulletEnabled val="1"/>
        </dgm:presLayoutVars>
      </dgm:prSet>
      <dgm:spPr/>
    </dgm:pt>
    <dgm:pt modelId="{CF1FE8D8-31E7-4659-BA6B-CEBD2699187A}" type="pres">
      <dgm:prSet presAssocID="{0105CC22-629C-403F-83BD-E877DBE1037F}" presName="FourNodes_2" presStyleLbl="node1" presStyleIdx="1" presStyleCnt="4">
        <dgm:presLayoutVars>
          <dgm:bulletEnabled val="1"/>
        </dgm:presLayoutVars>
      </dgm:prSet>
      <dgm:spPr/>
    </dgm:pt>
    <dgm:pt modelId="{CEB55AD8-C17F-437B-872A-C58D9D5365C0}" type="pres">
      <dgm:prSet presAssocID="{0105CC22-629C-403F-83BD-E877DBE1037F}" presName="FourNodes_3" presStyleLbl="node1" presStyleIdx="2" presStyleCnt="4">
        <dgm:presLayoutVars>
          <dgm:bulletEnabled val="1"/>
        </dgm:presLayoutVars>
      </dgm:prSet>
      <dgm:spPr/>
    </dgm:pt>
    <dgm:pt modelId="{FF654973-4F11-4D8A-946B-D333381939F6}" type="pres">
      <dgm:prSet presAssocID="{0105CC22-629C-403F-83BD-E877DBE1037F}" presName="FourNodes_4" presStyleLbl="node1" presStyleIdx="3" presStyleCnt="4">
        <dgm:presLayoutVars>
          <dgm:bulletEnabled val="1"/>
        </dgm:presLayoutVars>
      </dgm:prSet>
      <dgm:spPr/>
    </dgm:pt>
    <dgm:pt modelId="{A3520C51-EDAD-4FE5-87CF-F21001A399C0}" type="pres">
      <dgm:prSet presAssocID="{0105CC22-629C-403F-83BD-E877DBE1037F}" presName="FourConn_1-2" presStyleLbl="fgAccFollowNode1" presStyleIdx="0" presStyleCnt="3">
        <dgm:presLayoutVars>
          <dgm:bulletEnabled val="1"/>
        </dgm:presLayoutVars>
      </dgm:prSet>
      <dgm:spPr/>
    </dgm:pt>
    <dgm:pt modelId="{F0532990-5554-4BD2-91A0-724B330FFC23}" type="pres">
      <dgm:prSet presAssocID="{0105CC22-629C-403F-83BD-E877DBE1037F}" presName="FourConn_2-3" presStyleLbl="fgAccFollowNode1" presStyleIdx="1" presStyleCnt="3">
        <dgm:presLayoutVars>
          <dgm:bulletEnabled val="1"/>
        </dgm:presLayoutVars>
      </dgm:prSet>
      <dgm:spPr/>
    </dgm:pt>
    <dgm:pt modelId="{CA6AE125-A4F7-4922-9BB0-A8280B9BDE51}" type="pres">
      <dgm:prSet presAssocID="{0105CC22-629C-403F-83BD-E877DBE1037F}" presName="FourConn_3-4" presStyleLbl="fgAccFollowNode1" presStyleIdx="2" presStyleCnt="3">
        <dgm:presLayoutVars>
          <dgm:bulletEnabled val="1"/>
        </dgm:presLayoutVars>
      </dgm:prSet>
      <dgm:spPr/>
    </dgm:pt>
    <dgm:pt modelId="{08B2ED87-D21E-4BF9-A2B6-1C67EA3180CE}" type="pres">
      <dgm:prSet presAssocID="{0105CC22-629C-403F-83BD-E877DBE1037F}" presName="FourNodes_1_text" presStyleLbl="node1" presStyleIdx="3" presStyleCnt="4">
        <dgm:presLayoutVars>
          <dgm:bulletEnabled val="1"/>
        </dgm:presLayoutVars>
      </dgm:prSet>
      <dgm:spPr/>
    </dgm:pt>
    <dgm:pt modelId="{5A4BAEEB-8D73-4871-823E-9CDCB5D55A44}" type="pres">
      <dgm:prSet presAssocID="{0105CC22-629C-403F-83BD-E877DBE1037F}" presName="FourNodes_2_text" presStyleLbl="node1" presStyleIdx="3" presStyleCnt="4">
        <dgm:presLayoutVars>
          <dgm:bulletEnabled val="1"/>
        </dgm:presLayoutVars>
      </dgm:prSet>
      <dgm:spPr/>
    </dgm:pt>
    <dgm:pt modelId="{B2E26CC2-86CD-4A65-9E9B-613C87EABBD3}" type="pres">
      <dgm:prSet presAssocID="{0105CC22-629C-403F-83BD-E877DBE1037F}" presName="FourNodes_3_text" presStyleLbl="node1" presStyleIdx="3" presStyleCnt="4">
        <dgm:presLayoutVars>
          <dgm:bulletEnabled val="1"/>
        </dgm:presLayoutVars>
      </dgm:prSet>
      <dgm:spPr/>
    </dgm:pt>
    <dgm:pt modelId="{752C1260-17E7-4084-B43F-6CC47B57BBBB}" type="pres">
      <dgm:prSet presAssocID="{0105CC22-629C-403F-83BD-E877DBE1037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9E9150D-7C5A-4C31-BB24-3DF4A8EA05FD}" type="presOf" srcId="{28D8A738-28BA-4E49-BDEA-8564C3694C66}" destId="{A3520C51-EDAD-4FE5-87CF-F21001A399C0}" srcOrd="0" destOrd="0" presId="urn:microsoft.com/office/officeart/2005/8/layout/vProcess5"/>
    <dgm:cxn modelId="{07A9C43B-E458-4941-AC63-7B7588FE5E79}" type="presOf" srcId="{6B366D5F-8C5F-4A9A-95C7-22A26D96D985}" destId="{207EEA39-648E-413B-9B71-98793CE971F4}" srcOrd="0" destOrd="0" presId="urn:microsoft.com/office/officeart/2005/8/layout/vProcess5"/>
    <dgm:cxn modelId="{83091C63-CC08-4501-B8BF-8376E0A7F531}" type="presOf" srcId="{6FBD6FBE-FF91-4ED9-BA6F-FC6FBA0F1366}" destId="{5A4BAEEB-8D73-4871-823E-9CDCB5D55A44}" srcOrd="1" destOrd="0" presId="urn:microsoft.com/office/officeart/2005/8/layout/vProcess5"/>
    <dgm:cxn modelId="{ECE6364F-26DD-4E73-8C2C-167FD585B140}" type="presOf" srcId="{208209BB-F241-4FC5-83E7-8272F3AF82C6}" destId="{CA6AE125-A4F7-4922-9BB0-A8280B9BDE51}" srcOrd="0" destOrd="0" presId="urn:microsoft.com/office/officeart/2005/8/layout/vProcess5"/>
    <dgm:cxn modelId="{E7C79470-7510-4B62-AFA8-44DB81050439}" type="presOf" srcId="{001B39EF-57E0-4E95-B465-BF63B8FDD8D5}" destId="{752C1260-17E7-4084-B43F-6CC47B57BBBB}" srcOrd="1" destOrd="0" presId="urn:microsoft.com/office/officeart/2005/8/layout/vProcess5"/>
    <dgm:cxn modelId="{AC330F53-9537-4797-A2EC-D5F5AEF6FE5B}" type="presOf" srcId="{5DB0F917-328D-43CF-8B2F-0B3CB6A04FFF}" destId="{B2E26CC2-86CD-4A65-9E9B-613C87EABBD3}" srcOrd="1" destOrd="0" presId="urn:microsoft.com/office/officeart/2005/8/layout/vProcess5"/>
    <dgm:cxn modelId="{1F9D1654-9FE2-4262-8F5E-0FC1271E7FFD}" type="presOf" srcId="{E924E050-F8C8-4815-842C-61315C851384}" destId="{F0532990-5554-4BD2-91A0-724B330FFC23}" srcOrd="0" destOrd="0" presId="urn:microsoft.com/office/officeart/2005/8/layout/vProcess5"/>
    <dgm:cxn modelId="{54D20F7D-E427-4E23-AA20-E1D107B14B35}" type="presOf" srcId="{0105CC22-629C-403F-83BD-E877DBE1037F}" destId="{E9A8F76B-70AB-4210-AD76-CBC5B267EA39}" srcOrd="0" destOrd="0" presId="urn:microsoft.com/office/officeart/2005/8/layout/vProcess5"/>
    <dgm:cxn modelId="{F83B8D98-66B8-41E4-91AF-618323F59D50}" srcId="{0105CC22-629C-403F-83BD-E877DBE1037F}" destId="{001B39EF-57E0-4E95-B465-BF63B8FDD8D5}" srcOrd="3" destOrd="0" parTransId="{A510E236-05CE-4FD8-A69E-61628B71CBB8}" sibTransId="{0A180B87-4FF4-4B97-A917-CA3CD47ABD15}"/>
    <dgm:cxn modelId="{FA93499A-0253-4EDA-8A76-6ABB22C4EBCF}" srcId="{0105CC22-629C-403F-83BD-E877DBE1037F}" destId="{6FBD6FBE-FF91-4ED9-BA6F-FC6FBA0F1366}" srcOrd="1" destOrd="0" parTransId="{403E5A02-BB18-4000-8C23-20E53377BE3D}" sibTransId="{E924E050-F8C8-4815-842C-61315C851384}"/>
    <dgm:cxn modelId="{93F12CA4-1509-41F1-BB4E-D0ADB0DF6231}" srcId="{0105CC22-629C-403F-83BD-E877DBE1037F}" destId="{5DB0F917-328D-43CF-8B2F-0B3CB6A04FFF}" srcOrd="2" destOrd="0" parTransId="{17728E7D-D1D1-4BE9-AD23-FCFB770C6757}" sibTransId="{208209BB-F241-4FC5-83E7-8272F3AF82C6}"/>
    <dgm:cxn modelId="{B4C060AB-836B-4870-9862-3ECDA1FC0104}" type="presOf" srcId="{5DB0F917-328D-43CF-8B2F-0B3CB6A04FFF}" destId="{CEB55AD8-C17F-437B-872A-C58D9D5365C0}" srcOrd="0" destOrd="0" presId="urn:microsoft.com/office/officeart/2005/8/layout/vProcess5"/>
    <dgm:cxn modelId="{4B5640B7-AB96-4F8E-8C9C-93BD2C4CA729}" type="presOf" srcId="{6FBD6FBE-FF91-4ED9-BA6F-FC6FBA0F1366}" destId="{CF1FE8D8-31E7-4659-BA6B-CEBD2699187A}" srcOrd="0" destOrd="0" presId="urn:microsoft.com/office/officeart/2005/8/layout/vProcess5"/>
    <dgm:cxn modelId="{A4D513C1-9761-42C6-991C-DCB8F73635D9}" srcId="{0105CC22-629C-403F-83BD-E877DBE1037F}" destId="{6B366D5F-8C5F-4A9A-95C7-22A26D96D985}" srcOrd="0" destOrd="0" parTransId="{D4B41A23-E814-4FC1-BC70-3875C469E1F3}" sibTransId="{28D8A738-28BA-4E49-BDEA-8564C3694C66}"/>
    <dgm:cxn modelId="{02C35AE6-F43A-4786-B156-55D32CF18ECA}" type="presOf" srcId="{6B366D5F-8C5F-4A9A-95C7-22A26D96D985}" destId="{08B2ED87-D21E-4BF9-A2B6-1C67EA3180CE}" srcOrd="1" destOrd="0" presId="urn:microsoft.com/office/officeart/2005/8/layout/vProcess5"/>
    <dgm:cxn modelId="{B6D30AFD-AD32-405D-AE9D-CC3A64256924}" type="presOf" srcId="{001B39EF-57E0-4E95-B465-BF63B8FDD8D5}" destId="{FF654973-4F11-4D8A-946B-D333381939F6}" srcOrd="0" destOrd="0" presId="urn:microsoft.com/office/officeart/2005/8/layout/vProcess5"/>
    <dgm:cxn modelId="{674BEE21-E6B2-4141-9509-45FEE262C97E}" type="presParOf" srcId="{E9A8F76B-70AB-4210-AD76-CBC5B267EA39}" destId="{8454FCE4-4F4D-4457-80FE-0536BCACC1F8}" srcOrd="0" destOrd="0" presId="urn:microsoft.com/office/officeart/2005/8/layout/vProcess5"/>
    <dgm:cxn modelId="{65E5FFF1-3801-4576-B16C-B68AAEA9EE1F}" type="presParOf" srcId="{E9A8F76B-70AB-4210-AD76-CBC5B267EA39}" destId="{207EEA39-648E-413B-9B71-98793CE971F4}" srcOrd="1" destOrd="0" presId="urn:microsoft.com/office/officeart/2005/8/layout/vProcess5"/>
    <dgm:cxn modelId="{FDB1BA6A-B03C-4234-89D5-690DDFEF8837}" type="presParOf" srcId="{E9A8F76B-70AB-4210-AD76-CBC5B267EA39}" destId="{CF1FE8D8-31E7-4659-BA6B-CEBD2699187A}" srcOrd="2" destOrd="0" presId="urn:microsoft.com/office/officeart/2005/8/layout/vProcess5"/>
    <dgm:cxn modelId="{84466A9A-9002-4D8A-8E9F-128B562940ED}" type="presParOf" srcId="{E9A8F76B-70AB-4210-AD76-CBC5B267EA39}" destId="{CEB55AD8-C17F-437B-872A-C58D9D5365C0}" srcOrd="3" destOrd="0" presId="urn:microsoft.com/office/officeart/2005/8/layout/vProcess5"/>
    <dgm:cxn modelId="{C4D2A2B6-9C4F-47B4-B3B4-62BF9931E969}" type="presParOf" srcId="{E9A8F76B-70AB-4210-AD76-CBC5B267EA39}" destId="{FF654973-4F11-4D8A-946B-D333381939F6}" srcOrd="4" destOrd="0" presId="urn:microsoft.com/office/officeart/2005/8/layout/vProcess5"/>
    <dgm:cxn modelId="{5AB1DE32-A3EE-4BCB-8CDF-AF58418069F2}" type="presParOf" srcId="{E9A8F76B-70AB-4210-AD76-CBC5B267EA39}" destId="{A3520C51-EDAD-4FE5-87CF-F21001A399C0}" srcOrd="5" destOrd="0" presId="urn:microsoft.com/office/officeart/2005/8/layout/vProcess5"/>
    <dgm:cxn modelId="{E2BC0FEA-FD0C-4111-A77C-48BFBC24600E}" type="presParOf" srcId="{E9A8F76B-70AB-4210-AD76-CBC5B267EA39}" destId="{F0532990-5554-4BD2-91A0-724B330FFC23}" srcOrd="6" destOrd="0" presId="urn:microsoft.com/office/officeart/2005/8/layout/vProcess5"/>
    <dgm:cxn modelId="{0952F21F-7F74-421F-941F-B738C7782996}" type="presParOf" srcId="{E9A8F76B-70AB-4210-AD76-CBC5B267EA39}" destId="{CA6AE125-A4F7-4922-9BB0-A8280B9BDE51}" srcOrd="7" destOrd="0" presId="urn:microsoft.com/office/officeart/2005/8/layout/vProcess5"/>
    <dgm:cxn modelId="{519393DB-0CB2-4AEF-9343-9A0CFE4AEB77}" type="presParOf" srcId="{E9A8F76B-70AB-4210-AD76-CBC5B267EA39}" destId="{08B2ED87-D21E-4BF9-A2B6-1C67EA3180CE}" srcOrd="8" destOrd="0" presId="urn:microsoft.com/office/officeart/2005/8/layout/vProcess5"/>
    <dgm:cxn modelId="{865A9BED-B5C8-4843-B4C8-2A3F897ACEE6}" type="presParOf" srcId="{E9A8F76B-70AB-4210-AD76-CBC5B267EA39}" destId="{5A4BAEEB-8D73-4871-823E-9CDCB5D55A44}" srcOrd="9" destOrd="0" presId="urn:microsoft.com/office/officeart/2005/8/layout/vProcess5"/>
    <dgm:cxn modelId="{E7694361-1700-403B-94F0-EBA9B326A2E1}" type="presParOf" srcId="{E9A8F76B-70AB-4210-AD76-CBC5B267EA39}" destId="{B2E26CC2-86CD-4A65-9E9B-613C87EABBD3}" srcOrd="10" destOrd="0" presId="urn:microsoft.com/office/officeart/2005/8/layout/vProcess5"/>
    <dgm:cxn modelId="{D85776F3-8C13-44AC-BE4C-AAEAF926A73C}" type="presParOf" srcId="{E9A8F76B-70AB-4210-AD76-CBC5B267EA39}" destId="{752C1260-17E7-4084-B43F-6CC47B57BBB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D816F4-B1A4-4D6C-8110-B8D2BCCA26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61E442-0F0F-4F24-B55B-1083C45836C3}">
      <dgm:prSet/>
      <dgm:spPr/>
      <dgm:t>
        <a:bodyPr/>
        <a:lstStyle/>
        <a:p>
          <a:r>
            <a:rPr lang="pt-PT"/>
            <a:t>Em 2000, 189 nações comprometeram-se a libertar as pessoas da extrema pobreza e de múltiplas privações. A meta específica para a saúde materna era reduzir a razão de mortalidade materna (RMM) de cada país em 1990 em três quartos até 2015.</a:t>
          </a:r>
          <a:endParaRPr lang="en-US"/>
        </a:p>
      </dgm:t>
    </dgm:pt>
    <dgm:pt modelId="{BEB114C0-5C2A-47A7-9B5C-8DBAC4E4E351}" type="parTrans" cxnId="{659B3B64-6460-4688-AB20-F2B806AB4199}">
      <dgm:prSet/>
      <dgm:spPr/>
      <dgm:t>
        <a:bodyPr/>
        <a:lstStyle/>
        <a:p>
          <a:endParaRPr lang="en-US"/>
        </a:p>
      </dgm:t>
    </dgm:pt>
    <dgm:pt modelId="{F8FBE429-349F-434D-A60F-BFA37C5125B9}" type="sibTrans" cxnId="{659B3B64-6460-4688-AB20-F2B806AB4199}">
      <dgm:prSet/>
      <dgm:spPr/>
      <dgm:t>
        <a:bodyPr/>
        <a:lstStyle/>
        <a:p>
          <a:endParaRPr lang="en-US"/>
        </a:p>
      </dgm:t>
    </dgm:pt>
    <dgm:pt modelId="{FD0E8C22-C0BA-4F47-9820-332EAC5D3209}">
      <dgm:prSet/>
      <dgm:spPr/>
      <dgm:t>
        <a:bodyPr/>
        <a:lstStyle/>
        <a:p>
          <a:r>
            <a:rPr lang="pt-PT"/>
            <a:t>Esse objetivo foi ampliado pelos Objetivos de Desenvolvimento Sustentável das Nações Unidas, para reduzir a RMM global para menos de 70 por 100.000 nascidos vivos até 2030.</a:t>
          </a:r>
          <a:endParaRPr lang="en-US"/>
        </a:p>
      </dgm:t>
    </dgm:pt>
    <dgm:pt modelId="{D4D0A927-E300-4353-B2D6-5C42FD1FDB1E}" type="parTrans" cxnId="{14CA9262-6BFB-4FBD-B3EF-3B8DFBB8E25B}">
      <dgm:prSet/>
      <dgm:spPr/>
      <dgm:t>
        <a:bodyPr/>
        <a:lstStyle/>
        <a:p>
          <a:endParaRPr lang="en-US"/>
        </a:p>
      </dgm:t>
    </dgm:pt>
    <dgm:pt modelId="{B4CDA762-55DF-4E8B-94D9-7D9FADA6211B}" type="sibTrans" cxnId="{14CA9262-6BFB-4FBD-B3EF-3B8DFBB8E25B}">
      <dgm:prSet/>
      <dgm:spPr/>
      <dgm:t>
        <a:bodyPr/>
        <a:lstStyle/>
        <a:p>
          <a:endParaRPr lang="en-US"/>
        </a:p>
      </dgm:t>
    </dgm:pt>
    <dgm:pt modelId="{7AD4A16F-E49B-4352-BEBB-07A365AED938}">
      <dgm:prSet/>
      <dgm:spPr/>
      <dgm:t>
        <a:bodyPr/>
        <a:lstStyle/>
        <a:p>
          <a:r>
            <a:rPr lang="pt-PT"/>
            <a:t>Reduzir a mortalidade neonatal para menos de12/1.000 nascidos vivos.</a:t>
          </a:r>
          <a:endParaRPr lang="en-US"/>
        </a:p>
      </dgm:t>
    </dgm:pt>
    <dgm:pt modelId="{73AC6901-E50B-4E8C-BD70-12930A373CFC}" type="parTrans" cxnId="{F2805B7A-F3D6-4FDE-8CC8-48C76AD87731}">
      <dgm:prSet/>
      <dgm:spPr/>
      <dgm:t>
        <a:bodyPr/>
        <a:lstStyle/>
        <a:p>
          <a:endParaRPr lang="en-US"/>
        </a:p>
      </dgm:t>
    </dgm:pt>
    <dgm:pt modelId="{4B8A7943-B79D-42C3-8F1B-C75302943942}" type="sibTrans" cxnId="{F2805B7A-F3D6-4FDE-8CC8-48C76AD87731}">
      <dgm:prSet/>
      <dgm:spPr/>
      <dgm:t>
        <a:bodyPr/>
        <a:lstStyle/>
        <a:p>
          <a:endParaRPr lang="en-US"/>
        </a:p>
      </dgm:t>
    </dgm:pt>
    <dgm:pt modelId="{C0604AF1-2149-4E8F-91AC-26AA864BCC7D}" type="pres">
      <dgm:prSet presAssocID="{CCD816F4-B1A4-4D6C-8110-B8D2BCCA263B}" presName="linear" presStyleCnt="0">
        <dgm:presLayoutVars>
          <dgm:animLvl val="lvl"/>
          <dgm:resizeHandles val="exact"/>
        </dgm:presLayoutVars>
      </dgm:prSet>
      <dgm:spPr/>
    </dgm:pt>
    <dgm:pt modelId="{693FC320-3B93-4686-B4F3-06BF5CE8496A}" type="pres">
      <dgm:prSet presAssocID="{4661E442-0F0F-4F24-B55B-1083C45836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95C9E4-036B-4738-AA52-FB445CF9BDBB}" type="pres">
      <dgm:prSet presAssocID="{F8FBE429-349F-434D-A60F-BFA37C5125B9}" presName="spacer" presStyleCnt="0"/>
      <dgm:spPr/>
    </dgm:pt>
    <dgm:pt modelId="{7D9B0366-03D8-4B6E-BEA5-A5302C8B4714}" type="pres">
      <dgm:prSet presAssocID="{FD0E8C22-C0BA-4F47-9820-332EAC5D320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98DF07-362C-4648-BF79-2CDFAA77956F}" type="pres">
      <dgm:prSet presAssocID="{B4CDA762-55DF-4E8B-94D9-7D9FADA6211B}" presName="spacer" presStyleCnt="0"/>
      <dgm:spPr/>
    </dgm:pt>
    <dgm:pt modelId="{58AC0216-1FB3-4A73-B886-1FE0CE4ADC5D}" type="pres">
      <dgm:prSet presAssocID="{7AD4A16F-E49B-4352-BEBB-07A365AED93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19F6138-2F38-4B53-B4CE-A9A68E5D0A93}" type="presOf" srcId="{7AD4A16F-E49B-4352-BEBB-07A365AED938}" destId="{58AC0216-1FB3-4A73-B886-1FE0CE4ADC5D}" srcOrd="0" destOrd="0" presId="urn:microsoft.com/office/officeart/2005/8/layout/vList2"/>
    <dgm:cxn modelId="{B3D68F3F-11ED-4AF4-8711-82B4D99152FC}" type="presOf" srcId="{CCD816F4-B1A4-4D6C-8110-B8D2BCCA263B}" destId="{C0604AF1-2149-4E8F-91AC-26AA864BCC7D}" srcOrd="0" destOrd="0" presId="urn:microsoft.com/office/officeart/2005/8/layout/vList2"/>
    <dgm:cxn modelId="{14CA9262-6BFB-4FBD-B3EF-3B8DFBB8E25B}" srcId="{CCD816F4-B1A4-4D6C-8110-B8D2BCCA263B}" destId="{FD0E8C22-C0BA-4F47-9820-332EAC5D3209}" srcOrd="1" destOrd="0" parTransId="{D4D0A927-E300-4353-B2D6-5C42FD1FDB1E}" sibTransId="{B4CDA762-55DF-4E8B-94D9-7D9FADA6211B}"/>
    <dgm:cxn modelId="{659B3B64-6460-4688-AB20-F2B806AB4199}" srcId="{CCD816F4-B1A4-4D6C-8110-B8D2BCCA263B}" destId="{4661E442-0F0F-4F24-B55B-1083C45836C3}" srcOrd="0" destOrd="0" parTransId="{BEB114C0-5C2A-47A7-9B5C-8DBAC4E4E351}" sibTransId="{F8FBE429-349F-434D-A60F-BFA37C5125B9}"/>
    <dgm:cxn modelId="{A9A63F4F-18AD-469C-BBE8-24F8416CF1D5}" type="presOf" srcId="{4661E442-0F0F-4F24-B55B-1083C45836C3}" destId="{693FC320-3B93-4686-B4F3-06BF5CE8496A}" srcOrd="0" destOrd="0" presId="urn:microsoft.com/office/officeart/2005/8/layout/vList2"/>
    <dgm:cxn modelId="{F2805B7A-F3D6-4FDE-8CC8-48C76AD87731}" srcId="{CCD816F4-B1A4-4D6C-8110-B8D2BCCA263B}" destId="{7AD4A16F-E49B-4352-BEBB-07A365AED938}" srcOrd="2" destOrd="0" parTransId="{73AC6901-E50B-4E8C-BD70-12930A373CFC}" sibTransId="{4B8A7943-B79D-42C3-8F1B-C75302943942}"/>
    <dgm:cxn modelId="{22AB4DFA-4841-431C-ABAD-6122B9BBAE7D}" type="presOf" srcId="{FD0E8C22-C0BA-4F47-9820-332EAC5D3209}" destId="{7D9B0366-03D8-4B6E-BEA5-A5302C8B4714}" srcOrd="0" destOrd="0" presId="urn:microsoft.com/office/officeart/2005/8/layout/vList2"/>
    <dgm:cxn modelId="{E5C104B9-F97F-4FF0-9CAE-065600FC52BF}" type="presParOf" srcId="{C0604AF1-2149-4E8F-91AC-26AA864BCC7D}" destId="{693FC320-3B93-4686-B4F3-06BF5CE8496A}" srcOrd="0" destOrd="0" presId="urn:microsoft.com/office/officeart/2005/8/layout/vList2"/>
    <dgm:cxn modelId="{5BB3D132-FC47-42D8-9D9F-4B493CB9F626}" type="presParOf" srcId="{C0604AF1-2149-4E8F-91AC-26AA864BCC7D}" destId="{AF95C9E4-036B-4738-AA52-FB445CF9BDBB}" srcOrd="1" destOrd="0" presId="urn:microsoft.com/office/officeart/2005/8/layout/vList2"/>
    <dgm:cxn modelId="{B29792A3-5800-4FD3-A06F-CF8E54A5D1F5}" type="presParOf" srcId="{C0604AF1-2149-4E8F-91AC-26AA864BCC7D}" destId="{7D9B0366-03D8-4B6E-BEA5-A5302C8B4714}" srcOrd="2" destOrd="0" presId="urn:microsoft.com/office/officeart/2005/8/layout/vList2"/>
    <dgm:cxn modelId="{660295A4-DAD8-4513-A70F-AD553899AFB3}" type="presParOf" srcId="{C0604AF1-2149-4E8F-91AC-26AA864BCC7D}" destId="{3298DF07-362C-4648-BF79-2CDFAA77956F}" srcOrd="3" destOrd="0" presId="urn:microsoft.com/office/officeart/2005/8/layout/vList2"/>
    <dgm:cxn modelId="{0821C8DE-15DF-428E-A504-F0A9082BD528}" type="presParOf" srcId="{C0604AF1-2149-4E8F-91AC-26AA864BCC7D}" destId="{58AC0216-1FB3-4A73-B886-1FE0CE4ADC5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647D83-CF96-4922-90D4-D4F12591A1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628BF2-CC19-4877-952A-4A42DCA325AF}">
      <dgm:prSet/>
      <dgm:spPr/>
      <dgm:t>
        <a:bodyPr/>
        <a:lstStyle/>
        <a:p>
          <a:r>
            <a:rPr lang="pt-PT" dirty="0"/>
            <a:t>Embora tenha havido progresso significativo em </a:t>
          </a:r>
          <a:r>
            <a:rPr lang="pt-PT" dirty="0" err="1"/>
            <a:t>direcção</a:t>
          </a:r>
          <a:r>
            <a:rPr lang="pt-PT" dirty="0"/>
            <a:t> a essas metas ambiciosas, com uma diminuição da RMM global de 228 mortes por 100.000 nascidos vivos em 2015 para 197 em 2023, a taxa ainda é três vezes maior que a meta de 2030. </a:t>
          </a:r>
          <a:endParaRPr lang="en-US" dirty="0"/>
        </a:p>
      </dgm:t>
    </dgm:pt>
    <dgm:pt modelId="{9D65CFE1-DA1A-497A-BE99-F166CFC4734C}" type="parTrans" cxnId="{E12D4E0D-A101-4B57-8FF1-E142570B84B4}">
      <dgm:prSet/>
      <dgm:spPr/>
      <dgm:t>
        <a:bodyPr/>
        <a:lstStyle/>
        <a:p>
          <a:endParaRPr lang="en-US"/>
        </a:p>
      </dgm:t>
    </dgm:pt>
    <dgm:pt modelId="{47D0FA41-355C-48A6-A4EA-9B53DBE181C4}" type="sibTrans" cxnId="{E12D4E0D-A101-4B57-8FF1-E142570B84B4}">
      <dgm:prSet/>
      <dgm:spPr/>
      <dgm:t>
        <a:bodyPr/>
        <a:lstStyle/>
        <a:p>
          <a:endParaRPr lang="en-US"/>
        </a:p>
      </dgm:t>
    </dgm:pt>
    <dgm:pt modelId="{C7A6E46B-3EFE-40E6-9571-D3FB3C1C09C7}">
      <dgm:prSet/>
      <dgm:spPr/>
      <dgm:t>
        <a:bodyPr/>
        <a:lstStyle/>
        <a:p>
          <a:r>
            <a:rPr lang="pt-PT"/>
            <a:t>Os países de baixa e média renda (PBMR) carregam desproporcionalmente 95% das mortes maternas, com RMM bem mais elevada em países afetados por conflitos (504 por 100.000 nascidos vivos) e em países institucional e socialmente frágeis (368 por 100.000 nascidos vivos).</a:t>
          </a:r>
          <a:endParaRPr lang="en-US"/>
        </a:p>
      </dgm:t>
    </dgm:pt>
    <dgm:pt modelId="{0EEA0519-C409-4652-949C-2B658023E9FE}" type="parTrans" cxnId="{E67BCEDE-72CE-498B-8C5B-46FA0E9AF438}">
      <dgm:prSet/>
      <dgm:spPr/>
      <dgm:t>
        <a:bodyPr/>
        <a:lstStyle/>
        <a:p>
          <a:endParaRPr lang="en-US"/>
        </a:p>
      </dgm:t>
    </dgm:pt>
    <dgm:pt modelId="{F3AAD486-E46E-430E-978A-D624523A4F4C}" type="sibTrans" cxnId="{E67BCEDE-72CE-498B-8C5B-46FA0E9AF438}">
      <dgm:prSet/>
      <dgm:spPr/>
      <dgm:t>
        <a:bodyPr/>
        <a:lstStyle/>
        <a:p>
          <a:endParaRPr lang="en-US"/>
        </a:p>
      </dgm:t>
    </dgm:pt>
    <dgm:pt modelId="{48C93BEB-9C82-4848-BB89-9785995B0592}">
      <dgm:prSet/>
      <dgm:spPr/>
      <dgm:t>
        <a:bodyPr/>
        <a:lstStyle/>
        <a:p>
          <a:r>
            <a:rPr lang="pt-PT"/>
            <a:t>De acordo com a OMS Moçambique registou em 2023 um RMM de 223 por 100.000 nascidos vivos</a:t>
          </a:r>
          <a:endParaRPr lang="en-US"/>
        </a:p>
      </dgm:t>
    </dgm:pt>
    <dgm:pt modelId="{913FD56B-833D-4ADD-A3F0-B6D202BB5D3F}" type="parTrans" cxnId="{9FBD8F61-4CD5-4A2E-A57A-63F89BC3F6E0}">
      <dgm:prSet/>
      <dgm:spPr/>
      <dgm:t>
        <a:bodyPr/>
        <a:lstStyle/>
        <a:p>
          <a:endParaRPr lang="en-US"/>
        </a:p>
      </dgm:t>
    </dgm:pt>
    <dgm:pt modelId="{F6CE71FA-EE5A-4604-9999-79AE92A22DFB}" type="sibTrans" cxnId="{9FBD8F61-4CD5-4A2E-A57A-63F89BC3F6E0}">
      <dgm:prSet/>
      <dgm:spPr/>
      <dgm:t>
        <a:bodyPr/>
        <a:lstStyle/>
        <a:p>
          <a:endParaRPr lang="en-US"/>
        </a:p>
      </dgm:t>
    </dgm:pt>
    <dgm:pt modelId="{2862970B-9660-4FB8-9F1C-0655F1EE491E}" type="pres">
      <dgm:prSet presAssocID="{17647D83-CF96-4922-90D4-D4F12591A17C}" presName="linear" presStyleCnt="0">
        <dgm:presLayoutVars>
          <dgm:animLvl val="lvl"/>
          <dgm:resizeHandles val="exact"/>
        </dgm:presLayoutVars>
      </dgm:prSet>
      <dgm:spPr/>
    </dgm:pt>
    <dgm:pt modelId="{5E1EB719-A235-48A4-B6F1-60BDFCFCDD11}" type="pres">
      <dgm:prSet presAssocID="{6E628BF2-CC19-4877-952A-4A42DCA325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F63D3DF-98FC-419F-9CCC-33104B9E32E5}" type="pres">
      <dgm:prSet presAssocID="{47D0FA41-355C-48A6-A4EA-9B53DBE181C4}" presName="spacer" presStyleCnt="0"/>
      <dgm:spPr/>
    </dgm:pt>
    <dgm:pt modelId="{0DAF633F-ECF8-4690-881B-54EEB6593FA3}" type="pres">
      <dgm:prSet presAssocID="{C7A6E46B-3EFE-40E6-9571-D3FB3C1C09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408A95-EE7D-42DD-8DBF-25FDC0CF7543}" type="pres">
      <dgm:prSet presAssocID="{F3AAD486-E46E-430E-978A-D624523A4F4C}" presName="spacer" presStyleCnt="0"/>
      <dgm:spPr/>
    </dgm:pt>
    <dgm:pt modelId="{ED914EA7-7370-4E95-ADB0-FD8A17EED768}" type="pres">
      <dgm:prSet presAssocID="{48C93BEB-9C82-4848-BB89-9785995B059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12D4E0D-A101-4B57-8FF1-E142570B84B4}" srcId="{17647D83-CF96-4922-90D4-D4F12591A17C}" destId="{6E628BF2-CC19-4877-952A-4A42DCA325AF}" srcOrd="0" destOrd="0" parTransId="{9D65CFE1-DA1A-497A-BE99-F166CFC4734C}" sibTransId="{47D0FA41-355C-48A6-A4EA-9B53DBE181C4}"/>
    <dgm:cxn modelId="{40554210-397E-4CD6-973A-C9C098DE779E}" type="presOf" srcId="{17647D83-CF96-4922-90D4-D4F12591A17C}" destId="{2862970B-9660-4FB8-9F1C-0655F1EE491E}" srcOrd="0" destOrd="0" presId="urn:microsoft.com/office/officeart/2005/8/layout/vList2"/>
    <dgm:cxn modelId="{6119FC21-C3AD-4925-9E67-2E972AB6F184}" type="presOf" srcId="{C7A6E46B-3EFE-40E6-9571-D3FB3C1C09C7}" destId="{0DAF633F-ECF8-4690-881B-54EEB6593FA3}" srcOrd="0" destOrd="0" presId="urn:microsoft.com/office/officeart/2005/8/layout/vList2"/>
    <dgm:cxn modelId="{E596E835-4E51-4DDD-8A45-C394125B642D}" type="presOf" srcId="{6E628BF2-CC19-4877-952A-4A42DCA325AF}" destId="{5E1EB719-A235-48A4-B6F1-60BDFCFCDD11}" srcOrd="0" destOrd="0" presId="urn:microsoft.com/office/officeart/2005/8/layout/vList2"/>
    <dgm:cxn modelId="{9FBD8F61-4CD5-4A2E-A57A-63F89BC3F6E0}" srcId="{17647D83-CF96-4922-90D4-D4F12591A17C}" destId="{48C93BEB-9C82-4848-BB89-9785995B0592}" srcOrd="2" destOrd="0" parTransId="{913FD56B-833D-4ADD-A3F0-B6D202BB5D3F}" sibTransId="{F6CE71FA-EE5A-4604-9999-79AE92A22DFB}"/>
    <dgm:cxn modelId="{DBBE3F98-F508-4D36-B1F2-8FD6CD2A7FF4}" type="presOf" srcId="{48C93BEB-9C82-4848-BB89-9785995B0592}" destId="{ED914EA7-7370-4E95-ADB0-FD8A17EED768}" srcOrd="0" destOrd="0" presId="urn:microsoft.com/office/officeart/2005/8/layout/vList2"/>
    <dgm:cxn modelId="{E67BCEDE-72CE-498B-8C5B-46FA0E9AF438}" srcId="{17647D83-CF96-4922-90D4-D4F12591A17C}" destId="{C7A6E46B-3EFE-40E6-9571-D3FB3C1C09C7}" srcOrd="1" destOrd="0" parTransId="{0EEA0519-C409-4652-949C-2B658023E9FE}" sibTransId="{F3AAD486-E46E-430E-978A-D624523A4F4C}"/>
    <dgm:cxn modelId="{9F8AD6C5-2292-49E2-8B60-9EBCBB26D40D}" type="presParOf" srcId="{2862970B-9660-4FB8-9F1C-0655F1EE491E}" destId="{5E1EB719-A235-48A4-B6F1-60BDFCFCDD11}" srcOrd="0" destOrd="0" presId="urn:microsoft.com/office/officeart/2005/8/layout/vList2"/>
    <dgm:cxn modelId="{B1EA0E79-02C0-449E-BDC5-F546AAFB7EAC}" type="presParOf" srcId="{2862970B-9660-4FB8-9F1C-0655F1EE491E}" destId="{5F63D3DF-98FC-419F-9CCC-33104B9E32E5}" srcOrd="1" destOrd="0" presId="urn:microsoft.com/office/officeart/2005/8/layout/vList2"/>
    <dgm:cxn modelId="{0E28A2BB-65D4-4C4E-A088-6B16C2F57D6C}" type="presParOf" srcId="{2862970B-9660-4FB8-9F1C-0655F1EE491E}" destId="{0DAF633F-ECF8-4690-881B-54EEB6593FA3}" srcOrd="2" destOrd="0" presId="urn:microsoft.com/office/officeart/2005/8/layout/vList2"/>
    <dgm:cxn modelId="{513F2266-013F-49B8-83A9-8827EC2828AF}" type="presParOf" srcId="{2862970B-9660-4FB8-9F1C-0655F1EE491E}" destId="{B5408A95-EE7D-42DD-8DBF-25FDC0CF7543}" srcOrd="3" destOrd="0" presId="urn:microsoft.com/office/officeart/2005/8/layout/vList2"/>
    <dgm:cxn modelId="{0BC580FB-D75F-41DC-9515-3BACBD4E7989}" type="presParOf" srcId="{2862970B-9660-4FB8-9F1C-0655F1EE491E}" destId="{ED914EA7-7370-4E95-ADB0-FD8A17EED76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A1888A-DC61-4439-89D2-8FDE3A301476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8053768-0BEF-4E42-83C3-D28B222531CC}">
      <dgm:prSet/>
      <dgm:spPr/>
      <dgm:t>
        <a:bodyPr/>
        <a:lstStyle/>
        <a:p>
          <a:r>
            <a:rPr lang="en-US"/>
            <a:t>Planeamento familiar</a:t>
          </a:r>
        </a:p>
      </dgm:t>
    </dgm:pt>
    <dgm:pt modelId="{3B6A3360-E168-4489-9C7C-6741AB077C74}" type="parTrans" cxnId="{A2D4BAFD-231A-4ACD-98C2-1049F1F422AB}">
      <dgm:prSet/>
      <dgm:spPr/>
      <dgm:t>
        <a:bodyPr/>
        <a:lstStyle/>
        <a:p>
          <a:endParaRPr lang="en-US"/>
        </a:p>
      </dgm:t>
    </dgm:pt>
    <dgm:pt modelId="{3BB09366-F5CD-4A5B-A473-EAD5A664259A}" type="sibTrans" cxnId="{A2D4BAFD-231A-4ACD-98C2-1049F1F422AB}">
      <dgm:prSet/>
      <dgm:spPr/>
      <dgm:t>
        <a:bodyPr/>
        <a:lstStyle/>
        <a:p>
          <a:endParaRPr lang="en-US"/>
        </a:p>
      </dgm:t>
    </dgm:pt>
    <dgm:pt modelId="{1C7CA430-69EE-4369-8B30-D5D69711CF82}">
      <dgm:prSet/>
      <dgm:spPr/>
      <dgm:t>
        <a:bodyPr/>
        <a:lstStyle/>
        <a:p>
          <a:r>
            <a:rPr lang="en-US" dirty="0" err="1"/>
            <a:t>Assistência</a:t>
          </a:r>
          <a:r>
            <a:rPr lang="en-US" dirty="0"/>
            <a:t> </a:t>
          </a:r>
          <a:r>
            <a:rPr lang="en-US" dirty="0" err="1"/>
            <a:t>ao</a:t>
          </a:r>
          <a:r>
            <a:rPr lang="en-US" dirty="0"/>
            <a:t> </a:t>
          </a:r>
          <a:r>
            <a:rPr lang="en-US" dirty="0" err="1"/>
            <a:t>parto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profissional</a:t>
          </a:r>
          <a:r>
            <a:rPr lang="en-US" dirty="0"/>
            <a:t> </a:t>
          </a:r>
          <a:r>
            <a:rPr lang="en-US" dirty="0" err="1"/>
            <a:t>qualificado</a:t>
          </a:r>
          <a:endParaRPr lang="en-US" dirty="0"/>
        </a:p>
      </dgm:t>
    </dgm:pt>
    <dgm:pt modelId="{2D3046E0-0C36-4767-9573-2729A91D71B3}" type="parTrans" cxnId="{ABA98601-930F-4F10-8876-C86A722562E2}">
      <dgm:prSet/>
      <dgm:spPr/>
      <dgm:t>
        <a:bodyPr/>
        <a:lstStyle/>
        <a:p>
          <a:endParaRPr lang="en-US"/>
        </a:p>
      </dgm:t>
    </dgm:pt>
    <dgm:pt modelId="{2C5CEB57-6E2C-4A94-804D-B0F46AF0290C}" type="sibTrans" cxnId="{ABA98601-930F-4F10-8876-C86A722562E2}">
      <dgm:prSet/>
      <dgm:spPr/>
      <dgm:t>
        <a:bodyPr/>
        <a:lstStyle/>
        <a:p>
          <a:endParaRPr lang="en-US"/>
        </a:p>
      </dgm:t>
    </dgm:pt>
    <dgm:pt modelId="{FFD18BC1-7CA5-421E-9FEC-8482AC552F3B}">
      <dgm:prSet/>
      <dgm:spPr/>
      <dgm:t>
        <a:bodyPr/>
        <a:lstStyle/>
        <a:p>
          <a:r>
            <a:rPr lang="en-US"/>
            <a:t>Transporte</a:t>
          </a:r>
        </a:p>
      </dgm:t>
    </dgm:pt>
    <dgm:pt modelId="{58C77C88-DA50-4852-AA25-BB2D3049193D}" type="parTrans" cxnId="{44570826-34AA-415B-BE3C-E46ECB3E043E}">
      <dgm:prSet/>
      <dgm:spPr/>
      <dgm:t>
        <a:bodyPr/>
        <a:lstStyle/>
        <a:p>
          <a:endParaRPr lang="en-US"/>
        </a:p>
      </dgm:t>
    </dgm:pt>
    <dgm:pt modelId="{665111C1-8677-4CF1-B857-7082EA5D59C4}" type="sibTrans" cxnId="{44570826-34AA-415B-BE3C-E46ECB3E043E}">
      <dgm:prSet/>
      <dgm:spPr/>
      <dgm:t>
        <a:bodyPr/>
        <a:lstStyle/>
        <a:p>
          <a:endParaRPr lang="en-US"/>
        </a:p>
      </dgm:t>
    </dgm:pt>
    <dgm:pt modelId="{CF7E975C-CCB0-468A-826F-CB3D5C34F56A}">
      <dgm:prSet/>
      <dgm:spPr/>
      <dgm:t>
        <a:bodyPr/>
        <a:lstStyle/>
        <a:p>
          <a:r>
            <a:rPr lang="en-US"/>
            <a:t>Sistemas de referência </a:t>
          </a:r>
        </a:p>
      </dgm:t>
    </dgm:pt>
    <dgm:pt modelId="{B88763CC-2BD1-4FEC-BAC9-84DB0C099F41}" type="parTrans" cxnId="{975CC90D-CD43-4C44-B048-F6B05996458E}">
      <dgm:prSet/>
      <dgm:spPr/>
      <dgm:t>
        <a:bodyPr/>
        <a:lstStyle/>
        <a:p>
          <a:endParaRPr lang="en-US"/>
        </a:p>
      </dgm:t>
    </dgm:pt>
    <dgm:pt modelId="{370571CB-ECFA-4563-B979-200A389FDA46}" type="sibTrans" cxnId="{975CC90D-CD43-4C44-B048-F6B05996458E}">
      <dgm:prSet/>
      <dgm:spPr/>
      <dgm:t>
        <a:bodyPr/>
        <a:lstStyle/>
        <a:p>
          <a:endParaRPr lang="en-US"/>
        </a:p>
      </dgm:t>
    </dgm:pt>
    <dgm:pt modelId="{D5776D20-6702-4F85-B2C6-CF9012497251}">
      <dgm:prSet/>
      <dgm:spPr/>
      <dgm:t>
        <a:bodyPr/>
        <a:lstStyle/>
        <a:p>
          <a:r>
            <a:rPr lang="en-US"/>
            <a:t>Infraestruturas </a:t>
          </a:r>
        </a:p>
      </dgm:t>
    </dgm:pt>
    <dgm:pt modelId="{39BD5697-8932-48A2-BE10-593131711480}" type="parTrans" cxnId="{2853CCE9-A826-487F-91E8-597957069923}">
      <dgm:prSet/>
      <dgm:spPr/>
      <dgm:t>
        <a:bodyPr/>
        <a:lstStyle/>
        <a:p>
          <a:endParaRPr lang="en-US"/>
        </a:p>
      </dgm:t>
    </dgm:pt>
    <dgm:pt modelId="{3AF61C29-93D0-45CD-9AAF-DABB56D726A4}" type="sibTrans" cxnId="{2853CCE9-A826-487F-91E8-597957069923}">
      <dgm:prSet/>
      <dgm:spPr/>
      <dgm:t>
        <a:bodyPr/>
        <a:lstStyle/>
        <a:p>
          <a:endParaRPr lang="en-US"/>
        </a:p>
      </dgm:t>
    </dgm:pt>
    <dgm:pt modelId="{794B49AE-DAD3-4B47-90E7-035EEA6B6ACE}" type="pres">
      <dgm:prSet presAssocID="{5BA1888A-DC61-4439-89D2-8FDE3A301476}" presName="vert0" presStyleCnt="0">
        <dgm:presLayoutVars>
          <dgm:dir/>
          <dgm:animOne val="branch"/>
          <dgm:animLvl val="lvl"/>
        </dgm:presLayoutVars>
      </dgm:prSet>
      <dgm:spPr/>
    </dgm:pt>
    <dgm:pt modelId="{5DC68CC1-BA0A-44D4-A8C1-B6506C7A78F8}" type="pres">
      <dgm:prSet presAssocID="{98053768-0BEF-4E42-83C3-D28B222531CC}" presName="thickLine" presStyleLbl="alignNode1" presStyleIdx="0" presStyleCnt="5"/>
      <dgm:spPr/>
    </dgm:pt>
    <dgm:pt modelId="{FEFBBF25-5503-4330-8AF1-5327D477637A}" type="pres">
      <dgm:prSet presAssocID="{98053768-0BEF-4E42-83C3-D28B222531CC}" presName="horz1" presStyleCnt="0"/>
      <dgm:spPr/>
    </dgm:pt>
    <dgm:pt modelId="{826EFC1C-D50F-4F62-A522-1F91708315E4}" type="pres">
      <dgm:prSet presAssocID="{98053768-0BEF-4E42-83C3-D28B222531CC}" presName="tx1" presStyleLbl="revTx" presStyleIdx="0" presStyleCnt="5"/>
      <dgm:spPr/>
    </dgm:pt>
    <dgm:pt modelId="{F397E0C0-DFC4-41A2-80FD-A9CDFB375158}" type="pres">
      <dgm:prSet presAssocID="{98053768-0BEF-4E42-83C3-D28B222531CC}" presName="vert1" presStyleCnt="0"/>
      <dgm:spPr/>
    </dgm:pt>
    <dgm:pt modelId="{0F16F419-272B-4E81-8DA2-2DF44F15D8F2}" type="pres">
      <dgm:prSet presAssocID="{1C7CA430-69EE-4369-8B30-D5D69711CF82}" presName="thickLine" presStyleLbl="alignNode1" presStyleIdx="1" presStyleCnt="5"/>
      <dgm:spPr/>
    </dgm:pt>
    <dgm:pt modelId="{8B316CE5-8902-4649-A697-4F1AD8E03A79}" type="pres">
      <dgm:prSet presAssocID="{1C7CA430-69EE-4369-8B30-D5D69711CF82}" presName="horz1" presStyleCnt="0"/>
      <dgm:spPr/>
    </dgm:pt>
    <dgm:pt modelId="{33A51788-C440-4C49-B555-76F8F2298CF2}" type="pres">
      <dgm:prSet presAssocID="{1C7CA430-69EE-4369-8B30-D5D69711CF82}" presName="tx1" presStyleLbl="revTx" presStyleIdx="1" presStyleCnt="5"/>
      <dgm:spPr/>
    </dgm:pt>
    <dgm:pt modelId="{A7720928-6CC5-469E-B16F-C857F1367F13}" type="pres">
      <dgm:prSet presAssocID="{1C7CA430-69EE-4369-8B30-D5D69711CF82}" presName="vert1" presStyleCnt="0"/>
      <dgm:spPr/>
    </dgm:pt>
    <dgm:pt modelId="{E6AB9698-F62F-4070-B658-3619A1B38BAC}" type="pres">
      <dgm:prSet presAssocID="{FFD18BC1-7CA5-421E-9FEC-8482AC552F3B}" presName="thickLine" presStyleLbl="alignNode1" presStyleIdx="2" presStyleCnt="5"/>
      <dgm:spPr/>
    </dgm:pt>
    <dgm:pt modelId="{7FCEDDD4-975E-4345-BD5B-75EFE652ED65}" type="pres">
      <dgm:prSet presAssocID="{FFD18BC1-7CA5-421E-9FEC-8482AC552F3B}" presName="horz1" presStyleCnt="0"/>
      <dgm:spPr/>
    </dgm:pt>
    <dgm:pt modelId="{FC2BB940-3E66-484C-B844-F65C7439D852}" type="pres">
      <dgm:prSet presAssocID="{FFD18BC1-7CA5-421E-9FEC-8482AC552F3B}" presName="tx1" presStyleLbl="revTx" presStyleIdx="2" presStyleCnt="5"/>
      <dgm:spPr/>
    </dgm:pt>
    <dgm:pt modelId="{3163235B-2754-4606-B1F8-771FA3001177}" type="pres">
      <dgm:prSet presAssocID="{FFD18BC1-7CA5-421E-9FEC-8482AC552F3B}" presName="vert1" presStyleCnt="0"/>
      <dgm:spPr/>
    </dgm:pt>
    <dgm:pt modelId="{3E7326A4-1CAD-49DE-9E33-36E0B0FB55C0}" type="pres">
      <dgm:prSet presAssocID="{CF7E975C-CCB0-468A-826F-CB3D5C34F56A}" presName="thickLine" presStyleLbl="alignNode1" presStyleIdx="3" presStyleCnt="5"/>
      <dgm:spPr/>
    </dgm:pt>
    <dgm:pt modelId="{65964274-49F9-4835-B37E-ACC409737684}" type="pres">
      <dgm:prSet presAssocID="{CF7E975C-CCB0-468A-826F-CB3D5C34F56A}" presName="horz1" presStyleCnt="0"/>
      <dgm:spPr/>
    </dgm:pt>
    <dgm:pt modelId="{F4147A5F-0B1E-41E9-837F-DAB3CD994ADA}" type="pres">
      <dgm:prSet presAssocID="{CF7E975C-CCB0-468A-826F-CB3D5C34F56A}" presName="tx1" presStyleLbl="revTx" presStyleIdx="3" presStyleCnt="5"/>
      <dgm:spPr/>
    </dgm:pt>
    <dgm:pt modelId="{4FA9DEA1-5980-4479-A81E-AF3E0E12F456}" type="pres">
      <dgm:prSet presAssocID="{CF7E975C-CCB0-468A-826F-CB3D5C34F56A}" presName="vert1" presStyleCnt="0"/>
      <dgm:spPr/>
    </dgm:pt>
    <dgm:pt modelId="{29CF81C5-DE01-4F59-BE01-1580B15CCA42}" type="pres">
      <dgm:prSet presAssocID="{D5776D20-6702-4F85-B2C6-CF9012497251}" presName="thickLine" presStyleLbl="alignNode1" presStyleIdx="4" presStyleCnt="5"/>
      <dgm:spPr/>
    </dgm:pt>
    <dgm:pt modelId="{47A5D26F-12F6-42D3-95C7-29C06C19463F}" type="pres">
      <dgm:prSet presAssocID="{D5776D20-6702-4F85-B2C6-CF9012497251}" presName="horz1" presStyleCnt="0"/>
      <dgm:spPr/>
    </dgm:pt>
    <dgm:pt modelId="{440DE6E5-7B84-4269-B683-922507EC68D4}" type="pres">
      <dgm:prSet presAssocID="{D5776D20-6702-4F85-B2C6-CF9012497251}" presName="tx1" presStyleLbl="revTx" presStyleIdx="4" presStyleCnt="5"/>
      <dgm:spPr/>
    </dgm:pt>
    <dgm:pt modelId="{7028ACBC-504C-43ED-A96B-D4749E7E0103}" type="pres">
      <dgm:prSet presAssocID="{D5776D20-6702-4F85-B2C6-CF9012497251}" presName="vert1" presStyleCnt="0"/>
      <dgm:spPr/>
    </dgm:pt>
  </dgm:ptLst>
  <dgm:cxnLst>
    <dgm:cxn modelId="{ABA98601-930F-4F10-8876-C86A722562E2}" srcId="{5BA1888A-DC61-4439-89D2-8FDE3A301476}" destId="{1C7CA430-69EE-4369-8B30-D5D69711CF82}" srcOrd="1" destOrd="0" parTransId="{2D3046E0-0C36-4767-9573-2729A91D71B3}" sibTransId="{2C5CEB57-6E2C-4A94-804D-B0F46AF0290C}"/>
    <dgm:cxn modelId="{975CC90D-CD43-4C44-B048-F6B05996458E}" srcId="{5BA1888A-DC61-4439-89D2-8FDE3A301476}" destId="{CF7E975C-CCB0-468A-826F-CB3D5C34F56A}" srcOrd="3" destOrd="0" parTransId="{B88763CC-2BD1-4FEC-BAC9-84DB0C099F41}" sibTransId="{370571CB-ECFA-4563-B979-200A389FDA46}"/>
    <dgm:cxn modelId="{20C16F20-5621-43A8-A9D1-70C473F96683}" type="presOf" srcId="{D5776D20-6702-4F85-B2C6-CF9012497251}" destId="{440DE6E5-7B84-4269-B683-922507EC68D4}" srcOrd="0" destOrd="0" presId="urn:microsoft.com/office/officeart/2008/layout/LinedList"/>
    <dgm:cxn modelId="{44570826-34AA-415B-BE3C-E46ECB3E043E}" srcId="{5BA1888A-DC61-4439-89D2-8FDE3A301476}" destId="{FFD18BC1-7CA5-421E-9FEC-8482AC552F3B}" srcOrd="2" destOrd="0" parTransId="{58C77C88-DA50-4852-AA25-BB2D3049193D}" sibTransId="{665111C1-8677-4CF1-B857-7082EA5D59C4}"/>
    <dgm:cxn modelId="{8EB50D78-4FDE-417F-8767-431F5C5B6DBA}" type="presOf" srcId="{5BA1888A-DC61-4439-89D2-8FDE3A301476}" destId="{794B49AE-DAD3-4B47-90E7-035EEA6B6ACE}" srcOrd="0" destOrd="0" presId="urn:microsoft.com/office/officeart/2008/layout/LinedList"/>
    <dgm:cxn modelId="{2771B386-5782-4EA5-990F-C6693B2898EE}" type="presOf" srcId="{FFD18BC1-7CA5-421E-9FEC-8482AC552F3B}" destId="{FC2BB940-3E66-484C-B844-F65C7439D852}" srcOrd="0" destOrd="0" presId="urn:microsoft.com/office/officeart/2008/layout/LinedList"/>
    <dgm:cxn modelId="{1DE3BDB2-32B1-4314-B862-BC708884DC8B}" type="presOf" srcId="{CF7E975C-CCB0-468A-826F-CB3D5C34F56A}" destId="{F4147A5F-0B1E-41E9-837F-DAB3CD994ADA}" srcOrd="0" destOrd="0" presId="urn:microsoft.com/office/officeart/2008/layout/LinedList"/>
    <dgm:cxn modelId="{EEED82BB-1D58-49A2-A56A-3A9957EA806F}" type="presOf" srcId="{1C7CA430-69EE-4369-8B30-D5D69711CF82}" destId="{33A51788-C440-4C49-B555-76F8F2298CF2}" srcOrd="0" destOrd="0" presId="urn:microsoft.com/office/officeart/2008/layout/LinedList"/>
    <dgm:cxn modelId="{338D81C3-BC1B-499B-96A0-32929E2BCC1A}" type="presOf" srcId="{98053768-0BEF-4E42-83C3-D28B222531CC}" destId="{826EFC1C-D50F-4F62-A522-1F91708315E4}" srcOrd="0" destOrd="0" presId="urn:microsoft.com/office/officeart/2008/layout/LinedList"/>
    <dgm:cxn modelId="{2853CCE9-A826-487F-91E8-597957069923}" srcId="{5BA1888A-DC61-4439-89D2-8FDE3A301476}" destId="{D5776D20-6702-4F85-B2C6-CF9012497251}" srcOrd="4" destOrd="0" parTransId="{39BD5697-8932-48A2-BE10-593131711480}" sibTransId="{3AF61C29-93D0-45CD-9AAF-DABB56D726A4}"/>
    <dgm:cxn modelId="{A2D4BAFD-231A-4ACD-98C2-1049F1F422AB}" srcId="{5BA1888A-DC61-4439-89D2-8FDE3A301476}" destId="{98053768-0BEF-4E42-83C3-D28B222531CC}" srcOrd="0" destOrd="0" parTransId="{3B6A3360-E168-4489-9C7C-6741AB077C74}" sibTransId="{3BB09366-F5CD-4A5B-A473-EAD5A664259A}"/>
    <dgm:cxn modelId="{E6FDF92A-FDA5-4197-A3E5-509506084610}" type="presParOf" srcId="{794B49AE-DAD3-4B47-90E7-035EEA6B6ACE}" destId="{5DC68CC1-BA0A-44D4-A8C1-B6506C7A78F8}" srcOrd="0" destOrd="0" presId="urn:microsoft.com/office/officeart/2008/layout/LinedList"/>
    <dgm:cxn modelId="{C8F10398-8A10-4871-999F-C100989C657E}" type="presParOf" srcId="{794B49AE-DAD3-4B47-90E7-035EEA6B6ACE}" destId="{FEFBBF25-5503-4330-8AF1-5327D477637A}" srcOrd="1" destOrd="0" presId="urn:microsoft.com/office/officeart/2008/layout/LinedList"/>
    <dgm:cxn modelId="{8B775B40-4ACB-40AC-9D49-1D0BF62340D3}" type="presParOf" srcId="{FEFBBF25-5503-4330-8AF1-5327D477637A}" destId="{826EFC1C-D50F-4F62-A522-1F91708315E4}" srcOrd="0" destOrd="0" presId="urn:microsoft.com/office/officeart/2008/layout/LinedList"/>
    <dgm:cxn modelId="{DE71A96C-4021-4D62-8A1A-DBB76A2F3577}" type="presParOf" srcId="{FEFBBF25-5503-4330-8AF1-5327D477637A}" destId="{F397E0C0-DFC4-41A2-80FD-A9CDFB375158}" srcOrd="1" destOrd="0" presId="urn:microsoft.com/office/officeart/2008/layout/LinedList"/>
    <dgm:cxn modelId="{2192BDD1-9978-4555-B2F3-963A73F27247}" type="presParOf" srcId="{794B49AE-DAD3-4B47-90E7-035EEA6B6ACE}" destId="{0F16F419-272B-4E81-8DA2-2DF44F15D8F2}" srcOrd="2" destOrd="0" presId="urn:microsoft.com/office/officeart/2008/layout/LinedList"/>
    <dgm:cxn modelId="{969B5C1C-EB8B-434F-90FE-7492C06DDEE5}" type="presParOf" srcId="{794B49AE-DAD3-4B47-90E7-035EEA6B6ACE}" destId="{8B316CE5-8902-4649-A697-4F1AD8E03A79}" srcOrd="3" destOrd="0" presId="urn:microsoft.com/office/officeart/2008/layout/LinedList"/>
    <dgm:cxn modelId="{A5F2864C-781B-4427-8E93-05363F17277F}" type="presParOf" srcId="{8B316CE5-8902-4649-A697-4F1AD8E03A79}" destId="{33A51788-C440-4C49-B555-76F8F2298CF2}" srcOrd="0" destOrd="0" presId="urn:microsoft.com/office/officeart/2008/layout/LinedList"/>
    <dgm:cxn modelId="{9A308944-E202-4D2B-AB62-33DFA5331499}" type="presParOf" srcId="{8B316CE5-8902-4649-A697-4F1AD8E03A79}" destId="{A7720928-6CC5-469E-B16F-C857F1367F13}" srcOrd="1" destOrd="0" presId="urn:microsoft.com/office/officeart/2008/layout/LinedList"/>
    <dgm:cxn modelId="{7554B6E6-9B33-43EF-90A1-7BDC7AF57491}" type="presParOf" srcId="{794B49AE-DAD3-4B47-90E7-035EEA6B6ACE}" destId="{E6AB9698-F62F-4070-B658-3619A1B38BAC}" srcOrd="4" destOrd="0" presId="urn:microsoft.com/office/officeart/2008/layout/LinedList"/>
    <dgm:cxn modelId="{398A3414-27AA-4244-B08A-0C45370406B3}" type="presParOf" srcId="{794B49AE-DAD3-4B47-90E7-035EEA6B6ACE}" destId="{7FCEDDD4-975E-4345-BD5B-75EFE652ED65}" srcOrd="5" destOrd="0" presId="urn:microsoft.com/office/officeart/2008/layout/LinedList"/>
    <dgm:cxn modelId="{99AA233D-174D-4FAF-97CA-1E8A8E5C03BA}" type="presParOf" srcId="{7FCEDDD4-975E-4345-BD5B-75EFE652ED65}" destId="{FC2BB940-3E66-484C-B844-F65C7439D852}" srcOrd="0" destOrd="0" presId="urn:microsoft.com/office/officeart/2008/layout/LinedList"/>
    <dgm:cxn modelId="{9BB2AA95-01C1-4866-9F4E-AC0FD39EB447}" type="presParOf" srcId="{7FCEDDD4-975E-4345-BD5B-75EFE652ED65}" destId="{3163235B-2754-4606-B1F8-771FA3001177}" srcOrd="1" destOrd="0" presId="urn:microsoft.com/office/officeart/2008/layout/LinedList"/>
    <dgm:cxn modelId="{E99A7099-2413-4BC3-BA0A-11086D14570D}" type="presParOf" srcId="{794B49AE-DAD3-4B47-90E7-035EEA6B6ACE}" destId="{3E7326A4-1CAD-49DE-9E33-36E0B0FB55C0}" srcOrd="6" destOrd="0" presId="urn:microsoft.com/office/officeart/2008/layout/LinedList"/>
    <dgm:cxn modelId="{056D31DC-1AB5-4AE6-8324-D4DB268246C3}" type="presParOf" srcId="{794B49AE-DAD3-4B47-90E7-035EEA6B6ACE}" destId="{65964274-49F9-4835-B37E-ACC409737684}" srcOrd="7" destOrd="0" presId="urn:microsoft.com/office/officeart/2008/layout/LinedList"/>
    <dgm:cxn modelId="{E75A799C-DF78-4BA6-9C89-B73AA7CA75F0}" type="presParOf" srcId="{65964274-49F9-4835-B37E-ACC409737684}" destId="{F4147A5F-0B1E-41E9-837F-DAB3CD994ADA}" srcOrd="0" destOrd="0" presId="urn:microsoft.com/office/officeart/2008/layout/LinedList"/>
    <dgm:cxn modelId="{6D7FA0BF-DBEC-4470-AB50-D461DFF4D91B}" type="presParOf" srcId="{65964274-49F9-4835-B37E-ACC409737684}" destId="{4FA9DEA1-5980-4479-A81E-AF3E0E12F456}" srcOrd="1" destOrd="0" presId="urn:microsoft.com/office/officeart/2008/layout/LinedList"/>
    <dgm:cxn modelId="{0206CE35-DD4D-4539-8C4E-55B4EDC44503}" type="presParOf" srcId="{794B49AE-DAD3-4B47-90E7-035EEA6B6ACE}" destId="{29CF81C5-DE01-4F59-BE01-1580B15CCA42}" srcOrd="8" destOrd="0" presId="urn:microsoft.com/office/officeart/2008/layout/LinedList"/>
    <dgm:cxn modelId="{F16A1B55-D5D3-4195-B4F5-C98BFD3DC81C}" type="presParOf" srcId="{794B49AE-DAD3-4B47-90E7-035EEA6B6ACE}" destId="{47A5D26F-12F6-42D3-95C7-29C06C19463F}" srcOrd="9" destOrd="0" presId="urn:microsoft.com/office/officeart/2008/layout/LinedList"/>
    <dgm:cxn modelId="{6BCA5978-3758-4466-95AE-B1D0294955A2}" type="presParOf" srcId="{47A5D26F-12F6-42D3-95C7-29C06C19463F}" destId="{440DE6E5-7B84-4269-B683-922507EC68D4}" srcOrd="0" destOrd="0" presId="urn:microsoft.com/office/officeart/2008/layout/LinedList"/>
    <dgm:cxn modelId="{89E8A981-277A-490C-B83A-5A8000B110EA}" type="presParOf" srcId="{47A5D26F-12F6-42D3-95C7-29C06C19463F}" destId="{7028ACBC-504C-43ED-A96B-D4749E7E01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6D245C-6B54-4E54-BB27-A37E4548B946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291AE94-054E-4678-B0E5-3F6ACE921EFC}">
      <dgm:prSet/>
      <dgm:spPr/>
      <dgm:t>
        <a:bodyPr/>
        <a:lstStyle/>
        <a:p>
          <a:r>
            <a:rPr lang="pt-PT" b="1"/>
            <a:t>Planeamento familiar</a:t>
          </a:r>
          <a:r>
            <a:rPr lang="pt-PT"/>
            <a:t> — O planeamento familiar é um dos quatro pilares da Iniciativa de Maternidade Segura para reduzir a morte materna em países com recursos limitados, e pode ser a intervenção mais importante para alcançar este objetivo. O planeamento familiar pode reduzir a mortalidade nas mulheres de várias formas:</a:t>
          </a:r>
          <a:endParaRPr lang="en-US"/>
        </a:p>
      </dgm:t>
    </dgm:pt>
    <dgm:pt modelId="{7CB8DD1C-23FA-4037-9ED1-4BB75737DFEC}" type="parTrans" cxnId="{9E25B935-3E06-4AD2-92F4-2E31BF2599D3}">
      <dgm:prSet/>
      <dgm:spPr/>
      <dgm:t>
        <a:bodyPr/>
        <a:lstStyle/>
        <a:p>
          <a:endParaRPr lang="en-US"/>
        </a:p>
      </dgm:t>
    </dgm:pt>
    <dgm:pt modelId="{749A3D23-A240-4D80-80E6-ABBF5E7114A7}" type="sibTrans" cxnId="{9E25B935-3E06-4AD2-92F4-2E31BF2599D3}">
      <dgm:prSet/>
      <dgm:spPr/>
      <dgm:t>
        <a:bodyPr/>
        <a:lstStyle/>
        <a:p>
          <a:endParaRPr lang="en-US"/>
        </a:p>
      </dgm:t>
    </dgm:pt>
    <dgm:pt modelId="{F279B264-E5CB-49A4-9AB5-C716DCA64D84}">
      <dgm:prSet/>
      <dgm:spPr/>
      <dgm:t>
        <a:bodyPr/>
        <a:lstStyle/>
        <a:p>
          <a:r>
            <a:rPr lang="pt-PT"/>
            <a:t>Redução da mortalidade relacionada com a gravidez, incluindo gravidezes ectópicas</a:t>
          </a:r>
          <a:endParaRPr lang="en-US"/>
        </a:p>
      </dgm:t>
    </dgm:pt>
    <dgm:pt modelId="{9218D31C-9FE9-43C3-BBF2-3830DC2A9349}" type="parTrans" cxnId="{B12E9B86-8DBC-4FE7-8438-9F1C651E76CE}">
      <dgm:prSet/>
      <dgm:spPr/>
      <dgm:t>
        <a:bodyPr/>
        <a:lstStyle/>
        <a:p>
          <a:endParaRPr lang="en-US"/>
        </a:p>
      </dgm:t>
    </dgm:pt>
    <dgm:pt modelId="{55CAAA3C-91BA-40C0-A855-B385D88960F2}" type="sibTrans" cxnId="{B12E9B86-8DBC-4FE7-8438-9F1C651E76CE}">
      <dgm:prSet/>
      <dgm:spPr/>
      <dgm:t>
        <a:bodyPr/>
        <a:lstStyle/>
        <a:p>
          <a:endParaRPr lang="en-US"/>
        </a:p>
      </dgm:t>
    </dgm:pt>
    <dgm:pt modelId="{05762E6E-6256-4412-8BA7-3C98BBEFA7DE}">
      <dgm:prSet/>
      <dgm:spPr/>
      <dgm:t>
        <a:bodyPr/>
        <a:lstStyle/>
        <a:p>
          <a:r>
            <a:rPr lang="pt-PT"/>
            <a:t>Redução da mortalidade relacionada com o aborto por gravidez indesejada</a:t>
          </a:r>
          <a:endParaRPr lang="en-US"/>
        </a:p>
      </dgm:t>
    </dgm:pt>
    <dgm:pt modelId="{4F2F07AE-4006-4717-AC24-A0F5682CAA3F}" type="parTrans" cxnId="{AD6FC620-09EA-4094-9F5D-A2F675EF6BC4}">
      <dgm:prSet/>
      <dgm:spPr/>
      <dgm:t>
        <a:bodyPr/>
        <a:lstStyle/>
        <a:p>
          <a:endParaRPr lang="en-US"/>
        </a:p>
      </dgm:t>
    </dgm:pt>
    <dgm:pt modelId="{CC6C49C6-EB53-4D4C-85A5-A1C9D0EF0C7D}" type="sibTrans" cxnId="{AD6FC620-09EA-4094-9F5D-A2F675EF6BC4}">
      <dgm:prSet/>
      <dgm:spPr/>
      <dgm:t>
        <a:bodyPr/>
        <a:lstStyle/>
        <a:p>
          <a:endParaRPr lang="en-US"/>
        </a:p>
      </dgm:t>
    </dgm:pt>
    <dgm:pt modelId="{891F2FE4-425B-470C-8551-CD5F8555E389}">
      <dgm:prSet/>
      <dgm:spPr/>
      <dgm:t>
        <a:bodyPr/>
        <a:lstStyle/>
        <a:p>
          <a:r>
            <a:rPr lang="pt-PT"/>
            <a:t>Adiamento da idade da primeira gravidez, particularmente em adolescentes</a:t>
          </a:r>
          <a:endParaRPr lang="en-US"/>
        </a:p>
      </dgm:t>
    </dgm:pt>
    <dgm:pt modelId="{4C3D2B62-F26C-475A-9B15-1B25C9E18631}" type="parTrans" cxnId="{A7AB72D1-CEC1-4E6A-AAD7-0E66D459B2F0}">
      <dgm:prSet/>
      <dgm:spPr/>
      <dgm:t>
        <a:bodyPr/>
        <a:lstStyle/>
        <a:p>
          <a:endParaRPr lang="en-US"/>
        </a:p>
      </dgm:t>
    </dgm:pt>
    <dgm:pt modelId="{4176A95C-92A5-4029-8768-630C093F8E53}" type="sibTrans" cxnId="{A7AB72D1-CEC1-4E6A-AAD7-0E66D459B2F0}">
      <dgm:prSet/>
      <dgm:spPr/>
      <dgm:t>
        <a:bodyPr/>
        <a:lstStyle/>
        <a:p>
          <a:endParaRPr lang="en-US"/>
        </a:p>
      </dgm:t>
    </dgm:pt>
    <dgm:pt modelId="{732DB790-9D9B-4521-A28F-7D227D6FB56C}">
      <dgm:prSet/>
      <dgm:spPr/>
      <dgm:t>
        <a:bodyPr/>
        <a:lstStyle/>
        <a:p>
          <a:r>
            <a:rPr lang="pt-PT"/>
            <a:t>Otimização do espaçamento da gravidez </a:t>
          </a:r>
          <a:endParaRPr lang="en-US"/>
        </a:p>
      </dgm:t>
    </dgm:pt>
    <dgm:pt modelId="{231ED432-800F-4C1F-BC96-B1778A0D5160}" type="parTrans" cxnId="{17D76168-CCDD-4127-B0E5-F124345655DC}">
      <dgm:prSet/>
      <dgm:spPr/>
      <dgm:t>
        <a:bodyPr/>
        <a:lstStyle/>
        <a:p>
          <a:endParaRPr lang="en-US"/>
        </a:p>
      </dgm:t>
    </dgm:pt>
    <dgm:pt modelId="{2DC4A20C-A8C4-4A99-8D6E-5A99BA9843EB}" type="sibTrans" cxnId="{17D76168-CCDD-4127-B0E5-F124345655DC}">
      <dgm:prSet/>
      <dgm:spPr/>
      <dgm:t>
        <a:bodyPr/>
        <a:lstStyle/>
        <a:p>
          <a:endParaRPr lang="en-US"/>
        </a:p>
      </dgm:t>
    </dgm:pt>
    <dgm:pt modelId="{743F7A83-7A06-4C56-B28B-CA0832E8C52A}">
      <dgm:prSet/>
      <dgm:spPr/>
      <dgm:t>
        <a:bodyPr/>
        <a:lstStyle/>
        <a:p>
          <a:r>
            <a:rPr lang="pt-PT"/>
            <a:t>Redução da alta paridade </a:t>
          </a:r>
          <a:endParaRPr lang="en-US"/>
        </a:p>
      </dgm:t>
    </dgm:pt>
    <dgm:pt modelId="{6BCF1F0F-622B-4B49-8D12-FF6C9ADBDDA7}" type="parTrans" cxnId="{5DFE6B38-C951-4F71-A947-897F32AC0084}">
      <dgm:prSet/>
      <dgm:spPr/>
      <dgm:t>
        <a:bodyPr/>
        <a:lstStyle/>
        <a:p>
          <a:endParaRPr lang="en-US"/>
        </a:p>
      </dgm:t>
    </dgm:pt>
    <dgm:pt modelId="{4A38D055-071F-4408-81F9-3D34ADCCA891}" type="sibTrans" cxnId="{5DFE6B38-C951-4F71-A947-897F32AC0084}">
      <dgm:prSet/>
      <dgm:spPr/>
      <dgm:t>
        <a:bodyPr/>
        <a:lstStyle/>
        <a:p>
          <a:endParaRPr lang="en-US"/>
        </a:p>
      </dgm:t>
    </dgm:pt>
    <dgm:pt modelId="{F31CC937-E60E-4ADB-BE72-338232E574FD}" type="pres">
      <dgm:prSet presAssocID="{186D245C-6B54-4E54-BB27-A37E4548B946}" presName="vert0" presStyleCnt="0">
        <dgm:presLayoutVars>
          <dgm:dir/>
          <dgm:animOne val="branch"/>
          <dgm:animLvl val="lvl"/>
        </dgm:presLayoutVars>
      </dgm:prSet>
      <dgm:spPr/>
    </dgm:pt>
    <dgm:pt modelId="{9EFAF3E9-ABDF-438D-94D6-36304B31D79C}" type="pres">
      <dgm:prSet presAssocID="{0291AE94-054E-4678-B0E5-3F6ACE921EFC}" presName="thickLine" presStyleLbl="alignNode1" presStyleIdx="0" presStyleCnt="6"/>
      <dgm:spPr/>
    </dgm:pt>
    <dgm:pt modelId="{71BFFDBD-075E-4E90-A1DA-FCB7DA1F1877}" type="pres">
      <dgm:prSet presAssocID="{0291AE94-054E-4678-B0E5-3F6ACE921EFC}" presName="horz1" presStyleCnt="0"/>
      <dgm:spPr/>
    </dgm:pt>
    <dgm:pt modelId="{91EF99BE-420B-46EF-9DB3-DB9936159A21}" type="pres">
      <dgm:prSet presAssocID="{0291AE94-054E-4678-B0E5-3F6ACE921EFC}" presName="tx1" presStyleLbl="revTx" presStyleIdx="0" presStyleCnt="6"/>
      <dgm:spPr/>
    </dgm:pt>
    <dgm:pt modelId="{1DA5A0C3-CC5F-4210-9D85-9ADF58FE8D10}" type="pres">
      <dgm:prSet presAssocID="{0291AE94-054E-4678-B0E5-3F6ACE921EFC}" presName="vert1" presStyleCnt="0"/>
      <dgm:spPr/>
    </dgm:pt>
    <dgm:pt modelId="{546DA8C0-9526-434A-B6FA-7A4FD7F23E65}" type="pres">
      <dgm:prSet presAssocID="{F279B264-E5CB-49A4-9AB5-C716DCA64D84}" presName="thickLine" presStyleLbl="alignNode1" presStyleIdx="1" presStyleCnt="6"/>
      <dgm:spPr/>
    </dgm:pt>
    <dgm:pt modelId="{DD9B101A-BBC5-4058-833E-011F40A9DF23}" type="pres">
      <dgm:prSet presAssocID="{F279B264-E5CB-49A4-9AB5-C716DCA64D84}" presName="horz1" presStyleCnt="0"/>
      <dgm:spPr/>
    </dgm:pt>
    <dgm:pt modelId="{721A3A6C-933A-4969-AF7E-05571C76B5A4}" type="pres">
      <dgm:prSet presAssocID="{F279B264-E5CB-49A4-9AB5-C716DCA64D84}" presName="tx1" presStyleLbl="revTx" presStyleIdx="1" presStyleCnt="6"/>
      <dgm:spPr/>
    </dgm:pt>
    <dgm:pt modelId="{F1556469-A851-44EE-BB70-0E82039F8A0E}" type="pres">
      <dgm:prSet presAssocID="{F279B264-E5CB-49A4-9AB5-C716DCA64D84}" presName="vert1" presStyleCnt="0"/>
      <dgm:spPr/>
    </dgm:pt>
    <dgm:pt modelId="{AF984F5D-EE18-4D94-810D-1500840E83C4}" type="pres">
      <dgm:prSet presAssocID="{05762E6E-6256-4412-8BA7-3C98BBEFA7DE}" presName="thickLine" presStyleLbl="alignNode1" presStyleIdx="2" presStyleCnt="6"/>
      <dgm:spPr/>
    </dgm:pt>
    <dgm:pt modelId="{98480A15-FD69-436B-9C78-007705C03A2F}" type="pres">
      <dgm:prSet presAssocID="{05762E6E-6256-4412-8BA7-3C98BBEFA7DE}" presName="horz1" presStyleCnt="0"/>
      <dgm:spPr/>
    </dgm:pt>
    <dgm:pt modelId="{BDE99105-6A08-43EE-BA73-3616D89F2CE7}" type="pres">
      <dgm:prSet presAssocID="{05762E6E-6256-4412-8BA7-3C98BBEFA7DE}" presName="tx1" presStyleLbl="revTx" presStyleIdx="2" presStyleCnt="6"/>
      <dgm:spPr/>
    </dgm:pt>
    <dgm:pt modelId="{8E7C428B-7FC1-4926-8CD2-1C006501F021}" type="pres">
      <dgm:prSet presAssocID="{05762E6E-6256-4412-8BA7-3C98BBEFA7DE}" presName="vert1" presStyleCnt="0"/>
      <dgm:spPr/>
    </dgm:pt>
    <dgm:pt modelId="{15BF01B5-3231-49AE-9F65-2CEE9522A174}" type="pres">
      <dgm:prSet presAssocID="{891F2FE4-425B-470C-8551-CD5F8555E389}" presName="thickLine" presStyleLbl="alignNode1" presStyleIdx="3" presStyleCnt="6"/>
      <dgm:spPr/>
    </dgm:pt>
    <dgm:pt modelId="{A0E29599-781F-4690-84F8-485D4874E2FD}" type="pres">
      <dgm:prSet presAssocID="{891F2FE4-425B-470C-8551-CD5F8555E389}" presName="horz1" presStyleCnt="0"/>
      <dgm:spPr/>
    </dgm:pt>
    <dgm:pt modelId="{2463ECA3-99C2-4C0E-B3B5-381844A9C595}" type="pres">
      <dgm:prSet presAssocID="{891F2FE4-425B-470C-8551-CD5F8555E389}" presName="tx1" presStyleLbl="revTx" presStyleIdx="3" presStyleCnt="6"/>
      <dgm:spPr/>
    </dgm:pt>
    <dgm:pt modelId="{3D103106-7F8F-48AC-9D8F-CFEAEDBF8AC8}" type="pres">
      <dgm:prSet presAssocID="{891F2FE4-425B-470C-8551-CD5F8555E389}" presName="vert1" presStyleCnt="0"/>
      <dgm:spPr/>
    </dgm:pt>
    <dgm:pt modelId="{D7668910-AC13-4FDC-B95A-052A45215B25}" type="pres">
      <dgm:prSet presAssocID="{732DB790-9D9B-4521-A28F-7D227D6FB56C}" presName="thickLine" presStyleLbl="alignNode1" presStyleIdx="4" presStyleCnt="6"/>
      <dgm:spPr/>
    </dgm:pt>
    <dgm:pt modelId="{84E03941-F430-468D-94CA-70D4110EFD64}" type="pres">
      <dgm:prSet presAssocID="{732DB790-9D9B-4521-A28F-7D227D6FB56C}" presName="horz1" presStyleCnt="0"/>
      <dgm:spPr/>
    </dgm:pt>
    <dgm:pt modelId="{01838AA7-3394-48B9-99CD-E3E74D7BB090}" type="pres">
      <dgm:prSet presAssocID="{732DB790-9D9B-4521-A28F-7D227D6FB56C}" presName="tx1" presStyleLbl="revTx" presStyleIdx="4" presStyleCnt="6"/>
      <dgm:spPr/>
    </dgm:pt>
    <dgm:pt modelId="{9150C014-710A-4B47-94C2-C0A91DD8DD0F}" type="pres">
      <dgm:prSet presAssocID="{732DB790-9D9B-4521-A28F-7D227D6FB56C}" presName="vert1" presStyleCnt="0"/>
      <dgm:spPr/>
    </dgm:pt>
    <dgm:pt modelId="{3AF75EA4-1D54-4357-802A-618E2FE13721}" type="pres">
      <dgm:prSet presAssocID="{743F7A83-7A06-4C56-B28B-CA0832E8C52A}" presName="thickLine" presStyleLbl="alignNode1" presStyleIdx="5" presStyleCnt="6"/>
      <dgm:spPr/>
    </dgm:pt>
    <dgm:pt modelId="{B3B90274-7AB5-4404-92D0-4D8049287875}" type="pres">
      <dgm:prSet presAssocID="{743F7A83-7A06-4C56-B28B-CA0832E8C52A}" presName="horz1" presStyleCnt="0"/>
      <dgm:spPr/>
    </dgm:pt>
    <dgm:pt modelId="{BEE907EF-69FC-46C6-8011-CF378FE33725}" type="pres">
      <dgm:prSet presAssocID="{743F7A83-7A06-4C56-B28B-CA0832E8C52A}" presName="tx1" presStyleLbl="revTx" presStyleIdx="5" presStyleCnt="6"/>
      <dgm:spPr/>
    </dgm:pt>
    <dgm:pt modelId="{16B33D2C-7943-40C0-B90C-E5878E05457C}" type="pres">
      <dgm:prSet presAssocID="{743F7A83-7A06-4C56-B28B-CA0832E8C52A}" presName="vert1" presStyleCnt="0"/>
      <dgm:spPr/>
    </dgm:pt>
  </dgm:ptLst>
  <dgm:cxnLst>
    <dgm:cxn modelId="{AD6FC620-09EA-4094-9F5D-A2F675EF6BC4}" srcId="{186D245C-6B54-4E54-BB27-A37E4548B946}" destId="{05762E6E-6256-4412-8BA7-3C98BBEFA7DE}" srcOrd="2" destOrd="0" parTransId="{4F2F07AE-4006-4717-AC24-A0F5682CAA3F}" sibTransId="{CC6C49C6-EB53-4D4C-85A5-A1C9D0EF0C7D}"/>
    <dgm:cxn modelId="{9BCAB734-CF91-4711-AADE-4F531E0DDF7E}" type="presOf" srcId="{0291AE94-054E-4678-B0E5-3F6ACE921EFC}" destId="{91EF99BE-420B-46EF-9DB3-DB9936159A21}" srcOrd="0" destOrd="0" presId="urn:microsoft.com/office/officeart/2008/layout/LinedList"/>
    <dgm:cxn modelId="{9E25B935-3E06-4AD2-92F4-2E31BF2599D3}" srcId="{186D245C-6B54-4E54-BB27-A37E4548B946}" destId="{0291AE94-054E-4678-B0E5-3F6ACE921EFC}" srcOrd="0" destOrd="0" parTransId="{7CB8DD1C-23FA-4037-9ED1-4BB75737DFEC}" sibTransId="{749A3D23-A240-4D80-80E6-ABBF5E7114A7}"/>
    <dgm:cxn modelId="{5DFE6B38-C951-4F71-A947-897F32AC0084}" srcId="{186D245C-6B54-4E54-BB27-A37E4548B946}" destId="{743F7A83-7A06-4C56-B28B-CA0832E8C52A}" srcOrd="5" destOrd="0" parTransId="{6BCF1F0F-622B-4B49-8D12-FF6C9ADBDDA7}" sibTransId="{4A38D055-071F-4408-81F9-3D34ADCCA891}"/>
    <dgm:cxn modelId="{208E7539-9D65-4D00-B543-63F6A096A968}" type="presOf" srcId="{186D245C-6B54-4E54-BB27-A37E4548B946}" destId="{F31CC937-E60E-4ADB-BE72-338232E574FD}" srcOrd="0" destOrd="0" presId="urn:microsoft.com/office/officeart/2008/layout/LinedList"/>
    <dgm:cxn modelId="{59E98E5F-8C84-4D79-A8E5-4625843ABADB}" type="presOf" srcId="{891F2FE4-425B-470C-8551-CD5F8555E389}" destId="{2463ECA3-99C2-4C0E-B3B5-381844A9C595}" srcOrd="0" destOrd="0" presId="urn:microsoft.com/office/officeart/2008/layout/LinedList"/>
    <dgm:cxn modelId="{17D76168-CCDD-4127-B0E5-F124345655DC}" srcId="{186D245C-6B54-4E54-BB27-A37E4548B946}" destId="{732DB790-9D9B-4521-A28F-7D227D6FB56C}" srcOrd="4" destOrd="0" parTransId="{231ED432-800F-4C1F-BC96-B1778A0D5160}" sibTransId="{2DC4A20C-A8C4-4A99-8D6E-5A99BA9843EB}"/>
    <dgm:cxn modelId="{B12E9B86-8DBC-4FE7-8438-9F1C651E76CE}" srcId="{186D245C-6B54-4E54-BB27-A37E4548B946}" destId="{F279B264-E5CB-49A4-9AB5-C716DCA64D84}" srcOrd="1" destOrd="0" parTransId="{9218D31C-9FE9-43C3-BBF2-3830DC2A9349}" sibTransId="{55CAAA3C-91BA-40C0-A855-B385D88960F2}"/>
    <dgm:cxn modelId="{4383258F-9DE4-47B2-9400-C67D8AC4FF7D}" type="presOf" srcId="{F279B264-E5CB-49A4-9AB5-C716DCA64D84}" destId="{721A3A6C-933A-4969-AF7E-05571C76B5A4}" srcOrd="0" destOrd="0" presId="urn:microsoft.com/office/officeart/2008/layout/LinedList"/>
    <dgm:cxn modelId="{A4D59F94-5BA6-4E46-B6B7-70CF303DF514}" type="presOf" srcId="{05762E6E-6256-4412-8BA7-3C98BBEFA7DE}" destId="{BDE99105-6A08-43EE-BA73-3616D89F2CE7}" srcOrd="0" destOrd="0" presId="urn:microsoft.com/office/officeart/2008/layout/LinedList"/>
    <dgm:cxn modelId="{B763C0C0-B7E0-411E-A13A-65FDBCF1E8B1}" type="presOf" srcId="{732DB790-9D9B-4521-A28F-7D227D6FB56C}" destId="{01838AA7-3394-48B9-99CD-E3E74D7BB090}" srcOrd="0" destOrd="0" presId="urn:microsoft.com/office/officeart/2008/layout/LinedList"/>
    <dgm:cxn modelId="{A7AB72D1-CEC1-4E6A-AAD7-0E66D459B2F0}" srcId="{186D245C-6B54-4E54-BB27-A37E4548B946}" destId="{891F2FE4-425B-470C-8551-CD5F8555E389}" srcOrd="3" destOrd="0" parTransId="{4C3D2B62-F26C-475A-9B15-1B25C9E18631}" sibTransId="{4176A95C-92A5-4029-8768-630C093F8E53}"/>
    <dgm:cxn modelId="{735977F8-05CC-4412-B16C-0E3A980449FA}" type="presOf" srcId="{743F7A83-7A06-4C56-B28B-CA0832E8C52A}" destId="{BEE907EF-69FC-46C6-8011-CF378FE33725}" srcOrd="0" destOrd="0" presId="urn:microsoft.com/office/officeart/2008/layout/LinedList"/>
    <dgm:cxn modelId="{C35BC6F8-5CB9-4B8E-BCEF-EA94ABECDB19}" type="presParOf" srcId="{F31CC937-E60E-4ADB-BE72-338232E574FD}" destId="{9EFAF3E9-ABDF-438D-94D6-36304B31D79C}" srcOrd="0" destOrd="0" presId="urn:microsoft.com/office/officeart/2008/layout/LinedList"/>
    <dgm:cxn modelId="{E51F7868-6E32-467E-BC32-E9FBCD31F2EA}" type="presParOf" srcId="{F31CC937-E60E-4ADB-BE72-338232E574FD}" destId="{71BFFDBD-075E-4E90-A1DA-FCB7DA1F1877}" srcOrd="1" destOrd="0" presId="urn:microsoft.com/office/officeart/2008/layout/LinedList"/>
    <dgm:cxn modelId="{A0603707-5B52-4C85-BAED-BA934EE11AC9}" type="presParOf" srcId="{71BFFDBD-075E-4E90-A1DA-FCB7DA1F1877}" destId="{91EF99BE-420B-46EF-9DB3-DB9936159A21}" srcOrd="0" destOrd="0" presId="urn:microsoft.com/office/officeart/2008/layout/LinedList"/>
    <dgm:cxn modelId="{9F0C878C-9B94-48C7-AC08-03B877951B06}" type="presParOf" srcId="{71BFFDBD-075E-4E90-A1DA-FCB7DA1F1877}" destId="{1DA5A0C3-CC5F-4210-9D85-9ADF58FE8D10}" srcOrd="1" destOrd="0" presId="urn:microsoft.com/office/officeart/2008/layout/LinedList"/>
    <dgm:cxn modelId="{3816C5F2-79D7-4193-93E7-8CEFB7E11D8A}" type="presParOf" srcId="{F31CC937-E60E-4ADB-BE72-338232E574FD}" destId="{546DA8C0-9526-434A-B6FA-7A4FD7F23E65}" srcOrd="2" destOrd="0" presId="urn:microsoft.com/office/officeart/2008/layout/LinedList"/>
    <dgm:cxn modelId="{4A0C1ACA-AC15-4659-9BEA-B1B606C4D2A0}" type="presParOf" srcId="{F31CC937-E60E-4ADB-BE72-338232E574FD}" destId="{DD9B101A-BBC5-4058-833E-011F40A9DF23}" srcOrd="3" destOrd="0" presId="urn:microsoft.com/office/officeart/2008/layout/LinedList"/>
    <dgm:cxn modelId="{5BEECA61-4950-4C58-9E1C-2649A1530C6B}" type="presParOf" srcId="{DD9B101A-BBC5-4058-833E-011F40A9DF23}" destId="{721A3A6C-933A-4969-AF7E-05571C76B5A4}" srcOrd="0" destOrd="0" presId="urn:microsoft.com/office/officeart/2008/layout/LinedList"/>
    <dgm:cxn modelId="{EE19A84B-1A63-4BFC-97D3-E836D77AB75D}" type="presParOf" srcId="{DD9B101A-BBC5-4058-833E-011F40A9DF23}" destId="{F1556469-A851-44EE-BB70-0E82039F8A0E}" srcOrd="1" destOrd="0" presId="urn:microsoft.com/office/officeart/2008/layout/LinedList"/>
    <dgm:cxn modelId="{575FEC46-CA73-4EE9-84C1-801A6BBBE96A}" type="presParOf" srcId="{F31CC937-E60E-4ADB-BE72-338232E574FD}" destId="{AF984F5D-EE18-4D94-810D-1500840E83C4}" srcOrd="4" destOrd="0" presId="urn:microsoft.com/office/officeart/2008/layout/LinedList"/>
    <dgm:cxn modelId="{FBB8F897-E262-4739-B2C4-AA99BECE2957}" type="presParOf" srcId="{F31CC937-E60E-4ADB-BE72-338232E574FD}" destId="{98480A15-FD69-436B-9C78-007705C03A2F}" srcOrd="5" destOrd="0" presId="urn:microsoft.com/office/officeart/2008/layout/LinedList"/>
    <dgm:cxn modelId="{E2EDAD04-C07C-4C85-ACFB-8406F84F4F36}" type="presParOf" srcId="{98480A15-FD69-436B-9C78-007705C03A2F}" destId="{BDE99105-6A08-43EE-BA73-3616D89F2CE7}" srcOrd="0" destOrd="0" presId="urn:microsoft.com/office/officeart/2008/layout/LinedList"/>
    <dgm:cxn modelId="{2826B3D8-66E3-486D-8637-D054DD7967D9}" type="presParOf" srcId="{98480A15-FD69-436B-9C78-007705C03A2F}" destId="{8E7C428B-7FC1-4926-8CD2-1C006501F021}" srcOrd="1" destOrd="0" presId="urn:microsoft.com/office/officeart/2008/layout/LinedList"/>
    <dgm:cxn modelId="{230EC256-E6F3-49D7-8C62-81E9D91BC7A7}" type="presParOf" srcId="{F31CC937-E60E-4ADB-BE72-338232E574FD}" destId="{15BF01B5-3231-49AE-9F65-2CEE9522A174}" srcOrd="6" destOrd="0" presId="urn:microsoft.com/office/officeart/2008/layout/LinedList"/>
    <dgm:cxn modelId="{6C0CFCAE-FF25-46CA-B4D3-48E4AF399B07}" type="presParOf" srcId="{F31CC937-E60E-4ADB-BE72-338232E574FD}" destId="{A0E29599-781F-4690-84F8-485D4874E2FD}" srcOrd="7" destOrd="0" presId="urn:microsoft.com/office/officeart/2008/layout/LinedList"/>
    <dgm:cxn modelId="{05A72D3B-24EE-413F-B8AD-E6902DC6F468}" type="presParOf" srcId="{A0E29599-781F-4690-84F8-485D4874E2FD}" destId="{2463ECA3-99C2-4C0E-B3B5-381844A9C595}" srcOrd="0" destOrd="0" presId="urn:microsoft.com/office/officeart/2008/layout/LinedList"/>
    <dgm:cxn modelId="{22F981EC-BB98-40F7-89C7-5529EF2C8F5F}" type="presParOf" srcId="{A0E29599-781F-4690-84F8-485D4874E2FD}" destId="{3D103106-7F8F-48AC-9D8F-CFEAEDBF8AC8}" srcOrd="1" destOrd="0" presId="urn:microsoft.com/office/officeart/2008/layout/LinedList"/>
    <dgm:cxn modelId="{57931BC3-8437-4AAD-901F-6674BDE34F14}" type="presParOf" srcId="{F31CC937-E60E-4ADB-BE72-338232E574FD}" destId="{D7668910-AC13-4FDC-B95A-052A45215B25}" srcOrd="8" destOrd="0" presId="urn:microsoft.com/office/officeart/2008/layout/LinedList"/>
    <dgm:cxn modelId="{8D75A5E6-91C0-44DB-961D-9F8E45AE013C}" type="presParOf" srcId="{F31CC937-E60E-4ADB-BE72-338232E574FD}" destId="{84E03941-F430-468D-94CA-70D4110EFD64}" srcOrd="9" destOrd="0" presId="urn:microsoft.com/office/officeart/2008/layout/LinedList"/>
    <dgm:cxn modelId="{4652F7B6-8131-4A98-8D40-98962DF25AE6}" type="presParOf" srcId="{84E03941-F430-468D-94CA-70D4110EFD64}" destId="{01838AA7-3394-48B9-99CD-E3E74D7BB090}" srcOrd="0" destOrd="0" presId="urn:microsoft.com/office/officeart/2008/layout/LinedList"/>
    <dgm:cxn modelId="{2DB0C4E5-EEAA-48D3-BBA6-F8BF7446F7E1}" type="presParOf" srcId="{84E03941-F430-468D-94CA-70D4110EFD64}" destId="{9150C014-710A-4B47-94C2-C0A91DD8DD0F}" srcOrd="1" destOrd="0" presId="urn:microsoft.com/office/officeart/2008/layout/LinedList"/>
    <dgm:cxn modelId="{B78F6E09-8F87-4B10-B667-FA78AFDC51FB}" type="presParOf" srcId="{F31CC937-E60E-4ADB-BE72-338232E574FD}" destId="{3AF75EA4-1D54-4357-802A-618E2FE13721}" srcOrd="10" destOrd="0" presId="urn:microsoft.com/office/officeart/2008/layout/LinedList"/>
    <dgm:cxn modelId="{E0F84E2A-80D2-45A1-95BF-43B25C7C69FB}" type="presParOf" srcId="{F31CC937-E60E-4ADB-BE72-338232E574FD}" destId="{B3B90274-7AB5-4404-92D0-4D8049287875}" srcOrd="11" destOrd="0" presId="urn:microsoft.com/office/officeart/2008/layout/LinedList"/>
    <dgm:cxn modelId="{282DC31F-813B-4320-8C91-96DADC30740C}" type="presParOf" srcId="{B3B90274-7AB5-4404-92D0-4D8049287875}" destId="{BEE907EF-69FC-46C6-8011-CF378FE33725}" srcOrd="0" destOrd="0" presId="urn:microsoft.com/office/officeart/2008/layout/LinedList"/>
    <dgm:cxn modelId="{39F884EF-A731-4E51-8B08-035AFB2D6FC1}" type="presParOf" srcId="{B3B90274-7AB5-4404-92D0-4D8049287875}" destId="{16B33D2C-7943-40C0-B90C-E5878E05457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DB0B43-DA2A-40C2-8EB3-41E932A1535C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417C120-82DD-4564-A008-1CD23EF5413B}">
      <dgm:prSet/>
      <dgm:spPr/>
      <dgm:t>
        <a:bodyPr/>
        <a:lstStyle/>
        <a:p>
          <a:r>
            <a:rPr lang="pt-BR" b="1"/>
            <a:t>Assistência ao parto por profissional qualificado</a:t>
          </a:r>
          <a:endParaRPr lang="en-US"/>
        </a:p>
      </dgm:t>
    </dgm:pt>
    <dgm:pt modelId="{5E3A9929-D93A-48DB-8528-FD1ED4D15BB1}" type="parTrans" cxnId="{CE5952B0-80E7-400D-9B7E-B277770BA96B}">
      <dgm:prSet/>
      <dgm:spPr/>
      <dgm:t>
        <a:bodyPr/>
        <a:lstStyle/>
        <a:p>
          <a:endParaRPr lang="en-US"/>
        </a:p>
      </dgm:t>
    </dgm:pt>
    <dgm:pt modelId="{7C0CE3E1-A308-4B96-863B-08D0F3243158}" type="sibTrans" cxnId="{CE5952B0-80E7-400D-9B7E-B277770BA96B}">
      <dgm:prSet/>
      <dgm:spPr/>
      <dgm:t>
        <a:bodyPr/>
        <a:lstStyle/>
        <a:p>
          <a:endParaRPr lang="en-US"/>
        </a:p>
      </dgm:t>
    </dgm:pt>
    <dgm:pt modelId="{E86B156B-1A55-4C66-B7AA-6436D5E15850}">
      <dgm:prSet/>
      <dgm:spPr/>
      <dgm:t>
        <a:bodyPr/>
        <a:lstStyle/>
        <a:p>
          <a:r>
            <a:rPr lang="pt-PT"/>
            <a:t>Para grávidas, otimizar os cuidados intraparto parece ser a intervenção mais importante para reduzir a mortalidade materna tanto em países de rendimento elevado como em países de baixo/médio rendimento. Mais de dois terços das mulheres em todo o mundo dão à luz em casa, muitas vezes com um assistente de parto tradicional que não é um profissional de saúde treinado. </a:t>
          </a:r>
          <a:endParaRPr lang="en-US"/>
        </a:p>
      </dgm:t>
    </dgm:pt>
    <dgm:pt modelId="{005F1848-78AE-46FC-A4E5-D8E134ABC546}" type="parTrans" cxnId="{3CC6C13A-12F0-4B80-8B1A-061F07F543DF}">
      <dgm:prSet/>
      <dgm:spPr/>
      <dgm:t>
        <a:bodyPr/>
        <a:lstStyle/>
        <a:p>
          <a:endParaRPr lang="en-US"/>
        </a:p>
      </dgm:t>
    </dgm:pt>
    <dgm:pt modelId="{5009A05C-E926-471D-B21E-36A58AAE65C1}" type="sibTrans" cxnId="{3CC6C13A-12F0-4B80-8B1A-061F07F543DF}">
      <dgm:prSet/>
      <dgm:spPr/>
      <dgm:t>
        <a:bodyPr/>
        <a:lstStyle/>
        <a:p>
          <a:endParaRPr lang="en-US"/>
        </a:p>
      </dgm:t>
    </dgm:pt>
    <dgm:pt modelId="{BC71D1B9-4F48-4983-B1CF-BE2D1D5D4C92}" type="pres">
      <dgm:prSet presAssocID="{4ADB0B43-DA2A-40C2-8EB3-41E932A1535C}" presName="vert0" presStyleCnt="0">
        <dgm:presLayoutVars>
          <dgm:dir/>
          <dgm:animOne val="branch"/>
          <dgm:animLvl val="lvl"/>
        </dgm:presLayoutVars>
      </dgm:prSet>
      <dgm:spPr/>
    </dgm:pt>
    <dgm:pt modelId="{BEEFE43F-F9AA-4F2F-BC86-F7D59F194075}" type="pres">
      <dgm:prSet presAssocID="{1417C120-82DD-4564-A008-1CD23EF5413B}" presName="thickLine" presStyleLbl="alignNode1" presStyleIdx="0" presStyleCnt="2"/>
      <dgm:spPr/>
    </dgm:pt>
    <dgm:pt modelId="{6040E362-AD99-45D1-BC42-26B5A5F46D6D}" type="pres">
      <dgm:prSet presAssocID="{1417C120-82DD-4564-A008-1CD23EF5413B}" presName="horz1" presStyleCnt="0"/>
      <dgm:spPr/>
    </dgm:pt>
    <dgm:pt modelId="{B6751936-B33A-4738-B35C-36195D8A2222}" type="pres">
      <dgm:prSet presAssocID="{1417C120-82DD-4564-A008-1CD23EF5413B}" presName="tx1" presStyleLbl="revTx" presStyleIdx="0" presStyleCnt="2"/>
      <dgm:spPr/>
    </dgm:pt>
    <dgm:pt modelId="{93D77B89-EE53-44FF-812D-D114E4301F9C}" type="pres">
      <dgm:prSet presAssocID="{1417C120-82DD-4564-A008-1CD23EF5413B}" presName="vert1" presStyleCnt="0"/>
      <dgm:spPr/>
    </dgm:pt>
    <dgm:pt modelId="{EAAB6598-3068-4DAA-95A2-39CD841D0799}" type="pres">
      <dgm:prSet presAssocID="{E86B156B-1A55-4C66-B7AA-6436D5E15850}" presName="thickLine" presStyleLbl="alignNode1" presStyleIdx="1" presStyleCnt="2"/>
      <dgm:spPr/>
    </dgm:pt>
    <dgm:pt modelId="{85DD93A8-BF3C-488C-89AE-AF3C096D9EFD}" type="pres">
      <dgm:prSet presAssocID="{E86B156B-1A55-4C66-B7AA-6436D5E15850}" presName="horz1" presStyleCnt="0"/>
      <dgm:spPr/>
    </dgm:pt>
    <dgm:pt modelId="{859D830C-E4CC-4955-9314-1BDD3C4378E1}" type="pres">
      <dgm:prSet presAssocID="{E86B156B-1A55-4C66-B7AA-6436D5E15850}" presName="tx1" presStyleLbl="revTx" presStyleIdx="1" presStyleCnt="2"/>
      <dgm:spPr/>
    </dgm:pt>
    <dgm:pt modelId="{B18DE2FE-600B-4CAC-84A5-A496BB9016C2}" type="pres">
      <dgm:prSet presAssocID="{E86B156B-1A55-4C66-B7AA-6436D5E15850}" presName="vert1" presStyleCnt="0"/>
      <dgm:spPr/>
    </dgm:pt>
  </dgm:ptLst>
  <dgm:cxnLst>
    <dgm:cxn modelId="{C1EDD000-3F9B-4D8B-85A9-87CE8502C6F9}" type="presOf" srcId="{E86B156B-1A55-4C66-B7AA-6436D5E15850}" destId="{859D830C-E4CC-4955-9314-1BDD3C4378E1}" srcOrd="0" destOrd="0" presId="urn:microsoft.com/office/officeart/2008/layout/LinedList"/>
    <dgm:cxn modelId="{3CC6C13A-12F0-4B80-8B1A-061F07F543DF}" srcId="{4ADB0B43-DA2A-40C2-8EB3-41E932A1535C}" destId="{E86B156B-1A55-4C66-B7AA-6436D5E15850}" srcOrd="1" destOrd="0" parTransId="{005F1848-78AE-46FC-A4E5-D8E134ABC546}" sibTransId="{5009A05C-E926-471D-B21E-36A58AAE65C1}"/>
    <dgm:cxn modelId="{C4FA814F-C44A-4ACC-A015-52625DC0024E}" type="presOf" srcId="{4ADB0B43-DA2A-40C2-8EB3-41E932A1535C}" destId="{BC71D1B9-4F48-4983-B1CF-BE2D1D5D4C92}" srcOrd="0" destOrd="0" presId="urn:microsoft.com/office/officeart/2008/layout/LinedList"/>
    <dgm:cxn modelId="{CE5952B0-80E7-400D-9B7E-B277770BA96B}" srcId="{4ADB0B43-DA2A-40C2-8EB3-41E932A1535C}" destId="{1417C120-82DD-4564-A008-1CD23EF5413B}" srcOrd="0" destOrd="0" parTransId="{5E3A9929-D93A-48DB-8528-FD1ED4D15BB1}" sibTransId="{7C0CE3E1-A308-4B96-863B-08D0F3243158}"/>
    <dgm:cxn modelId="{AA924CD1-D844-47EC-AC33-CC199AB89F72}" type="presOf" srcId="{1417C120-82DD-4564-A008-1CD23EF5413B}" destId="{B6751936-B33A-4738-B35C-36195D8A2222}" srcOrd="0" destOrd="0" presId="urn:microsoft.com/office/officeart/2008/layout/LinedList"/>
    <dgm:cxn modelId="{E63FAAB0-FB07-44F5-AB68-C8827C301F82}" type="presParOf" srcId="{BC71D1B9-4F48-4983-B1CF-BE2D1D5D4C92}" destId="{BEEFE43F-F9AA-4F2F-BC86-F7D59F194075}" srcOrd="0" destOrd="0" presId="urn:microsoft.com/office/officeart/2008/layout/LinedList"/>
    <dgm:cxn modelId="{BD4F74C7-5343-40B9-BCB5-4807A6DAE680}" type="presParOf" srcId="{BC71D1B9-4F48-4983-B1CF-BE2D1D5D4C92}" destId="{6040E362-AD99-45D1-BC42-26B5A5F46D6D}" srcOrd="1" destOrd="0" presId="urn:microsoft.com/office/officeart/2008/layout/LinedList"/>
    <dgm:cxn modelId="{9AF793A7-A923-4339-BF99-41D0BD652296}" type="presParOf" srcId="{6040E362-AD99-45D1-BC42-26B5A5F46D6D}" destId="{B6751936-B33A-4738-B35C-36195D8A2222}" srcOrd="0" destOrd="0" presId="urn:microsoft.com/office/officeart/2008/layout/LinedList"/>
    <dgm:cxn modelId="{2C625C69-D7EB-440A-BCF0-313C33896B0C}" type="presParOf" srcId="{6040E362-AD99-45D1-BC42-26B5A5F46D6D}" destId="{93D77B89-EE53-44FF-812D-D114E4301F9C}" srcOrd="1" destOrd="0" presId="urn:microsoft.com/office/officeart/2008/layout/LinedList"/>
    <dgm:cxn modelId="{9D37AAD0-DFAD-4A62-AE6F-E895FB84FA20}" type="presParOf" srcId="{BC71D1B9-4F48-4983-B1CF-BE2D1D5D4C92}" destId="{EAAB6598-3068-4DAA-95A2-39CD841D0799}" srcOrd="2" destOrd="0" presId="urn:microsoft.com/office/officeart/2008/layout/LinedList"/>
    <dgm:cxn modelId="{F8D5FD13-3475-4F48-85AE-15AEACA893AD}" type="presParOf" srcId="{BC71D1B9-4F48-4983-B1CF-BE2D1D5D4C92}" destId="{85DD93A8-BF3C-488C-89AE-AF3C096D9EFD}" srcOrd="3" destOrd="0" presId="urn:microsoft.com/office/officeart/2008/layout/LinedList"/>
    <dgm:cxn modelId="{A96DC3FF-03C6-46DE-B6FB-66A3920E80A2}" type="presParOf" srcId="{85DD93A8-BF3C-488C-89AE-AF3C096D9EFD}" destId="{859D830C-E4CC-4955-9314-1BDD3C4378E1}" srcOrd="0" destOrd="0" presId="urn:microsoft.com/office/officeart/2008/layout/LinedList"/>
    <dgm:cxn modelId="{D26391DC-E6E4-47A0-A04C-D7499C4F4049}" type="presParOf" srcId="{85DD93A8-BF3C-488C-89AE-AF3C096D9EFD}" destId="{B18DE2FE-600B-4CAC-84A5-A496BB9016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0BDB08-FD47-4239-812B-A49BD9991128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301AFE4-C0A4-49A3-8E7A-44BE96F7EF96}">
      <dgm:prSet/>
      <dgm:spPr/>
      <dgm:t>
        <a:bodyPr/>
        <a:lstStyle/>
        <a:p>
          <a:r>
            <a:rPr lang="pt-PT" b="1"/>
            <a:t>Cuidados obstétricos de emergência</a:t>
          </a:r>
          <a:r>
            <a:rPr lang="pt-PT"/>
            <a:t> — A Organização Mundial de Saúde (OMS) considera a capacidade de fornecer os seguintes sete serviços "básicos" necessários para a prestação de cuidados obstétricos de emergência</a:t>
          </a:r>
          <a:endParaRPr lang="en-US"/>
        </a:p>
      </dgm:t>
    </dgm:pt>
    <dgm:pt modelId="{2CD77918-3058-4594-8BDB-B220F8AEE268}" type="parTrans" cxnId="{7D38CA38-219E-4F38-B28F-9F223149D91E}">
      <dgm:prSet/>
      <dgm:spPr/>
      <dgm:t>
        <a:bodyPr/>
        <a:lstStyle/>
        <a:p>
          <a:endParaRPr lang="en-US"/>
        </a:p>
      </dgm:t>
    </dgm:pt>
    <dgm:pt modelId="{EBF82321-4E88-49D9-ADBC-965DD911169C}" type="sibTrans" cxnId="{7D38CA38-219E-4F38-B28F-9F223149D91E}">
      <dgm:prSet/>
      <dgm:spPr/>
      <dgm:t>
        <a:bodyPr/>
        <a:lstStyle/>
        <a:p>
          <a:endParaRPr lang="en-US"/>
        </a:p>
      </dgm:t>
    </dgm:pt>
    <dgm:pt modelId="{9E156E49-9593-46C9-B3D1-416D5D2CD769}">
      <dgm:prSet/>
      <dgm:spPr/>
      <dgm:t>
        <a:bodyPr/>
        <a:lstStyle/>
        <a:p>
          <a:r>
            <a:rPr lang="pt-PT"/>
            <a:t>Administrar antibióticos parenterais</a:t>
          </a:r>
          <a:endParaRPr lang="en-US"/>
        </a:p>
      </dgm:t>
    </dgm:pt>
    <dgm:pt modelId="{30D80183-9103-4C9E-8F37-6FBBF1F7608B}" type="parTrans" cxnId="{A43F7560-ABF2-4C75-AA56-F120990321F3}">
      <dgm:prSet/>
      <dgm:spPr/>
      <dgm:t>
        <a:bodyPr/>
        <a:lstStyle/>
        <a:p>
          <a:endParaRPr lang="en-US"/>
        </a:p>
      </dgm:t>
    </dgm:pt>
    <dgm:pt modelId="{BB885E47-67A5-4622-AC34-8493A2DD1428}" type="sibTrans" cxnId="{A43F7560-ABF2-4C75-AA56-F120990321F3}">
      <dgm:prSet/>
      <dgm:spPr/>
      <dgm:t>
        <a:bodyPr/>
        <a:lstStyle/>
        <a:p>
          <a:endParaRPr lang="en-US"/>
        </a:p>
      </dgm:t>
    </dgm:pt>
    <dgm:pt modelId="{4C29E79E-B6C8-49CD-B86C-080E245FF84B}">
      <dgm:prSet/>
      <dgm:spPr/>
      <dgm:t>
        <a:bodyPr/>
        <a:lstStyle/>
        <a:p>
          <a:r>
            <a:rPr lang="pt-PT"/>
            <a:t>Administrar medicamentos uterotónicos</a:t>
          </a:r>
          <a:endParaRPr lang="en-US"/>
        </a:p>
      </dgm:t>
    </dgm:pt>
    <dgm:pt modelId="{1C988FC4-9CA9-4FC2-B553-5170FFF301E2}" type="parTrans" cxnId="{568D1233-5193-406E-8786-6F2458CB4E2B}">
      <dgm:prSet/>
      <dgm:spPr/>
      <dgm:t>
        <a:bodyPr/>
        <a:lstStyle/>
        <a:p>
          <a:endParaRPr lang="en-US"/>
        </a:p>
      </dgm:t>
    </dgm:pt>
    <dgm:pt modelId="{94BF3535-F43D-4B2B-8216-E30BB6203144}" type="sibTrans" cxnId="{568D1233-5193-406E-8786-6F2458CB4E2B}">
      <dgm:prSet/>
      <dgm:spPr/>
      <dgm:t>
        <a:bodyPr/>
        <a:lstStyle/>
        <a:p>
          <a:endParaRPr lang="en-US"/>
        </a:p>
      </dgm:t>
    </dgm:pt>
    <dgm:pt modelId="{58F16350-E46C-4BEC-9E9F-5E82CADBF715}">
      <dgm:prSet/>
      <dgm:spPr/>
      <dgm:t>
        <a:bodyPr/>
        <a:lstStyle/>
        <a:p>
          <a:r>
            <a:rPr lang="pt-PT" dirty="0">
              <a:solidFill>
                <a:schemeClr val="tx1"/>
              </a:solidFill>
            </a:rPr>
            <a:t>Administrar </a:t>
          </a:r>
          <a:r>
            <a:rPr lang="pt-PT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sulfato de magnésio</a:t>
          </a:r>
          <a:r>
            <a:rPr lang="pt-PT" dirty="0">
              <a:solidFill>
                <a:schemeClr val="tx1"/>
              </a:solidFill>
            </a:rPr>
            <a:t> </a:t>
          </a:r>
          <a:r>
            <a:rPr lang="pt-PT" dirty="0"/>
            <a:t>a mulheres com pré-eclâmpsia/eclâmpsia</a:t>
          </a:r>
          <a:endParaRPr lang="en-US" dirty="0"/>
        </a:p>
      </dgm:t>
    </dgm:pt>
    <dgm:pt modelId="{D20CADC5-A983-48CF-AC82-26766BB4F0D0}" type="parTrans" cxnId="{117F3BD7-F269-44B0-9E2B-F3DD4851603C}">
      <dgm:prSet/>
      <dgm:spPr/>
      <dgm:t>
        <a:bodyPr/>
        <a:lstStyle/>
        <a:p>
          <a:endParaRPr lang="en-US"/>
        </a:p>
      </dgm:t>
    </dgm:pt>
    <dgm:pt modelId="{CA6CFEF9-E9BE-4C5F-AA53-EE248905E18D}" type="sibTrans" cxnId="{117F3BD7-F269-44B0-9E2B-F3DD4851603C}">
      <dgm:prSet/>
      <dgm:spPr/>
      <dgm:t>
        <a:bodyPr/>
        <a:lstStyle/>
        <a:p>
          <a:endParaRPr lang="en-US"/>
        </a:p>
      </dgm:t>
    </dgm:pt>
    <dgm:pt modelId="{04934E50-FA2F-4137-B5FE-0A887C623CDF}">
      <dgm:prSet/>
      <dgm:spPr/>
      <dgm:t>
        <a:bodyPr/>
        <a:lstStyle/>
        <a:p>
          <a:r>
            <a:rPr lang="pt-PT"/>
            <a:t>Remover manualmente a placenta</a:t>
          </a:r>
          <a:endParaRPr lang="en-US"/>
        </a:p>
      </dgm:t>
    </dgm:pt>
    <dgm:pt modelId="{07B4FC51-DAD4-44CD-8AB5-527FC66CF9A1}" type="parTrans" cxnId="{7485EFD1-7D30-4D34-952D-666C0B1C1DE7}">
      <dgm:prSet/>
      <dgm:spPr/>
      <dgm:t>
        <a:bodyPr/>
        <a:lstStyle/>
        <a:p>
          <a:endParaRPr lang="en-US"/>
        </a:p>
      </dgm:t>
    </dgm:pt>
    <dgm:pt modelId="{AB862AB1-5279-4DEC-B7FE-4C0B20FF293E}" type="sibTrans" cxnId="{7485EFD1-7D30-4D34-952D-666C0B1C1DE7}">
      <dgm:prSet/>
      <dgm:spPr/>
      <dgm:t>
        <a:bodyPr/>
        <a:lstStyle/>
        <a:p>
          <a:endParaRPr lang="en-US"/>
        </a:p>
      </dgm:t>
    </dgm:pt>
    <dgm:pt modelId="{66ACEA52-C17A-4727-B9EF-75AFD6EE12E4}">
      <dgm:prSet/>
      <dgm:spPr/>
      <dgm:t>
        <a:bodyPr/>
        <a:lstStyle/>
        <a:p>
          <a:r>
            <a:rPr lang="pt-PT"/>
            <a:t>Remover os produtos retidos manualmente, com extração a vácuo, ou por dilatação e curetagem</a:t>
          </a:r>
          <a:endParaRPr lang="en-US"/>
        </a:p>
      </dgm:t>
    </dgm:pt>
    <dgm:pt modelId="{C5BEB682-D9E4-434F-A269-2E91BE586C7B}" type="parTrans" cxnId="{3A54E161-097E-45A6-A084-B300383FABB4}">
      <dgm:prSet/>
      <dgm:spPr/>
      <dgm:t>
        <a:bodyPr/>
        <a:lstStyle/>
        <a:p>
          <a:endParaRPr lang="en-US"/>
        </a:p>
      </dgm:t>
    </dgm:pt>
    <dgm:pt modelId="{F5419447-749D-4228-A4BF-F03A6BD0575A}" type="sibTrans" cxnId="{3A54E161-097E-45A6-A084-B300383FABB4}">
      <dgm:prSet/>
      <dgm:spPr/>
      <dgm:t>
        <a:bodyPr/>
        <a:lstStyle/>
        <a:p>
          <a:endParaRPr lang="en-US"/>
        </a:p>
      </dgm:t>
    </dgm:pt>
    <dgm:pt modelId="{D4C96BC6-B0B9-4B6F-8F70-AD62BE424F36}">
      <dgm:prSet/>
      <dgm:spPr/>
      <dgm:t>
        <a:bodyPr/>
        <a:lstStyle/>
        <a:p>
          <a:r>
            <a:rPr lang="pt-PT"/>
            <a:t>Realizar parto vaginal assistido por extração a vácuo ou fórceps</a:t>
          </a:r>
          <a:endParaRPr lang="en-US"/>
        </a:p>
      </dgm:t>
    </dgm:pt>
    <dgm:pt modelId="{4B1294A9-A49D-41C9-9F47-4B1E1927D856}" type="parTrans" cxnId="{E1F8AF05-7E16-43D6-9984-9DC5E40A838A}">
      <dgm:prSet/>
      <dgm:spPr/>
      <dgm:t>
        <a:bodyPr/>
        <a:lstStyle/>
        <a:p>
          <a:endParaRPr lang="en-US"/>
        </a:p>
      </dgm:t>
    </dgm:pt>
    <dgm:pt modelId="{C56B0A2E-B57B-45AD-AEB9-31F0DE461A00}" type="sibTrans" cxnId="{E1F8AF05-7E16-43D6-9984-9DC5E40A838A}">
      <dgm:prSet/>
      <dgm:spPr/>
      <dgm:t>
        <a:bodyPr/>
        <a:lstStyle/>
        <a:p>
          <a:endParaRPr lang="en-US"/>
        </a:p>
      </dgm:t>
    </dgm:pt>
    <dgm:pt modelId="{F4BA6B09-09B9-4EC1-BE5E-101F96F9B844}">
      <dgm:prSet/>
      <dgm:spPr/>
      <dgm:t>
        <a:bodyPr/>
        <a:lstStyle/>
        <a:p>
          <a:r>
            <a:rPr lang="pt-PT"/>
            <a:t>Realizar reanimação neonatal básica com máscara com reservatório de oxigénio</a:t>
          </a:r>
          <a:endParaRPr lang="en-US"/>
        </a:p>
      </dgm:t>
    </dgm:pt>
    <dgm:pt modelId="{8216BA96-0432-4025-87D9-E1FB2AA4D1C7}" type="parTrans" cxnId="{08778F69-85EE-4911-B744-44C6463B4276}">
      <dgm:prSet/>
      <dgm:spPr/>
      <dgm:t>
        <a:bodyPr/>
        <a:lstStyle/>
        <a:p>
          <a:endParaRPr lang="en-US"/>
        </a:p>
      </dgm:t>
    </dgm:pt>
    <dgm:pt modelId="{6879A4DF-E861-4A19-807A-E250F5270BFA}" type="sibTrans" cxnId="{08778F69-85EE-4911-B744-44C6463B4276}">
      <dgm:prSet/>
      <dgm:spPr/>
      <dgm:t>
        <a:bodyPr/>
        <a:lstStyle/>
        <a:p>
          <a:endParaRPr lang="en-US"/>
        </a:p>
      </dgm:t>
    </dgm:pt>
    <dgm:pt modelId="{E5D82755-D30C-4874-8013-7DA910FCF8DC}" type="pres">
      <dgm:prSet presAssocID="{D10BDB08-FD47-4239-812B-A49BD9991128}" presName="vert0" presStyleCnt="0">
        <dgm:presLayoutVars>
          <dgm:dir/>
          <dgm:animOne val="branch"/>
          <dgm:animLvl val="lvl"/>
        </dgm:presLayoutVars>
      </dgm:prSet>
      <dgm:spPr/>
    </dgm:pt>
    <dgm:pt modelId="{99CCD986-A5D9-42A7-9E5A-C26799C04EE1}" type="pres">
      <dgm:prSet presAssocID="{A301AFE4-C0A4-49A3-8E7A-44BE96F7EF96}" presName="thickLine" presStyleLbl="alignNode1" presStyleIdx="0" presStyleCnt="8"/>
      <dgm:spPr/>
    </dgm:pt>
    <dgm:pt modelId="{967934E5-29C8-4ABF-8C16-E9151D36D73F}" type="pres">
      <dgm:prSet presAssocID="{A301AFE4-C0A4-49A3-8E7A-44BE96F7EF96}" presName="horz1" presStyleCnt="0"/>
      <dgm:spPr/>
    </dgm:pt>
    <dgm:pt modelId="{51DCBF8B-9EDF-4835-A9E2-A2BBA0B31DEF}" type="pres">
      <dgm:prSet presAssocID="{A301AFE4-C0A4-49A3-8E7A-44BE96F7EF96}" presName="tx1" presStyleLbl="revTx" presStyleIdx="0" presStyleCnt="8"/>
      <dgm:spPr/>
    </dgm:pt>
    <dgm:pt modelId="{370A14E1-EFE5-4647-9B22-9F841347C1A9}" type="pres">
      <dgm:prSet presAssocID="{A301AFE4-C0A4-49A3-8E7A-44BE96F7EF96}" presName="vert1" presStyleCnt="0"/>
      <dgm:spPr/>
    </dgm:pt>
    <dgm:pt modelId="{135457A9-F72E-4473-A938-79D7FDD758C8}" type="pres">
      <dgm:prSet presAssocID="{9E156E49-9593-46C9-B3D1-416D5D2CD769}" presName="thickLine" presStyleLbl="alignNode1" presStyleIdx="1" presStyleCnt="8"/>
      <dgm:spPr/>
    </dgm:pt>
    <dgm:pt modelId="{01FB19F6-2CD0-4E56-946A-07A718BC217F}" type="pres">
      <dgm:prSet presAssocID="{9E156E49-9593-46C9-B3D1-416D5D2CD769}" presName="horz1" presStyleCnt="0"/>
      <dgm:spPr/>
    </dgm:pt>
    <dgm:pt modelId="{D0B95EDF-604F-4000-A15D-ECE3B03883B1}" type="pres">
      <dgm:prSet presAssocID="{9E156E49-9593-46C9-B3D1-416D5D2CD769}" presName="tx1" presStyleLbl="revTx" presStyleIdx="1" presStyleCnt="8"/>
      <dgm:spPr/>
    </dgm:pt>
    <dgm:pt modelId="{DBF2A152-DEBF-4612-9602-31602DFE8478}" type="pres">
      <dgm:prSet presAssocID="{9E156E49-9593-46C9-B3D1-416D5D2CD769}" presName="vert1" presStyleCnt="0"/>
      <dgm:spPr/>
    </dgm:pt>
    <dgm:pt modelId="{00ED6F21-5BEB-4A43-A27A-9D8CA6F06303}" type="pres">
      <dgm:prSet presAssocID="{4C29E79E-B6C8-49CD-B86C-080E245FF84B}" presName="thickLine" presStyleLbl="alignNode1" presStyleIdx="2" presStyleCnt="8"/>
      <dgm:spPr/>
    </dgm:pt>
    <dgm:pt modelId="{8F266E35-B9A4-42FE-A9EA-E539D77227B2}" type="pres">
      <dgm:prSet presAssocID="{4C29E79E-B6C8-49CD-B86C-080E245FF84B}" presName="horz1" presStyleCnt="0"/>
      <dgm:spPr/>
    </dgm:pt>
    <dgm:pt modelId="{ABFE90C5-C41C-423F-B26A-178AAA4AF5AE}" type="pres">
      <dgm:prSet presAssocID="{4C29E79E-B6C8-49CD-B86C-080E245FF84B}" presName="tx1" presStyleLbl="revTx" presStyleIdx="2" presStyleCnt="8"/>
      <dgm:spPr/>
    </dgm:pt>
    <dgm:pt modelId="{47BDC504-6D24-455D-8251-9D70786ED071}" type="pres">
      <dgm:prSet presAssocID="{4C29E79E-B6C8-49CD-B86C-080E245FF84B}" presName="vert1" presStyleCnt="0"/>
      <dgm:spPr/>
    </dgm:pt>
    <dgm:pt modelId="{C0D5070C-0A2B-4F12-8104-543657BB1B84}" type="pres">
      <dgm:prSet presAssocID="{58F16350-E46C-4BEC-9E9F-5E82CADBF715}" presName="thickLine" presStyleLbl="alignNode1" presStyleIdx="3" presStyleCnt="8"/>
      <dgm:spPr/>
    </dgm:pt>
    <dgm:pt modelId="{61CC7E4C-4C9F-4E0D-80EA-85611E6A077F}" type="pres">
      <dgm:prSet presAssocID="{58F16350-E46C-4BEC-9E9F-5E82CADBF715}" presName="horz1" presStyleCnt="0"/>
      <dgm:spPr/>
    </dgm:pt>
    <dgm:pt modelId="{AAFEBB84-3D5D-4B4A-AE78-9941CE1C0FF2}" type="pres">
      <dgm:prSet presAssocID="{58F16350-E46C-4BEC-9E9F-5E82CADBF715}" presName="tx1" presStyleLbl="revTx" presStyleIdx="3" presStyleCnt="8"/>
      <dgm:spPr/>
    </dgm:pt>
    <dgm:pt modelId="{7A65631C-37D1-4C73-A94F-E3B8D7E14186}" type="pres">
      <dgm:prSet presAssocID="{58F16350-E46C-4BEC-9E9F-5E82CADBF715}" presName="vert1" presStyleCnt="0"/>
      <dgm:spPr/>
    </dgm:pt>
    <dgm:pt modelId="{810C80E0-CFE0-4A38-A921-9873502A8388}" type="pres">
      <dgm:prSet presAssocID="{04934E50-FA2F-4137-B5FE-0A887C623CDF}" presName="thickLine" presStyleLbl="alignNode1" presStyleIdx="4" presStyleCnt="8"/>
      <dgm:spPr/>
    </dgm:pt>
    <dgm:pt modelId="{445979A0-C57C-41B0-A834-996C3AC78FD0}" type="pres">
      <dgm:prSet presAssocID="{04934E50-FA2F-4137-B5FE-0A887C623CDF}" presName="horz1" presStyleCnt="0"/>
      <dgm:spPr/>
    </dgm:pt>
    <dgm:pt modelId="{B61C5CBA-8C72-44C9-805C-AE40321CF94E}" type="pres">
      <dgm:prSet presAssocID="{04934E50-FA2F-4137-B5FE-0A887C623CDF}" presName="tx1" presStyleLbl="revTx" presStyleIdx="4" presStyleCnt="8"/>
      <dgm:spPr/>
    </dgm:pt>
    <dgm:pt modelId="{545923B1-0548-46FF-B324-8A952D55048A}" type="pres">
      <dgm:prSet presAssocID="{04934E50-FA2F-4137-B5FE-0A887C623CDF}" presName="vert1" presStyleCnt="0"/>
      <dgm:spPr/>
    </dgm:pt>
    <dgm:pt modelId="{23C0E7C2-AFBD-4671-A8F9-435329C277DE}" type="pres">
      <dgm:prSet presAssocID="{66ACEA52-C17A-4727-B9EF-75AFD6EE12E4}" presName="thickLine" presStyleLbl="alignNode1" presStyleIdx="5" presStyleCnt="8"/>
      <dgm:spPr/>
    </dgm:pt>
    <dgm:pt modelId="{7BDEDD12-7A46-4224-B838-3E60A5FB13DD}" type="pres">
      <dgm:prSet presAssocID="{66ACEA52-C17A-4727-B9EF-75AFD6EE12E4}" presName="horz1" presStyleCnt="0"/>
      <dgm:spPr/>
    </dgm:pt>
    <dgm:pt modelId="{3865468F-AA59-404E-81B7-21DF8CC1E58B}" type="pres">
      <dgm:prSet presAssocID="{66ACEA52-C17A-4727-B9EF-75AFD6EE12E4}" presName="tx1" presStyleLbl="revTx" presStyleIdx="5" presStyleCnt="8"/>
      <dgm:spPr/>
    </dgm:pt>
    <dgm:pt modelId="{991533CD-15FE-4BE4-82A8-6ECBCF8A7D5B}" type="pres">
      <dgm:prSet presAssocID="{66ACEA52-C17A-4727-B9EF-75AFD6EE12E4}" presName="vert1" presStyleCnt="0"/>
      <dgm:spPr/>
    </dgm:pt>
    <dgm:pt modelId="{A410DC51-4DD4-44C2-827D-0B3F85FE9EFD}" type="pres">
      <dgm:prSet presAssocID="{D4C96BC6-B0B9-4B6F-8F70-AD62BE424F36}" presName="thickLine" presStyleLbl="alignNode1" presStyleIdx="6" presStyleCnt="8"/>
      <dgm:spPr/>
    </dgm:pt>
    <dgm:pt modelId="{008F4F96-B673-442F-BEF6-4096BFB90D4C}" type="pres">
      <dgm:prSet presAssocID="{D4C96BC6-B0B9-4B6F-8F70-AD62BE424F36}" presName="horz1" presStyleCnt="0"/>
      <dgm:spPr/>
    </dgm:pt>
    <dgm:pt modelId="{6B43AD34-DC95-4448-9A7F-F3DC3C18C78A}" type="pres">
      <dgm:prSet presAssocID="{D4C96BC6-B0B9-4B6F-8F70-AD62BE424F36}" presName="tx1" presStyleLbl="revTx" presStyleIdx="6" presStyleCnt="8"/>
      <dgm:spPr/>
    </dgm:pt>
    <dgm:pt modelId="{0571D5A4-56A6-481F-BFDB-3F229930BD74}" type="pres">
      <dgm:prSet presAssocID="{D4C96BC6-B0B9-4B6F-8F70-AD62BE424F36}" presName="vert1" presStyleCnt="0"/>
      <dgm:spPr/>
    </dgm:pt>
    <dgm:pt modelId="{25533A9D-A5EA-4B15-9F73-F2FA040713B0}" type="pres">
      <dgm:prSet presAssocID="{F4BA6B09-09B9-4EC1-BE5E-101F96F9B844}" presName="thickLine" presStyleLbl="alignNode1" presStyleIdx="7" presStyleCnt="8"/>
      <dgm:spPr/>
    </dgm:pt>
    <dgm:pt modelId="{981A89C9-E4FC-4982-A943-ED3CF5C9F6AA}" type="pres">
      <dgm:prSet presAssocID="{F4BA6B09-09B9-4EC1-BE5E-101F96F9B844}" presName="horz1" presStyleCnt="0"/>
      <dgm:spPr/>
    </dgm:pt>
    <dgm:pt modelId="{E30C2551-8786-4A28-BD5E-04DDBEDE58F4}" type="pres">
      <dgm:prSet presAssocID="{F4BA6B09-09B9-4EC1-BE5E-101F96F9B844}" presName="tx1" presStyleLbl="revTx" presStyleIdx="7" presStyleCnt="8"/>
      <dgm:spPr/>
    </dgm:pt>
    <dgm:pt modelId="{C293A3E2-84CD-4E5D-BE7C-6021C83E6D77}" type="pres">
      <dgm:prSet presAssocID="{F4BA6B09-09B9-4EC1-BE5E-101F96F9B844}" presName="vert1" presStyleCnt="0"/>
      <dgm:spPr/>
    </dgm:pt>
  </dgm:ptLst>
  <dgm:cxnLst>
    <dgm:cxn modelId="{E1F8AF05-7E16-43D6-9984-9DC5E40A838A}" srcId="{D10BDB08-FD47-4239-812B-A49BD9991128}" destId="{D4C96BC6-B0B9-4B6F-8F70-AD62BE424F36}" srcOrd="6" destOrd="0" parTransId="{4B1294A9-A49D-41C9-9F47-4B1E1927D856}" sibTransId="{C56B0A2E-B57B-45AD-AEB9-31F0DE461A00}"/>
    <dgm:cxn modelId="{EF19DC18-B71D-4CDC-AC57-55418DD812F0}" type="presOf" srcId="{4C29E79E-B6C8-49CD-B86C-080E245FF84B}" destId="{ABFE90C5-C41C-423F-B26A-178AAA4AF5AE}" srcOrd="0" destOrd="0" presId="urn:microsoft.com/office/officeart/2008/layout/LinedList"/>
    <dgm:cxn modelId="{2C12082C-B233-427A-B300-1458289C54E3}" type="presOf" srcId="{66ACEA52-C17A-4727-B9EF-75AFD6EE12E4}" destId="{3865468F-AA59-404E-81B7-21DF8CC1E58B}" srcOrd="0" destOrd="0" presId="urn:microsoft.com/office/officeart/2008/layout/LinedList"/>
    <dgm:cxn modelId="{E9F36930-38A5-4FDD-93DE-20B40D1CA818}" type="presOf" srcId="{A301AFE4-C0A4-49A3-8E7A-44BE96F7EF96}" destId="{51DCBF8B-9EDF-4835-A9E2-A2BBA0B31DEF}" srcOrd="0" destOrd="0" presId="urn:microsoft.com/office/officeart/2008/layout/LinedList"/>
    <dgm:cxn modelId="{568D1233-5193-406E-8786-6F2458CB4E2B}" srcId="{D10BDB08-FD47-4239-812B-A49BD9991128}" destId="{4C29E79E-B6C8-49CD-B86C-080E245FF84B}" srcOrd="2" destOrd="0" parTransId="{1C988FC4-9CA9-4FC2-B553-5170FFF301E2}" sibTransId="{94BF3535-F43D-4B2B-8216-E30BB6203144}"/>
    <dgm:cxn modelId="{7D38CA38-219E-4F38-B28F-9F223149D91E}" srcId="{D10BDB08-FD47-4239-812B-A49BD9991128}" destId="{A301AFE4-C0A4-49A3-8E7A-44BE96F7EF96}" srcOrd="0" destOrd="0" parTransId="{2CD77918-3058-4594-8BDB-B220F8AEE268}" sibTransId="{EBF82321-4E88-49D9-ADBC-965DD911169C}"/>
    <dgm:cxn modelId="{A43F7560-ABF2-4C75-AA56-F120990321F3}" srcId="{D10BDB08-FD47-4239-812B-A49BD9991128}" destId="{9E156E49-9593-46C9-B3D1-416D5D2CD769}" srcOrd="1" destOrd="0" parTransId="{30D80183-9103-4C9E-8F37-6FBBF1F7608B}" sibTransId="{BB885E47-67A5-4622-AC34-8493A2DD1428}"/>
    <dgm:cxn modelId="{3A54E161-097E-45A6-A084-B300383FABB4}" srcId="{D10BDB08-FD47-4239-812B-A49BD9991128}" destId="{66ACEA52-C17A-4727-B9EF-75AFD6EE12E4}" srcOrd="5" destOrd="0" parTransId="{C5BEB682-D9E4-434F-A269-2E91BE586C7B}" sibTransId="{F5419447-749D-4228-A4BF-F03A6BD0575A}"/>
    <dgm:cxn modelId="{69564443-B2FE-487E-A3E8-3CA7DF892BB7}" type="presOf" srcId="{04934E50-FA2F-4137-B5FE-0A887C623CDF}" destId="{B61C5CBA-8C72-44C9-805C-AE40321CF94E}" srcOrd="0" destOrd="0" presId="urn:microsoft.com/office/officeart/2008/layout/LinedList"/>
    <dgm:cxn modelId="{08778F69-85EE-4911-B744-44C6463B4276}" srcId="{D10BDB08-FD47-4239-812B-A49BD9991128}" destId="{F4BA6B09-09B9-4EC1-BE5E-101F96F9B844}" srcOrd="7" destOrd="0" parTransId="{8216BA96-0432-4025-87D9-E1FB2AA4D1C7}" sibTransId="{6879A4DF-E861-4A19-807A-E250F5270BFA}"/>
    <dgm:cxn modelId="{CBA803A6-E245-4675-B84F-A6C7BFDC3003}" type="presOf" srcId="{D10BDB08-FD47-4239-812B-A49BD9991128}" destId="{E5D82755-D30C-4874-8013-7DA910FCF8DC}" srcOrd="0" destOrd="0" presId="urn:microsoft.com/office/officeart/2008/layout/LinedList"/>
    <dgm:cxn modelId="{EE71E5D0-0FBA-457F-BB7C-B35245C4ED69}" type="presOf" srcId="{9E156E49-9593-46C9-B3D1-416D5D2CD769}" destId="{D0B95EDF-604F-4000-A15D-ECE3B03883B1}" srcOrd="0" destOrd="0" presId="urn:microsoft.com/office/officeart/2008/layout/LinedList"/>
    <dgm:cxn modelId="{7485EFD1-7D30-4D34-952D-666C0B1C1DE7}" srcId="{D10BDB08-FD47-4239-812B-A49BD9991128}" destId="{04934E50-FA2F-4137-B5FE-0A887C623CDF}" srcOrd="4" destOrd="0" parTransId="{07B4FC51-DAD4-44CD-8AB5-527FC66CF9A1}" sibTransId="{AB862AB1-5279-4DEC-B7FE-4C0B20FF293E}"/>
    <dgm:cxn modelId="{117F3BD7-F269-44B0-9E2B-F3DD4851603C}" srcId="{D10BDB08-FD47-4239-812B-A49BD9991128}" destId="{58F16350-E46C-4BEC-9E9F-5E82CADBF715}" srcOrd="3" destOrd="0" parTransId="{D20CADC5-A983-48CF-AC82-26766BB4F0D0}" sibTransId="{CA6CFEF9-E9BE-4C5F-AA53-EE248905E18D}"/>
    <dgm:cxn modelId="{314649E5-45E0-4ADB-8A22-4E2940AE1BF0}" type="presOf" srcId="{D4C96BC6-B0B9-4B6F-8F70-AD62BE424F36}" destId="{6B43AD34-DC95-4448-9A7F-F3DC3C18C78A}" srcOrd="0" destOrd="0" presId="urn:microsoft.com/office/officeart/2008/layout/LinedList"/>
    <dgm:cxn modelId="{3D1703EC-2487-4E72-8C58-78380D32BA8F}" type="presOf" srcId="{F4BA6B09-09B9-4EC1-BE5E-101F96F9B844}" destId="{E30C2551-8786-4A28-BD5E-04DDBEDE58F4}" srcOrd="0" destOrd="0" presId="urn:microsoft.com/office/officeart/2008/layout/LinedList"/>
    <dgm:cxn modelId="{C8CB39F3-14A3-417F-9665-40D259DBB04E}" type="presOf" srcId="{58F16350-E46C-4BEC-9E9F-5E82CADBF715}" destId="{AAFEBB84-3D5D-4B4A-AE78-9941CE1C0FF2}" srcOrd="0" destOrd="0" presId="urn:microsoft.com/office/officeart/2008/layout/LinedList"/>
    <dgm:cxn modelId="{F2E62EF8-2319-4A02-A329-F53E1B830617}" type="presParOf" srcId="{E5D82755-D30C-4874-8013-7DA910FCF8DC}" destId="{99CCD986-A5D9-42A7-9E5A-C26799C04EE1}" srcOrd="0" destOrd="0" presId="urn:microsoft.com/office/officeart/2008/layout/LinedList"/>
    <dgm:cxn modelId="{4EA29D62-9231-43E4-97B4-F4163DF4A490}" type="presParOf" srcId="{E5D82755-D30C-4874-8013-7DA910FCF8DC}" destId="{967934E5-29C8-4ABF-8C16-E9151D36D73F}" srcOrd="1" destOrd="0" presId="urn:microsoft.com/office/officeart/2008/layout/LinedList"/>
    <dgm:cxn modelId="{44CC0675-0F28-4670-A2A6-C64F68F8D40A}" type="presParOf" srcId="{967934E5-29C8-4ABF-8C16-E9151D36D73F}" destId="{51DCBF8B-9EDF-4835-A9E2-A2BBA0B31DEF}" srcOrd="0" destOrd="0" presId="urn:microsoft.com/office/officeart/2008/layout/LinedList"/>
    <dgm:cxn modelId="{72A4C581-AB79-4A49-84F3-9C747D356598}" type="presParOf" srcId="{967934E5-29C8-4ABF-8C16-E9151D36D73F}" destId="{370A14E1-EFE5-4647-9B22-9F841347C1A9}" srcOrd="1" destOrd="0" presId="urn:microsoft.com/office/officeart/2008/layout/LinedList"/>
    <dgm:cxn modelId="{700D772A-3C1D-4F94-832F-FE9410E6347D}" type="presParOf" srcId="{E5D82755-D30C-4874-8013-7DA910FCF8DC}" destId="{135457A9-F72E-4473-A938-79D7FDD758C8}" srcOrd="2" destOrd="0" presId="urn:microsoft.com/office/officeart/2008/layout/LinedList"/>
    <dgm:cxn modelId="{624A3F93-84E6-4CC0-B9A7-035833732D70}" type="presParOf" srcId="{E5D82755-D30C-4874-8013-7DA910FCF8DC}" destId="{01FB19F6-2CD0-4E56-946A-07A718BC217F}" srcOrd="3" destOrd="0" presId="urn:microsoft.com/office/officeart/2008/layout/LinedList"/>
    <dgm:cxn modelId="{35A8D3AF-D01F-47D3-85F2-64C725E68B40}" type="presParOf" srcId="{01FB19F6-2CD0-4E56-946A-07A718BC217F}" destId="{D0B95EDF-604F-4000-A15D-ECE3B03883B1}" srcOrd="0" destOrd="0" presId="urn:microsoft.com/office/officeart/2008/layout/LinedList"/>
    <dgm:cxn modelId="{58EC111D-7BE6-4D07-8B70-4DEE2D7D89DE}" type="presParOf" srcId="{01FB19F6-2CD0-4E56-946A-07A718BC217F}" destId="{DBF2A152-DEBF-4612-9602-31602DFE8478}" srcOrd="1" destOrd="0" presId="urn:microsoft.com/office/officeart/2008/layout/LinedList"/>
    <dgm:cxn modelId="{432CEE1B-07A8-48FD-852E-764AE0D1B36A}" type="presParOf" srcId="{E5D82755-D30C-4874-8013-7DA910FCF8DC}" destId="{00ED6F21-5BEB-4A43-A27A-9D8CA6F06303}" srcOrd="4" destOrd="0" presId="urn:microsoft.com/office/officeart/2008/layout/LinedList"/>
    <dgm:cxn modelId="{FEE01ECD-8A95-45F0-BE77-8D7FACD1EE44}" type="presParOf" srcId="{E5D82755-D30C-4874-8013-7DA910FCF8DC}" destId="{8F266E35-B9A4-42FE-A9EA-E539D77227B2}" srcOrd="5" destOrd="0" presId="urn:microsoft.com/office/officeart/2008/layout/LinedList"/>
    <dgm:cxn modelId="{69496001-4CCE-4FC0-9E77-4CDB1D89B1DD}" type="presParOf" srcId="{8F266E35-B9A4-42FE-A9EA-E539D77227B2}" destId="{ABFE90C5-C41C-423F-B26A-178AAA4AF5AE}" srcOrd="0" destOrd="0" presId="urn:microsoft.com/office/officeart/2008/layout/LinedList"/>
    <dgm:cxn modelId="{15F1F0E0-B9B1-4FB4-B8B8-618A4BDA182A}" type="presParOf" srcId="{8F266E35-B9A4-42FE-A9EA-E539D77227B2}" destId="{47BDC504-6D24-455D-8251-9D70786ED071}" srcOrd="1" destOrd="0" presId="urn:microsoft.com/office/officeart/2008/layout/LinedList"/>
    <dgm:cxn modelId="{62DDD3C2-9F7E-4F11-8DB2-A48CDD47961F}" type="presParOf" srcId="{E5D82755-D30C-4874-8013-7DA910FCF8DC}" destId="{C0D5070C-0A2B-4F12-8104-543657BB1B84}" srcOrd="6" destOrd="0" presId="urn:microsoft.com/office/officeart/2008/layout/LinedList"/>
    <dgm:cxn modelId="{949EC1CE-9BD2-475E-8A6C-B4D044170C29}" type="presParOf" srcId="{E5D82755-D30C-4874-8013-7DA910FCF8DC}" destId="{61CC7E4C-4C9F-4E0D-80EA-85611E6A077F}" srcOrd="7" destOrd="0" presId="urn:microsoft.com/office/officeart/2008/layout/LinedList"/>
    <dgm:cxn modelId="{92F420AD-DBC7-4B1F-9558-303AEBCDE2C4}" type="presParOf" srcId="{61CC7E4C-4C9F-4E0D-80EA-85611E6A077F}" destId="{AAFEBB84-3D5D-4B4A-AE78-9941CE1C0FF2}" srcOrd="0" destOrd="0" presId="urn:microsoft.com/office/officeart/2008/layout/LinedList"/>
    <dgm:cxn modelId="{FA23727A-635C-4CA6-B6C1-788599E131D2}" type="presParOf" srcId="{61CC7E4C-4C9F-4E0D-80EA-85611E6A077F}" destId="{7A65631C-37D1-4C73-A94F-E3B8D7E14186}" srcOrd="1" destOrd="0" presId="urn:microsoft.com/office/officeart/2008/layout/LinedList"/>
    <dgm:cxn modelId="{80F1F87F-BDFD-4610-B15F-A2902A0FC672}" type="presParOf" srcId="{E5D82755-D30C-4874-8013-7DA910FCF8DC}" destId="{810C80E0-CFE0-4A38-A921-9873502A8388}" srcOrd="8" destOrd="0" presId="urn:microsoft.com/office/officeart/2008/layout/LinedList"/>
    <dgm:cxn modelId="{6E08BC7E-8912-458A-AE09-E19ECB3F2FE5}" type="presParOf" srcId="{E5D82755-D30C-4874-8013-7DA910FCF8DC}" destId="{445979A0-C57C-41B0-A834-996C3AC78FD0}" srcOrd="9" destOrd="0" presId="urn:microsoft.com/office/officeart/2008/layout/LinedList"/>
    <dgm:cxn modelId="{E4873959-1188-4669-AB24-BC3B7A2D8C15}" type="presParOf" srcId="{445979A0-C57C-41B0-A834-996C3AC78FD0}" destId="{B61C5CBA-8C72-44C9-805C-AE40321CF94E}" srcOrd="0" destOrd="0" presId="urn:microsoft.com/office/officeart/2008/layout/LinedList"/>
    <dgm:cxn modelId="{80E55A80-B018-4B61-94D7-EDC63EB6063D}" type="presParOf" srcId="{445979A0-C57C-41B0-A834-996C3AC78FD0}" destId="{545923B1-0548-46FF-B324-8A952D55048A}" srcOrd="1" destOrd="0" presId="urn:microsoft.com/office/officeart/2008/layout/LinedList"/>
    <dgm:cxn modelId="{3646775C-FA92-4C60-BB70-8BD054F9FFF1}" type="presParOf" srcId="{E5D82755-D30C-4874-8013-7DA910FCF8DC}" destId="{23C0E7C2-AFBD-4671-A8F9-435329C277DE}" srcOrd="10" destOrd="0" presId="urn:microsoft.com/office/officeart/2008/layout/LinedList"/>
    <dgm:cxn modelId="{C2D2A8FB-7B8A-4D26-A8C6-A032C2F09F05}" type="presParOf" srcId="{E5D82755-D30C-4874-8013-7DA910FCF8DC}" destId="{7BDEDD12-7A46-4224-B838-3E60A5FB13DD}" srcOrd="11" destOrd="0" presId="urn:microsoft.com/office/officeart/2008/layout/LinedList"/>
    <dgm:cxn modelId="{3A859DBA-BCB9-4ABA-82EF-1A7934D962D9}" type="presParOf" srcId="{7BDEDD12-7A46-4224-B838-3E60A5FB13DD}" destId="{3865468F-AA59-404E-81B7-21DF8CC1E58B}" srcOrd="0" destOrd="0" presId="urn:microsoft.com/office/officeart/2008/layout/LinedList"/>
    <dgm:cxn modelId="{32634721-AC13-4400-8A6F-BD4B7FBB14EE}" type="presParOf" srcId="{7BDEDD12-7A46-4224-B838-3E60A5FB13DD}" destId="{991533CD-15FE-4BE4-82A8-6ECBCF8A7D5B}" srcOrd="1" destOrd="0" presId="urn:microsoft.com/office/officeart/2008/layout/LinedList"/>
    <dgm:cxn modelId="{B6D5432E-841A-4C25-8C75-81263F9AC496}" type="presParOf" srcId="{E5D82755-D30C-4874-8013-7DA910FCF8DC}" destId="{A410DC51-4DD4-44C2-827D-0B3F85FE9EFD}" srcOrd="12" destOrd="0" presId="urn:microsoft.com/office/officeart/2008/layout/LinedList"/>
    <dgm:cxn modelId="{A5C8A4F3-4BB9-4B4E-8E55-E45383565933}" type="presParOf" srcId="{E5D82755-D30C-4874-8013-7DA910FCF8DC}" destId="{008F4F96-B673-442F-BEF6-4096BFB90D4C}" srcOrd="13" destOrd="0" presId="urn:microsoft.com/office/officeart/2008/layout/LinedList"/>
    <dgm:cxn modelId="{5AAA08CB-4F35-470E-ABA3-4311BF0004B7}" type="presParOf" srcId="{008F4F96-B673-442F-BEF6-4096BFB90D4C}" destId="{6B43AD34-DC95-4448-9A7F-F3DC3C18C78A}" srcOrd="0" destOrd="0" presId="urn:microsoft.com/office/officeart/2008/layout/LinedList"/>
    <dgm:cxn modelId="{84B5E2C9-88C9-49FC-9328-C93C98E06999}" type="presParOf" srcId="{008F4F96-B673-442F-BEF6-4096BFB90D4C}" destId="{0571D5A4-56A6-481F-BFDB-3F229930BD74}" srcOrd="1" destOrd="0" presId="urn:microsoft.com/office/officeart/2008/layout/LinedList"/>
    <dgm:cxn modelId="{99FB9FED-35C2-464D-94FB-361DCCFD13FB}" type="presParOf" srcId="{E5D82755-D30C-4874-8013-7DA910FCF8DC}" destId="{25533A9D-A5EA-4B15-9F73-F2FA040713B0}" srcOrd="14" destOrd="0" presId="urn:microsoft.com/office/officeart/2008/layout/LinedList"/>
    <dgm:cxn modelId="{3E201EB7-529A-4DEC-87A6-FA661202CE4C}" type="presParOf" srcId="{E5D82755-D30C-4874-8013-7DA910FCF8DC}" destId="{981A89C9-E4FC-4982-A943-ED3CF5C9F6AA}" srcOrd="15" destOrd="0" presId="urn:microsoft.com/office/officeart/2008/layout/LinedList"/>
    <dgm:cxn modelId="{C5EF35DF-3946-4E74-8825-6AC6CCF2E978}" type="presParOf" srcId="{981A89C9-E4FC-4982-A943-ED3CF5C9F6AA}" destId="{E30C2551-8786-4A28-BD5E-04DDBEDE58F4}" srcOrd="0" destOrd="0" presId="urn:microsoft.com/office/officeart/2008/layout/LinedList"/>
    <dgm:cxn modelId="{88EC5B99-E312-4119-9D12-D3A51A83D6A4}" type="presParOf" srcId="{981A89C9-E4FC-4982-A943-ED3CF5C9F6AA}" destId="{C293A3E2-84CD-4E5D-BE7C-6021C83E6D7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20A71F0-06DF-404B-B123-1F6BFD89DE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9D26BE6-9B09-41EA-9DF1-CDA45CCA9E6A}">
      <dgm:prSet/>
      <dgm:spPr/>
      <dgm:t>
        <a:bodyPr/>
        <a:lstStyle/>
        <a:p>
          <a:r>
            <a:rPr lang="pt-PT" b="1"/>
            <a:t>Políticas e infraestruturas</a:t>
          </a:r>
          <a:r>
            <a:rPr lang="pt-PT"/>
            <a:t> — Políticas e infraestruturas identificadas para reduzir a mortalidade materna incluem o desenvolvimento do seguinte:</a:t>
          </a:r>
          <a:endParaRPr lang="en-US"/>
        </a:p>
      </dgm:t>
    </dgm:pt>
    <dgm:pt modelId="{40E60F5A-F1D4-493A-B9AF-B01C377132CD}" type="parTrans" cxnId="{B989664C-4DE6-41FB-B494-BC998461C876}">
      <dgm:prSet/>
      <dgm:spPr/>
      <dgm:t>
        <a:bodyPr/>
        <a:lstStyle/>
        <a:p>
          <a:endParaRPr lang="en-US"/>
        </a:p>
      </dgm:t>
    </dgm:pt>
    <dgm:pt modelId="{73E203B7-D7C9-4A47-B8C4-C3CE3BB3D9B9}" type="sibTrans" cxnId="{B989664C-4DE6-41FB-B494-BC998461C876}">
      <dgm:prSet/>
      <dgm:spPr/>
      <dgm:t>
        <a:bodyPr/>
        <a:lstStyle/>
        <a:p>
          <a:endParaRPr lang="en-US"/>
        </a:p>
      </dgm:t>
    </dgm:pt>
    <dgm:pt modelId="{95A5E8D3-DC0A-430F-8CA8-14EAF10DC17C}">
      <dgm:prSet/>
      <dgm:spPr/>
      <dgm:t>
        <a:bodyPr/>
        <a:lstStyle/>
        <a:p>
          <a:r>
            <a:rPr lang="pt-PT"/>
            <a:t>Serviços organizados para garantir que os cuidados pré-natais, intraparto e pós-parto sejam prestados através de instalações e programas de extensão disponíveis, acessíveis e aceitáveis para todas as mulheres , especialmente aquelas marginalizadas financeiramente, geograficamente e/ou socio-politicamente.</a:t>
          </a:r>
          <a:endParaRPr lang="en-US"/>
        </a:p>
      </dgm:t>
    </dgm:pt>
    <dgm:pt modelId="{AF74CB65-83F7-48A4-83CB-BEBE05A7C95D}" type="parTrans" cxnId="{7F0791B3-78C6-465C-9A1A-EF30B6D19B89}">
      <dgm:prSet/>
      <dgm:spPr/>
      <dgm:t>
        <a:bodyPr/>
        <a:lstStyle/>
        <a:p>
          <a:endParaRPr lang="en-US"/>
        </a:p>
      </dgm:t>
    </dgm:pt>
    <dgm:pt modelId="{BEFB2BFC-E554-4A0D-A636-9ACAFE47FD0B}" type="sibTrans" cxnId="{7F0791B3-78C6-465C-9A1A-EF30B6D19B89}">
      <dgm:prSet/>
      <dgm:spPr/>
      <dgm:t>
        <a:bodyPr/>
        <a:lstStyle/>
        <a:p>
          <a:endParaRPr lang="en-US"/>
        </a:p>
      </dgm:t>
    </dgm:pt>
    <dgm:pt modelId="{864AC4C0-E8DE-4CF9-8A9B-28FA5299ED64}">
      <dgm:prSet/>
      <dgm:spPr/>
      <dgm:t>
        <a:bodyPr/>
        <a:lstStyle/>
        <a:p>
          <a:r>
            <a:rPr lang="pt-PT"/>
            <a:t>Normas nacionais, protocolos locais e sistemas de instalações para serviços integrados de cuidados obstétricos, gestão de complicações e encaminhamento atempado quando necessário.</a:t>
          </a:r>
          <a:endParaRPr lang="en-US"/>
        </a:p>
      </dgm:t>
    </dgm:pt>
    <dgm:pt modelId="{C9D29DCF-1B63-4233-AD0E-109C2ED015D7}" type="parTrans" cxnId="{67B1CAE1-9038-4F40-BD8F-C68C09BC2D03}">
      <dgm:prSet/>
      <dgm:spPr/>
      <dgm:t>
        <a:bodyPr/>
        <a:lstStyle/>
        <a:p>
          <a:endParaRPr lang="en-US"/>
        </a:p>
      </dgm:t>
    </dgm:pt>
    <dgm:pt modelId="{062FD7B3-A60D-4860-9AAC-D116DBDDD937}" type="sibTrans" cxnId="{67B1CAE1-9038-4F40-BD8F-C68C09BC2D03}">
      <dgm:prSet/>
      <dgm:spPr/>
      <dgm:t>
        <a:bodyPr/>
        <a:lstStyle/>
        <a:p>
          <a:endParaRPr lang="en-US"/>
        </a:p>
      </dgm:t>
    </dgm:pt>
    <dgm:pt modelId="{D747DF80-DEFF-48D3-9936-C9A706E45E51}">
      <dgm:prSet/>
      <dgm:spPr/>
      <dgm:t>
        <a:bodyPr/>
        <a:lstStyle/>
        <a:p>
          <a:r>
            <a:rPr lang="pt-PT"/>
            <a:t>Sistemas de referência funcionais (por exemplo, linhas de comunicação, serviços de transporte).</a:t>
          </a:r>
          <a:endParaRPr lang="en-US"/>
        </a:p>
      </dgm:t>
    </dgm:pt>
    <dgm:pt modelId="{E35C1BEA-F837-49C1-A5F4-B6A9A5C0D991}" type="parTrans" cxnId="{F50D22F4-A661-4C5A-B3CD-47B7B9318DD0}">
      <dgm:prSet/>
      <dgm:spPr/>
      <dgm:t>
        <a:bodyPr/>
        <a:lstStyle/>
        <a:p>
          <a:endParaRPr lang="en-US"/>
        </a:p>
      </dgm:t>
    </dgm:pt>
    <dgm:pt modelId="{C2A76336-61FD-4F4B-B002-94869F9FF398}" type="sibTrans" cxnId="{F50D22F4-A661-4C5A-B3CD-47B7B9318DD0}">
      <dgm:prSet/>
      <dgm:spPr/>
      <dgm:t>
        <a:bodyPr/>
        <a:lstStyle/>
        <a:p>
          <a:endParaRPr lang="en-US"/>
        </a:p>
      </dgm:t>
    </dgm:pt>
    <dgm:pt modelId="{9326E496-AE8F-4E8F-B2FF-55C57086F041}">
      <dgm:prSet/>
      <dgm:spPr/>
      <dgm:t>
        <a:bodyPr/>
        <a:lstStyle/>
        <a:p>
          <a:r>
            <a:rPr lang="pt-PT"/>
            <a:t>Integração da prestação de cuidados de saúde com a oferta de educação, água, saneamento e desenvolvimento rural.</a:t>
          </a:r>
          <a:endParaRPr lang="en-US"/>
        </a:p>
      </dgm:t>
    </dgm:pt>
    <dgm:pt modelId="{43E4684E-2DBA-4C73-8988-0368D3F68842}" type="parTrans" cxnId="{7156FAAB-0180-4EBE-A595-DBB1C513F9A6}">
      <dgm:prSet/>
      <dgm:spPr/>
      <dgm:t>
        <a:bodyPr/>
        <a:lstStyle/>
        <a:p>
          <a:endParaRPr lang="en-US"/>
        </a:p>
      </dgm:t>
    </dgm:pt>
    <dgm:pt modelId="{09C01819-DDAE-408B-91D2-B5C76594973F}" type="sibTrans" cxnId="{7156FAAB-0180-4EBE-A595-DBB1C513F9A6}">
      <dgm:prSet/>
      <dgm:spPr/>
      <dgm:t>
        <a:bodyPr/>
        <a:lstStyle/>
        <a:p>
          <a:endParaRPr lang="en-US"/>
        </a:p>
      </dgm:t>
    </dgm:pt>
    <dgm:pt modelId="{E568DF0B-11F7-41D7-B5EF-E2F017DD0BD9}">
      <dgm:prSet/>
      <dgm:spPr/>
      <dgm:t>
        <a:bodyPr/>
        <a:lstStyle/>
        <a:p>
          <a:r>
            <a:rPr lang="pt-PT" b="1"/>
            <a:t>Mentoria baseada na comunidade</a:t>
          </a:r>
          <a:r>
            <a:rPr lang="pt-PT"/>
            <a:t> — Programas formais que ligam mentores formados a profissionais de saúde ou pacientes mostraram potencial para melhorar o conhecimento e os resultados obstétricos. </a:t>
          </a:r>
          <a:endParaRPr lang="en-US"/>
        </a:p>
      </dgm:t>
    </dgm:pt>
    <dgm:pt modelId="{0A1BDA31-6827-432E-9B5B-0DA8AFAD005B}" type="parTrans" cxnId="{1E1542D5-9599-4ADB-B61E-133026D67C25}">
      <dgm:prSet/>
      <dgm:spPr/>
      <dgm:t>
        <a:bodyPr/>
        <a:lstStyle/>
        <a:p>
          <a:endParaRPr lang="en-US"/>
        </a:p>
      </dgm:t>
    </dgm:pt>
    <dgm:pt modelId="{D21B0924-6B67-4ABD-B00F-24B04FFF86C9}" type="sibTrans" cxnId="{1E1542D5-9599-4ADB-B61E-133026D67C25}">
      <dgm:prSet/>
      <dgm:spPr/>
      <dgm:t>
        <a:bodyPr/>
        <a:lstStyle/>
        <a:p>
          <a:endParaRPr lang="en-US"/>
        </a:p>
      </dgm:t>
    </dgm:pt>
    <dgm:pt modelId="{749BBEC1-1A5C-4561-A1CB-BC79FD5976B1}" type="pres">
      <dgm:prSet presAssocID="{220A71F0-06DF-404B-B123-1F6BFD89DEEC}" presName="linear" presStyleCnt="0">
        <dgm:presLayoutVars>
          <dgm:animLvl val="lvl"/>
          <dgm:resizeHandles val="exact"/>
        </dgm:presLayoutVars>
      </dgm:prSet>
      <dgm:spPr/>
    </dgm:pt>
    <dgm:pt modelId="{6C265688-BDAA-4E12-A3D9-C6232A3A7380}" type="pres">
      <dgm:prSet presAssocID="{69D26BE6-9B09-41EA-9DF1-CDA45CCA9E6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93E1D1-3A0E-40AB-A07C-0F7806BC0D02}" type="pres">
      <dgm:prSet presAssocID="{69D26BE6-9B09-41EA-9DF1-CDA45CCA9E6A}" presName="childText" presStyleLbl="revTx" presStyleIdx="0" presStyleCnt="1">
        <dgm:presLayoutVars>
          <dgm:bulletEnabled val="1"/>
        </dgm:presLayoutVars>
      </dgm:prSet>
      <dgm:spPr/>
    </dgm:pt>
    <dgm:pt modelId="{0B412239-B428-4CB9-A75E-472FB5CC9BB7}" type="pres">
      <dgm:prSet presAssocID="{E568DF0B-11F7-41D7-B5EF-E2F017DD0BD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8074661-896D-40E1-96CF-0BA3BCEE20D1}" type="presOf" srcId="{95A5E8D3-DC0A-430F-8CA8-14EAF10DC17C}" destId="{1193E1D1-3A0E-40AB-A07C-0F7806BC0D02}" srcOrd="0" destOrd="0" presId="urn:microsoft.com/office/officeart/2005/8/layout/vList2"/>
    <dgm:cxn modelId="{80E13347-4336-4575-AD25-7AAA3E893D84}" type="presOf" srcId="{220A71F0-06DF-404B-B123-1F6BFD89DEEC}" destId="{749BBEC1-1A5C-4561-A1CB-BC79FD5976B1}" srcOrd="0" destOrd="0" presId="urn:microsoft.com/office/officeart/2005/8/layout/vList2"/>
    <dgm:cxn modelId="{B989664C-4DE6-41FB-B494-BC998461C876}" srcId="{220A71F0-06DF-404B-B123-1F6BFD89DEEC}" destId="{69D26BE6-9B09-41EA-9DF1-CDA45CCA9E6A}" srcOrd="0" destOrd="0" parTransId="{40E60F5A-F1D4-493A-B9AF-B01C377132CD}" sibTransId="{73E203B7-D7C9-4A47-B8C4-C3CE3BB3D9B9}"/>
    <dgm:cxn modelId="{56A36396-7E8C-4A12-8274-88F9E55E6FEE}" type="presOf" srcId="{D747DF80-DEFF-48D3-9936-C9A706E45E51}" destId="{1193E1D1-3A0E-40AB-A07C-0F7806BC0D02}" srcOrd="0" destOrd="2" presId="urn:microsoft.com/office/officeart/2005/8/layout/vList2"/>
    <dgm:cxn modelId="{F7EA769B-E354-4BE2-895D-8ABC53462A3A}" type="presOf" srcId="{69D26BE6-9B09-41EA-9DF1-CDA45CCA9E6A}" destId="{6C265688-BDAA-4E12-A3D9-C6232A3A7380}" srcOrd="0" destOrd="0" presId="urn:microsoft.com/office/officeart/2005/8/layout/vList2"/>
    <dgm:cxn modelId="{0B542FA4-9504-476E-A7C9-138D15AC7E06}" type="presOf" srcId="{9326E496-AE8F-4E8F-B2FF-55C57086F041}" destId="{1193E1D1-3A0E-40AB-A07C-0F7806BC0D02}" srcOrd="0" destOrd="3" presId="urn:microsoft.com/office/officeart/2005/8/layout/vList2"/>
    <dgm:cxn modelId="{7156FAAB-0180-4EBE-A595-DBB1C513F9A6}" srcId="{69D26BE6-9B09-41EA-9DF1-CDA45CCA9E6A}" destId="{9326E496-AE8F-4E8F-B2FF-55C57086F041}" srcOrd="3" destOrd="0" parTransId="{43E4684E-2DBA-4C73-8988-0368D3F68842}" sibTransId="{09C01819-DDAE-408B-91D2-B5C76594973F}"/>
    <dgm:cxn modelId="{7F0791B3-78C6-465C-9A1A-EF30B6D19B89}" srcId="{69D26BE6-9B09-41EA-9DF1-CDA45CCA9E6A}" destId="{95A5E8D3-DC0A-430F-8CA8-14EAF10DC17C}" srcOrd="0" destOrd="0" parTransId="{AF74CB65-83F7-48A4-83CB-BEBE05A7C95D}" sibTransId="{BEFB2BFC-E554-4A0D-A636-9ACAFE47FD0B}"/>
    <dgm:cxn modelId="{615801CB-CDD4-4FA5-A1D3-1E68AB22608E}" type="presOf" srcId="{864AC4C0-E8DE-4CF9-8A9B-28FA5299ED64}" destId="{1193E1D1-3A0E-40AB-A07C-0F7806BC0D02}" srcOrd="0" destOrd="1" presId="urn:microsoft.com/office/officeart/2005/8/layout/vList2"/>
    <dgm:cxn modelId="{1E1542D5-9599-4ADB-B61E-133026D67C25}" srcId="{220A71F0-06DF-404B-B123-1F6BFD89DEEC}" destId="{E568DF0B-11F7-41D7-B5EF-E2F017DD0BD9}" srcOrd="1" destOrd="0" parTransId="{0A1BDA31-6827-432E-9B5B-0DA8AFAD005B}" sibTransId="{D21B0924-6B67-4ABD-B00F-24B04FFF86C9}"/>
    <dgm:cxn modelId="{67B1CAE1-9038-4F40-BD8F-C68C09BC2D03}" srcId="{69D26BE6-9B09-41EA-9DF1-CDA45CCA9E6A}" destId="{864AC4C0-E8DE-4CF9-8A9B-28FA5299ED64}" srcOrd="1" destOrd="0" parTransId="{C9D29DCF-1B63-4233-AD0E-109C2ED015D7}" sibTransId="{062FD7B3-A60D-4860-9AAC-D116DBDDD937}"/>
    <dgm:cxn modelId="{1C97CBEE-2465-4A61-98EE-3D2AC822EEBE}" type="presOf" srcId="{E568DF0B-11F7-41D7-B5EF-E2F017DD0BD9}" destId="{0B412239-B428-4CB9-A75E-472FB5CC9BB7}" srcOrd="0" destOrd="0" presId="urn:microsoft.com/office/officeart/2005/8/layout/vList2"/>
    <dgm:cxn modelId="{F50D22F4-A661-4C5A-B3CD-47B7B9318DD0}" srcId="{69D26BE6-9B09-41EA-9DF1-CDA45CCA9E6A}" destId="{D747DF80-DEFF-48D3-9936-C9A706E45E51}" srcOrd="2" destOrd="0" parTransId="{E35C1BEA-F837-49C1-A5F4-B6A9A5C0D991}" sibTransId="{C2A76336-61FD-4F4B-B002-94869F9FF398}"/>
    <dgm:cxn modelId="{46E2F58F-A0D5-46FF-876D-F507B883B567}" type="presParOf" srcId="{749BBEC1-1A5C-4561-A1CB-BC79FD5976B1}" destId="{6C265688-BDAA-4E12-A3D9-C6232A3A7380}" srcOrd="0" destOrd="0" presId="urn:microsoft.com/office/officeart/2005/8/layout/vList2"/>
    <dgm:cxn modelId="{D2AECA9E-8D96-4CBA-A9D7-B2810C5C9F32}" type="presParOf" srcId="{749BBEC1-1A5C-4561-A1CB-BC79FD5976B1}" destId="{1193E1D1-3A0E-40AB-A07C-0F7806BC0D02}" srcOrd="1" destOrd="0" presId="urn:microsoft.com/office/officeart/2005/8/layout/vList2"/>
    <dgm:cxn modelId="{254418B2-FC62-443C-976A-008BB901B9A8}" type="presParOf" srcId="{749BBEC1-1A5C-4561-A1CB-BC79FD5976B1}" destId="{0B412239-B428-4CB9-A75E-472FB5CC9BB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7EEA39-648E-413B-9B71-98793CE971F4}">
      <dsp:nvSpPr>
        <dsp:cNvPr id="0" name=""/>
        <dsp:cNvSpPr/>
      </dsp:nvSpPr>
      <dsp:spPr>
        <a:xfrm>
          <a:off x="0" y="0"/>
          <a:ext cx="8512724" cy="10876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As principais causas de mortalidade materna são hemorragia, distúrbios hipertensivos, </a:t>
          </a:r>
          <a:r>
            <a:rPr lang="pt-PT" sz="1800" kern="1200" dirty="0" err="1"/>
            <a:t>infecção</a:t>
          </a:r>
          <a:r>
            <a:rPr lang="pt-PT" sz="1800" kern="1200" dirty="0"/>
            <a:t>, trabalho de parto obstruído e complicações de abortos inseguros, correspondendo a cerca de 70% dos casos. </a:t>
          </a:r>
          <a:endParaRPr lang="en-US" sz="1800" kern="1200" dirty="0"/>
        </a:p>
      </dsp:txBody>
      <dsp:txXfrm>
        <a:off x="31858" y="31858"/>
        <a:ext cx="7247102" cy="1023982"/>
      </dsp:txXfrm>
    </dsp:sp>
    <dsp:sp modelId="{CF1FE8D8-31E7-4659-BA6B-CEBD2699187A}">
      <dsp:nvSpPr>
        <dsp:cNvPr id="0" name=""/>
        <dsp:cNvSpPr/>
      </dsp:nvSpPr>
      <dsp:spPr>
        <a:xfrm>
          <a:off x="712940" y="1285461"/>
          <a:ext cx="8512724" cy="10876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Além disso, mais de 2 milhões de bebés não sobrevivem ao primeiro mês e cerca de 2 milhões a mais são natimortos, o equivalente a aproximadamente uma morte evitável a cada 7 segundos.</a:t>
          </a:r>
          <a:endParaRPr lang="en-US" sz="1800" kern="1200" dirty="0"/>
        </a:p>
      </dsp:txBody>
      <dsp:txXfrm>
        <a:off x="744798" y="1317319"/>
        <a:ext cx="7029064" cy="1023982"/>
      </dsp:txXfrm>
    </dsp:sp>
    <dsp:sp modelId="{CEB55AD8-C17F-437B-872A-C58D9D5365C0}">
      <dsp:nvSpPr>
        <dsp:cNvPr id="0" name=""/>
        <dsp:cNvSpPr/>
      </dsp:nvSpPr>
      <dsp:spPr>
        <a:xfrm>
          <a:off x="1415240" y="2570923"/>
          <a:ext cx="8512724" cy="10876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Em países de baixa e média renda, os fatores causais principais são cuidados pré-natais, intraparto e pós-parto inadequados por profissionais qualificados e infraestruturas, equipamentos e serviços inadequados. </a:t>
          </a:r>
          <a:endParaRPr lang="en-US" sz="1800" kern="1200" dirty="0"/>
        </a:p>
      </dsp:txBody>
      <dsp:txXfrm>
        <a:off x="1447098" y="2602781"/>
        <a:ext cx="7039705" cy="1023982"/>
      </dsp:txXfrm>
    </dsp:sp>
    <dsp:sp modelId="{FF654973-4F11-4D8A-946B-D333381939F6}">
      <dsp:nvSpPr>
        <dsp:cNvPr id="0" name=""/>
        <dsp:cNvSpPr/>
      </dsp:nvSpPr>
      <dsp:spPr>
        <a:xfrm>
          <a:off x="2128181" y="3856384"/>
          <a:ext cx="8512724" cy="10876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A redução da taxa global de mortalidade materna requer a participação de governos, sistemas de saúde, comunidades e famílias a nível global, carecendo de uma abordagem de </a:t>
          </a:r>
          <a:r>
            <a:rPr lang="pt-PT" sz="1800" kern="1200" dirty="0" err="1"/>
            <a:t>factores</a:t>
          </a:r>
          <a:r>
            <a:rPr lang="pt-PT" sz="1800" kern="1200" dirty="0"/>
            <a:t> políticos, económicos, sociais, técnicos e ambientais que contribuam para a morbimortalidade materna.</a:t>
          </a:r>
          <a:endParaRPr lang="en-US" sz="1800" kern="1200" dirty="0"/>
        </a:p>
      </dsp:txBody>
      <dsp:txXfrm>
        <a:off x="2160039" y="3888242"/>
        <a:ext cx="7029064" cy="1023982"/>
      </dsp:txXfrm>
    </dsp:sp>
    <dsp:sp modelId="{A3520C51-EDAD-4FE5-87CF-F21001A399C0}">
      <dsp:nvSpPr>
        <dsp:cNvPr id="0" name=""/>
        <dsp:cNvSpPr/>
      </dsp:nvSpPr>
      <dsp:spPr>
        <a:xfrm>
          <a:off x="7805720" y="833077"/>
          <a:ext cx="707003" cy="70700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964796" y="833077"/>
        <a:ext cx="388851" cy="532020"/>
      </dsp:txXfrm>
    </dsp:sp>
    <dsp:sp modelId="{F0532990-5554-4BD2-91A0-724B330FFC23}">
      <dsp:nvSpPr>
        <dsp:cNvPr id="0" name=""/>
        <dsp:cNvSpPr/>
      </dsp:nvSpPr>
      <dsp:spPr>
        <a:xfrm>
          <a:off x="8518661" y="2118539"/>
          <a:ext cx="707003" cy="70700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677737" y="2118539"/>
        <a:ext cx="388851" cy="532020"/>
      </dsp:txXfrm>
    </dsp:sp>
    <dsp:sp modelId="{CA6AE125-A4F7-4922-9BB0-A8280B9BDE51}">
      <dsp:nvSpPr>
        <dsp:cNvPr id="0" name=""/>
        <dsp:cNvSpPr/>
      </dsp:nvSpPr>
      <dsp:spPr>
        <a:xfrm>
          <a:off x="9220961" y="3404001"/>
          <a:ext cx="707003" cy="70700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380037" y="3404001"/>
        <a:ext cx="388851" cy="5320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FC320-3B93-4686-B4F3-06BF5CE8496A}">
      <dsp:nvSpPr>
        <dsp:cNvPr id="0" name=""/>
        <dsp:cNvSpPr/>
      </dsp:nvSpPr>
      <dsp:spPr>
        <a:xfrm>
          <a:off x="0" y="573690"/>
          <a:ext cx="10092266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Em 2000, 189 nações comprometeram-se a libertar as pessoas da extrema pobreza e de múltiplas privações. A meta específica para a saúde materna era reduzir a razão de mortalidade materna (RMM) de cada país em 1990 em três quartos até 2015.</a:t>
          </a:r>
          <a:endParaRPr lang="en-US" sz="2200" kern="1200"/>
        </a:p>
      </dsp:txBody>
      <dsp:txXfrm>
        <a:off x="59057" y="632747"/>
        <a:ext cx="9974152" cy="1091666"/>
      </dsp:txXfrm>
    </dsp:sp>
    <dsp:sp modelId="{7D9B0366-03D8-4B6E-BEA5-A5302C8B4714}">
      <dsp:nvSpPr>
        <dsp:cNvPr id="0" name=""/>
        <dsp:cNvSpPr/>
      </dsp:nvSpPr>
      <dsp:spPr>
        <a:xfrm>
          <a:off x="0" y="1846830"/>
          <a:ext cx="10092266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Esse objetivo foi ampliado pelos Objetivos de Desenvolvimento Sustentável das Nações Unidas, para reduzir a RMM global para menos de 70 por 100.000 nascidos vivos até 2030.</a:t>
          </a:r>
          <a:endParaRPr lang="en-US" sz="2200" kern="1200"/>
        </a:p>
      </dsp:txBody>
      <dsp:txXfrm>
        <a:off x="59057" y="1905887"/>
        <a:ext cx="9974152" cy="1091666"/>
      </dsp:txXfrm>
    </dsp:sp>
    <dsp:sp modelId="{58AC0216-1FB3-4A73-B886-1FE0CE4ADC5D}">
      <dsp:nvSpPr>
        <dsp:cNvPr id="0" name=""/>
        <dsp:cNvSpPr/>
      </dsp:nvSpPr>
      <dsp:spPr>
        <a:xfrm>
          <a:off x="0" y="3119971"/>
          <a:ext cx="10092266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Reduzir a mortalidade neonatal para menos de12/1.000 nascidos vivos.</a:t>
          </a:r>
          <a:endParaRPr lang="en-US" sz="2200" kern="1200"/>
        </a:p>
      </dsp:txBody>
      <dsp:txXfrm>
        <a:off x="59057" y="3179028"/>
        <a:ext cx="9974152" cy="10916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1EB719-A235-48A4-B6F1-60BDFCFCDD11}">
      <dsp:nvSpPr>
        <dsp:cNvPr id="0" name=""/>
        <dsp:cNvSpPr/>
      </dsp:nvSpPr>
      <dsp:spPr>
        <a:xfrm>
          <a:off x="0" y="2355"/>
          <a:ext cx="10071945" cy="1550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/>
            <a:t>Embora tenha havido progresso significativo em </a:t>
          </a:r>
          <a:r>
            <a:rPr lang="pt-PT" sz="2200" kern="1200" dirty="0" err="1"/>
            <a:t>direcção</a:t>
          </a:r>
          <a:r>
            <a:rPr lang="pt-PT" sz="2200" kern="1200" dirty="0"/>
            <a:t> a essas metas ambiciosas, com uma diminuição da RMM global de 228 mortes por 100.000 nascidos vivos em 2015 para 197 em 2023, a taxa ainda é três vezes maior que a meta de 2030. </a:t>
          </a:r>
          <a:endParaRPr lang="en-US" sz="2200" kern="1200" dirty="0"/>
        </a:p>
      </dsp:txBody>
      <dsp:txXfrm>
        <a:off x="75666" y="78021"/>
        <a:ext cx="9920613" cy="1398698"/>
      </dsp:txXfrm>
    </dsp:sp>
    <dsp:sp modelId="{0DAF633F-ECF8-4690-881B-54EEB6593FA3}">
      <dsp:nvSpPr>
        <dsp:cNvPr id="0" name=""/>
        <dsp:cNvSpPr/>
      </dsp:nvSpPr>
      <dsp:spPr>
        <a:xfrm>
          <a:off x="0" y="1615745"/>
          <a:ext cx="10071945" cy="1550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Os países de baixa e média renda (PBMR) carregam desproporcionalmente 95% das mortes maternas, com RMM bem mais elevada em países afetados por conflitos (504 por 100.000 nascidos vivos) e em países institucional e socialmente frágeis (368 por 100.000 nascidos vivos).</a:t>
          </a:r>
          <a:endParaRPr lang="en-US" sz="2200" kern="1200"/>
        </a:p>
      </dsp:txBody>
      <dsp:txXfrm>
        <a:off x="75666" y="1691411"/>
        <a:ext cx="9920613" cy="1398698"/>
      </dsp:txXfrm>
    </dsp:sp>
    <dsp:sp modelId="{ED914EA7-7370-4E95-ADB0-FD8A17EED768}">
      <dsp:nvSpPr>
        <dsp:cNvPr id="0" name=""/>
        <dsp:cNvSpPr/>
      </dsp:nvSpPr>
      <dsp:spPr>
        <a:xfrm>
          <a:off x="0" y="3229136"/>
          <a:ext cx="10071945" cy="1550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De acordo com a OMS Moçambique registou em 2023 um RMM de 223 por 100.000 nascidos vivos</a:t>
          </a:r>
          <a:endParaRPr lang="en-US" sz="2200" kern="1200"/>
        </a:p>
      </dsp:txBody>
      <dsp:txXfrm>
        <a:off x="75666" y="3304802"/>
        <a:ext cx="9920613" cy="13986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68CC1-BA0A-44D4-A8C1-B6506C7A78F8}">
      <dsp:nvSpPr>
        <dsp:cNvPr id="0" name=""/>
        <dsp:cNvSpPr/>
      </dsp:nvSpPr>
      <dsp:spPr>
        <a:xfrm>
          <a:off x="0" y="473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EFC1C-D50F-4F62-A522-1F91708315E4}">
      <dsp:nvSpPr>
        <dsp:cNvPr id="0" name=""/>
        <dsp:cNvSpPr/>
      </dsp:nvSpPr>
      <dsp:spPr>
        <a:xfrm>
          <a:off x="0" y="473"/>
          <a:ext cx="8596668" cy="775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Planeamento familiar</a:t>
          </a:r>
        </a:p>
      </dsp:txBody>
      <dsp:txXfrm>
        <a:off x="0" y="473"/>
        <a:ext cx="8596668" cy="775965"/>
      </dsp:txXfrm>
    </dsp:sp>
    <dsp:sp modelId="{0F16F419-272B-4E81-8DA2-2DF44F15D8F2}">
      <dsp:nvSpPr>
        <dsp:cNvPr id="0" name=""/>
        <dsp:cNvSpPr/>
      </dsp:nvSpPr>
      <dsp:spPr>
        <a:xfrm>
          <a:off x="0" y="776438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51788-C440-4C49-B555-76F8F2298CF2}">
      <dsp:nvSpPr>
        <dsp:cNvPr id="0" name=""/>
        <dsp:cNvSpPr/>
      </dsp:nvSpPr>
      <dsp:spPr>
        <a:xfrm>
          <a:off x="0" y="776438"/>
          <a:ext cx="8596668" cy="775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Assistência</a:t>
          </a:r>
          <a:r>
            <a:rPr lang="en-US" sz="3300" kern="1200" dirty="0"/>
            <a:t> </a:t>
          </a:r>
          <a:r>
            <a:rPr lang="en-US" sz="3300" kern="1200" dirty="0" err="1"/>
            <a:t>ao</a:t>
          </a:r>
          <a:r>
            <a:rPr lang="en-US" sz="3300" kern="1200" dirty="0"/>
            <a:t> </a:t>
          </a:r>
          <a:r>
            <a:rPr lang="en-US" sz="3300" kern="1200" dirty="0" err="1"/>
            <a:t>parto</a:t>
          </a:r>
          <a:r>
            <a:rPr lang="en-US" sz="3300" kern="1200" dirty="0"/>
            <a:t> </a:t>
          </a:r>
          <a:r>
            <a:rPr lang="en-US" sz="3300" kern="1200" dirty="0" err="1"/>
            <a:t>por</a:t>
          </a:r>
          <a:r>
            <a:rPr lang="en-US" sz="3300" kern="1200" dirty="0"/>
            <a:t> </a:t>
          </a:r>
          <a:r>
            <a:rPr lang="en-US" sz="3300" kern="1200" dirty="0" err="1"/>
            <a:t>profissional</a:t>
          </a:r>
          <a:r>
            <a:rPr lang="en-US" sz="3300" kern="1200" dirty="0"/>
            <a:t> </a:t>
          </a:r>
          <a:r>
            <a:rPr lang="en-US" sz="3300" kern="1200" dirty="0" err="1"/>
            <a:t>qualificado</a:t>
          </a:r>
          <a:endParaRPr lang="en-US" sz="3300" kern="1200" dirty="0"/>
        </a:p>
      </dsp:txBody>
      <dsp:txXfrm>
        <a:off x="0" y="776438"/>
        <a:ext cx="8596668" cy="775965"/>
      </dsp:txXfrm>
    </dsp:sp>
    <dsp:sp modelId="{E6AB9698-F62F-4070-B658-3619A1B38BAC}">
      <dsp:nvSpPr>
        <dsp:cNvPr id="0" name=""/>
        <dsp:cNvSpPr/>
      </dsp:nvSpPr>
      <dsp:spPr>
        <a:xfrm>
          <a:off x="0" y="1552403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BB940-3E66-484C-B844-F65C7439D852}">
      <dsp:nvSpPr>
        <dsp:cNvPr id="0" name=""/>
        <dsp:cNvSpPr/>
      </dsp:nvSpPr>
      <dsp:spPr>
        <a:xfrm>
          <a:off x="0" y="1552403"/>
          <a:ext cx="8596668" cy="775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Transporte</a:t>
          </a:r>
        </a:p>
      </dsp:txBody>
      <dsp:txXfrm>
        <a:off x="0" y="1552403"/>
        <a:ext cx="8596668" cy="775965"/>
      </dsp:txXfrm>
    </dsp:sp>
    <dsp:sp modelId="{3E7326A4-1CAD-49DE-9E33-36E0B0FB55C0}">
      <dsp:nvSpPr>
        <dsp:cNvPr id="0" name=""/>
        <dsp:cNvSpPr/>
      </dsp:nvSpPr>
      <dsp:spPr>
        <a:xfrm>
          <a:off x="0" y="2328369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147A5F-0B1E-41E9-837F-DAB3CD994ADA}">
      <dsp:nvSpPr>
        <dsp:cNvPr id="0" name=""/>
        <dsp:cNvSpPr/>
      </dsp:nvSpPr>
      <dsp:spPr>
        <a:xfrm>
          <a:off x="0" y="2328369"/>
          <a:ext cx="8596668" cy="775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Sistemas de referência </a:t>
          </a:r>
        </a:p>
      </dsp:txBody>
      <dsp:txXfrm>
        <a:off x="0" y="2328369"/>
        <a:ext cx="8596668" cy="775965"/>
      </dsp:txXfrm>
    </dsp:sp>
    <dsp:sp modelId="{29CF81C5-DE01-4F59-BE01-1580B15CCA42}">
      <dsp:nvSpPr>
        <dsp:cNvPr id="0" name=""/>
        <dsp:cNvSpPr/>
      </dsp:nvSpPr>
      <dsp:spPr>
        <a:xfrm>
          <a:off x="0" y="3104334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DE6E5-7B84-4269-B683-922507EC68D4}">
      <dsp:nvSpPr>
        <dsp:cNvPr id="0" name=""/>
        <dsp:cNvSpPr/>
      </dsp:nvSpPr>
      <dsp:spPr>
        <a:xfrm>
          <a:off x="0" y="3104334"/>
          <a:ext cx="8596668" cy="775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Infraestruturas </a:t>
          </a:r>
        </a:p>
      </dsp:txBody>
      <dsp:txXfrm>
        <a:off x="0" y="3104334"/>
        <a:ext cx="8596668" cy="7759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AF3E9-ABDF-438D-94D6-36304B31D79C}">
      <dsp:nvSpPr>
        <dsp:cNvPr id="0" name=""/>
        <dsp:cNvSpPr/>
      </dsp:nvSpPr>
      <dsp:spPr>
        <a:xfrm>
          <a:off x="0" y="1894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F99BE-420B-46EF-9DB3-DB9936159A21}">
      <dsp:nvSpPr>
        <dsp:cNvPr id="0" name=""/>
        <dsp:cNvSpPr/>
      </dsp:nvSpPr>
      <dsp:spPr>
        <a:xfrm>
          <a:off x="0" y="1894"/>
          <a:ext cx="8596668" cy="646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/>
            <a:t>Planeamento familiar</a:t>
          </a:r>
          <a:r>
            <a:rPr lang="pt-PT" sz="1300" kern="1200"/>
            <a:t> — O planeamento familiar é um dos quatro pilares da Iniciativa de Maternidade Segura para reduzir a morte materna em países com recursos limitados, e pode ser a intervenção mais importante para alcançar este objetivo. O planeamento familiar pode reduzir a mortalidade nas mulheres de várias formas:</a:t>
          </a:r>
          <a:endParaRPr lang="en-US" sz="1300" kern="1200"/>
        </a:p>
      </dsp:txBody>
      <dsp:txXfrm>
        <a:off x="0" y="1894"/>
        <a:ext cx="8596668" cy="646163"/>
      </dsp:txXfrm>
    </dsp:sp>
    <dsp:sp modelId="{546DA8C0-9526-434A-B6FA-7A4FD7F23E65}">
      <dsp:nvSpPr>
        <dsp:cNvPr id="0" name=""/>
        <dsp:cNvSpPr/>
      </dsp:nvSpPr>
      <dsp:spPr>
        <a:xfrm>
          <a:off x="0" y="648058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A3A6C-933A-4969-AF7E-05571C76B5A4}">
      <dsp:nvSpPr>
        <dsp:cNvPr id="0" name=""/>
        <dsp:cNvSpPr/>
      </dsp:nvSpPr>
      <dsp:spPr>
        <a:xfrm>
          <a:off x="0" y="648058"/>
          <a:ext cx="8596668" cy="646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Redução da mortalidade relacionada com a gravidez, incluindo gravidezes ectópicas</a:t>
          </a:r>
          <a:endParaRPr lang="en-US" sz="1300" kern="1200"/>
        </a:p>
      </dsp:txBody>
      <dsp:txXfrm>
        <a:off x="0" y="648058"/>
        <a:ext cx="8596668" cy="646163"/>
      </dsp:txXfrm>
    </dsp:sp>
    <dsp:sp modelId="{AF984F5D-EE18-4D94-810D-1500840E83C4}">
      <dsp:nvSpPr>
        <dsp:cNvPr id="0" name=""/>
        <dsp:cNvSpPr/>
      </dsp:nvSpPr>
      <dsp:spPr>
        <a:xfrm>
          <a:off x="0" y="1294222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99105-6A08-43EE-BA73-3616D89F2CE7}">
      <dsp:nvSpPr>
        <dsp:cNvPr id="0" name=""/>
        <dsp:cNvSpPr/>
      </dsp:nvSpPr>
      <dsp:spPr>
        <a:xfrm>
          <a:off x="0" y="1294222"/>
          <a:ext cx="8596668" cy="646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Redução da mortalidade relacionada com o aborto por gravidez indesejada</a:t>
          </a:r>
          <a:endParaRPr lang="en-US" sz="1300" kern="1200"/>
        </a:p>
      </dsp:txBody>
      <dsp:txXfrm>
        <a:off x="0" y="1294222"/>
        <a:ext cx="8596668" cy="646163"/>
      </dsp:txXfrm>
    </dsp:sp>
    <dsp:sp modelId="{15BF01B5-3231-49AE-9F65-2CEE9522A174}">
      <dsp:nvSpPr>
        <dsp:cNvPr id="0" name=""/>
        <dsp:cNvSpPr/>
      </dsp:nvSpPr>
      <dsp:spPr>
        <a:xfrm>
          <a:off x="0" y="1940386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3ECA3-99C2-4C0E-B3B5-381844A9C595}">
      <dsp:nvSpPr>
        <dsp:cNvPr id="0" name=""/>
        <dsp:cNvSpPr/>
      </dsp:nvSpPr>
      <dsp:spPr>
        <a:xfrm>
          <a:off x="0" y="1940386"/>
          <a:ext cx="8596668" cy="646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Adiamento da idade da primeira gravidez, particularmente em adolescentes</a:t>
          </a:r>
          <a:endParaRPr lang="en-US" sz="1300" kern="1200"/>
        </a:p>
      </dsp:txBody>
      <dsp:txXfrm>
        <a:off x="0" y="1940386"/>
        <a:ext cx="8596668" cy="646163"/>
      </dsp:txXfrm>
    </dsp:sp>
    <dsp:sp modelId="{D7668910-AC13-4FDC-B95A-052A45215B25}">
      <dsp:nvSpPr>
        <dsp:cNvPr id="0" name=""/>
        <dsp:cNvSpPr/>
      </dsp:nvSpPr>
      <dsp:spPr>
        <a:xfrm>
          <a:off x="0" y="2586550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38AA7-3394-48B9-99CD-E3E74D7BB090}">
      <dsp:nvSpPr>
        <dsp:cNvPr id="0" name=""/>
        <dsp:cNvSpPr/>
      </dsp:nvSpPr>
      <dsp:spPr>
        <a:xfrm>
          <a:off x="0" y="2586550"/>
          <a:ext cx="8596668" cy="646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Otimização do espaçamento da gravidez </a:t>
          </a:r>
          <a:endParaRPr lang="en-US" sz="1300" kern="1200"/>
        </a:p>
      </dsp:txBody>
      <dsp:txXfrm>
        <a:off x="0" y="2586550"/>
        <a:ext cx="8596668" cy="646163"/>
      </dsp:txXfrm>
    </dsp:sp>
    <dsp:sp modelId="{3AF75EA4-1D54-4357-802A-618E2FE13721}">
      <dsp:nvSpPr>
        <dsp:cNvPr id="0" name=""/>
        <dsp:cNvSpPr/>
      </dsp:nvSpPr>
      <dsp:spPr>
        <a:xfrm>
          <a:off x="0" y="3232714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907EF-69FC-46C6-8011-CF378FE33725}">
      <dsp:nvSpPr>
        <dsp:cNvPr id="0" name=""/>
        <dsp:cNvSpPr/>
      </dsp:nvSpPr>
      <dsp:spPr>
        <a:xfrm>
          <a:off x="0" y="3232714"/>
          <a:ext cx="8596668" cy="646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Redução da alta paridade </a:t>
          </a:r>
          <a:endParaRPr lang="en-US" sz="1300" kern="1200"/>
        </a:p>
      </dsp:txBody>
      <dsp:txXfrm>
        <a:off x="0" y="3232714"/>
        <a:ext cx="8596668" cy="6461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FE43F-F9AA-4F2F-BC86-F7D59F194075}">
      <dsp:nvSpPr>
        <dsp:cNvPr id="0" name=""/>
        <dsp:cNvSpPr/>
      </dsp:nvSpPr>
      <dsp:spPr>
        <a:xfrm>
          <a:off x="0" y="0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51936-B33A-4738-B35C-36195D8A2222}">
      <dsp:nvSpPr>
        <dsp:cNvPr id="0" name=""/>
        <dsp:cNvSpPr/>
      </dsp:nvSpPr>
      <dsp:spPr>
        <a:xfrm>
          <a:off x="0" y="0"/>
          <a:ext cx="8596668" cy="1940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Assistência ao parto por profissional qualificado</a:t>
          </a:r>
          <a:endParaRPr lang="en-US" sz="2100" kern="1200"/>
        </a:p>
      </dsp:txBody>
      <dsp:txXfrm>
        <a:off x="0" y="0"/>
        <a:ext cx="8596668" cy="1940386"/>
      </dsp:txXfrm>
    </dsp:sp>
    <dsp:sp modelId="{EAAB6598-3068-4DAA-95A2-39CD841D0799}">
      <dsp:nvSpPr>
        <dsp:cNvPr id="0" name=""/>
        <dsp:cNvSpPr/>
      </dsp:nvSpPr>
      <dsp:spPr>
        <a:xfrm>
          <a:off x="0" y="1940386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D830C-E4CC-4955-9314-1BDD3C4378E1}">
      <dsp:nvSpPr>
        <dsp:cNvPr id="0" name=""/>
        <dsp:cNvSpPr/>
      </dsp:nvSpPr>
      <dsp:spPr>
        <a:xfrm>
          <a:off x="0" y="1940386"/>
          <a:ext cx="8596668" cy="1940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Para grávidas, otimizar os cuidados intraparto parece ser a intervenção mais importante para reduzir a mortalidade materna tanto em países de rendimento elevado como em países de baixo/médio rendimento. Mais de dois terços das mulheres em todo o mundo dão à luz em casa, muitas vezes com um assistente de parto tradicional que não é um profissional de saúde treinado. </a:t>
          </a:r>
          <a:endParaRPr lang="en-US" sz="2100" kern="1200"/>
        </a:p>
      </dsp:txBody>
      <dsp:txXfrm>
        <a:off x="0" y="1940386"/>
        <a:ext cx="8596668" cy="19403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CD986-A5D9-42A7-9E5A-C26799C04EE1}">
      <dsp:nvSpPr>
        <dsp:cNvPr id="0" name=""/>
        <dsp:cNvSpPr/>
      </dsp:nvSpPr>
      <dsp:spPr>
        <a:xfrm>
          <a:off x="0" y="0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CBF8B-9EDF-4835-A9E2-A2BBA0B31DEF}">
      <dsp:nvSpPr>
        <dsp:cNvPr id="0" name=""/>
        <dsp:cNvSpPr/>
      </dsp:nvSpPr>
      <dsp:spPr>
        <a:xfrm>
          <a:off x="0" y="0"/>
          <a:ext cx="8596668" cy="48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b="1" kern="1200"/>
            <a:t>Cuidados obstétricos de emergência</a:t>
          </a:r>
          <a:r>
            <a:rPr lang="pt-PT" sz="1300" kern="1200"/>
            <a:t> — A Organização Mundial de Saúde (OMS) considera a capacidade de fornecer os seguintes sete serviços "básicos" necessários para a prestação de cuidados obstétricos de emergência</a:t>
          </a:r>
          <a:endParaRPr lang="en-US" sz="1300" kern="1200"/>
        </a:p>
      </dsp:txBody>
      <dsp:txXfrm>
        <a:off x="0" y="0"/>
        <a:ext cx="8596668" cy="485096"/>
      </dsp:txXfrm>
    </dsp:sp>
    <dsp:sp modelId="{135457A9-F72E-4473-A938-79D7FDD758C8}">
      <dsp:nvSpPr>
        <dsp:cNvPr id="0" name=""/>
        <dsp:cNvSpPr/>
      </dsp:nvSpPr>
      <dsp:spPr>
        <a:xfrm>
          <a:off x="0" y="485096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95EDF-604F-4000-A15D-ECE3B03883B1}">
      <dsp:nvSpPr>
        <dsp:cNvPr id="0" name=""/>
        <dsp:cNvSpPr/>
      </dsp:nvSpPr>
      <dsp:spPr>
        <a:xfrm>
          <a:off x="0" y="485096"/>
          <a:ext cx="8596668" cy="48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Administrar antibióticos parenterais</a:t>
          </a:r>
          <a:endParaRPr lang="en-US" sz="1300" kern="1200"/>
        </a:p>
      </dsp:txBody>
      <dsp:txXfrm>
        <a:off x="0" y="485096"/>
        <a:ext cx="8596668" cy="485096"/>
      </dsp:txXfrm>
    </dsp:sp>
    <dsp:sp modelId="{00ED6F21-5BEB-4A43-A27A-9D8CA6F06303}">
      <dsp:nvSpPr>
        <dsp:cNvPr id="0" name=""/>
        <dsp:cNvSpPr/>
      </dsp:nvSpPr>
      <dsp:spPr>
        <a:xfrm>
          <a:off x="0" y="970193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E90C5-C41C-423F-B26A-178AAA4AF5AE}">
      <dsp:nvSpPr>
        <dsp:cNvPr id="0" name=""/>
        <dsp:cNvSpPr/>
      </dsp:nvSpPr>
      <dsp:spPr>
        <a:xfrm>
          <a:off x="0" y="970193"/>
          <a:ext cx="8596668" cy="48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Administrar medicamentos uterotónicos</a:t>
          </a:r>
          <a:endParaRPr lang="en-US" sz="1300" kern="1200"/>
        </a:p>
      </dsp:txBody>
      <dsp:txXfrm>
        <a:off x="0" y="970193"/>
        <a:ext cx="8596668" cy="485096"/>
      </dsp:txXfrm>
    </dsp:sp>
    <dsp:sp modelId="{C0D5070C-0A2B-4F12-8104-543657BB1B84}">
      <dsp:nvSpPr>
        <dsp:cNvPr id="0" name=""/>
        <dsp:cNvSpPr/>
      </dsp:nvSpPr>
      <dsp:spPr>
        <a:xfrm>
          <a:off x="0" y="1455289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EBB84-3D5D-4B4A-AE78-9941CE1C0FF2}">
      <dsp:nvSpPr>
        <dsp:cNvPr id="0" name=""/>
        <dsp:cNvSpPr/>
      </dsp:nvSpPr>
      <dsp:spPr>
        <a:xfrm>
          <a:off x="0" y="1455289"/>
          <a:ext cx="8596668" cy="48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>
              <a:solidFill>
                <a:schemeClr val="tx1"/>
              </a:solidFill>
            </a:rPr>
            <a:t>Administrar </a:t>
          </a:r>
          <a:r>
            <a:rPr lang="pt-PT" sz="1300" kern="12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sulfato de magnésio</a:t>
          </a:r>
          <a:r>
            <a:rPr lang="pt-PT" sz="1300" kern="1200" dirty="0">
              <a:solidFill>
                <a:schemeClr val="tx1"/>
              </a:solidFill>
            </a:rPr>
            <a:t> </a:t>
          </a:r>
          <a:r>
            <a:rPr lang="pt-PT" sz="1300" kern="1200" dirty="0"/>
            <a:t>a mulheres com pré-eclâmpsia/eclâmpsia</a:t>
          </a:r>
          <a:endParaRPr lang="en-US" sz="1300" kern="1200" dirty="0"/>
        </a:p>
      </dsp:txBody>
      <dsp:txXfrm>
        <a:off x="0" y="1455289"/>
        <a:ext cx="8596668" cy="485096"/>
      </dsp:txXfrm>
    </dsp:sp>
    <dsp:sp modelId="{810C80E0-CFE0-4A38-A921-9873502A8388}">
      <dsp:nvSpPr>
        <dsp:cNvPr id="0" name=""/>
        <dsp:cNvSpPr/>
      </dsp:nvSpPr>
      <dsp:spPr>
        <a:xfrm>
          <a:off x="0" y="1940386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C5CBA-8C72-44C9-805C-AE40321CF94E}">
      <dsp:nvSpPr>
        <dsp:cNvPr id="0" name=""/>
        <dsp:cNvSpPr/>
      </dsp:nvSpPr>
      <dsp:spPr>
        <a:xfrm>
          <a:off x="0" y="1940386"/>
          <a:ext cx="8596668" cy="48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Remover manualmente a placenta</a:t>
          </a:r>
          <a:endParaRPr lang="en-US" sz="1300" kern="1200"/>
        </a:p>
      </dsp:txBody>
      <dsp:txXfrm>
        <a:off x="0" y="1940386"/>
        <a:ext cx="8596668" cy="485096"/>
      </dsp:txXfrm>
    </dsp:sp>
    <dsp:sp modelId="{23C0E7C2-AFBD-4671-A8F9-435329C277DE}">
      <dsp:nvSpPr>
        <dsp:cNvPr id="0" name=""/>
        <dsp:cNvSpPr/>
      </dsp:nvSpPr>
      <dsp:spPr>
        <a:xfrm>
          <a:off x="0" y="2425483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65468F-AA59-404E-81B7-21DF8CC1E58B}">
      <dsp:nvSpPr>
        <dsp:cNvPr id="0" name=""/>
        <dsp:cNvSpPr/>
      </dsp:nvSpPr>
      <dsp:spPr>
        <a:xfrm>
          <a:off x="0" y="2425483"/>
          <a:ext cx="8596668" cy="48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Remover os produtos retidos manualmente, com extração a vácuo, ou por dilatação e curetagem</a:t>
          </a:r>
          <a:endParaRPr lang="en-US" sz="1300" kern="1200"/>
        </a:p>
      </dsp:txBody>
      <dsp:txXfrm>
        <a:off x="0" y="2425483"/>
        <a:ext cx="8596668" cy="485096"/>
      </dsp:txXfrm>
    </dsp:sp>
    <dsp:sp modelId="{A410DC51-4DD4-44C2-827D-0B3F85FE9EFD}">
      <dsp:nvSpPr>
        <dsp:cNvPr id="0" name=""/>
        <dsp:cNvSpPr/>
      </dsp:nvSpPr>
      <dsp:spPr>
        <a:xfrm>
          <a:off x="0" y="2910579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3AD34-DC95-4448-9A7F-F3DC3C18C78A}">
      <dsp:nvSpPr>
        <dsp:cNvPr id="0" name=""/>
        <dsp:cNvSpPr/>
      </dsp:nvSpPr>
      <dsp:spPr>
        <a:xfrm>
          <a:off x="0" y="2910579"/>
          <a:ext cx="8596668" cy="48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Realizar parto vaginal assistido por extração a vácuo ou fórceps</a:t>
          </a:r>
          <a:endParaRPr lang="en-US" sz="1300" kern="1200"/>
        </a:p>
      </dsp:txBody>
      <dsp:txXfrm>
        <a:off x="0" y="2910579"/>
        <a:ext cx="8596668" cy="485096"/>
      </dsp:txXfrm>
    </dsp:sp>
    <dsp:sp modelId="{25533A9D-A5EA-4B15-9F73-F2FA040713B0}">
      <dsp:nvSpPr>
        <dsp:cNvPr id="0" name=""/>
        <dsp:cNvSpPr/>
      </dsp:nvSpPr>
      <dsp:spPr>
        <a:xfrm>
          <a:off x="0" y="3395676"/>
          <a:ext cx="85966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C2551-8786-4A28-BD5E-04DDBEDE58F4}">
      <dsp:nvSpPr>
        <dsp:cNvPr id="0" name=""/>
        <dsp:cNvSpPr/>
      </dsp:nvSpPr>
      <dsp:spPr>
        <a:xfrm>
          <a:off x="0" y="3395676"/>
          <a:ext cx="8596668" cy="48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Realizar reanimação neonatal básica com máscara com reservatório de oxigénio</a:t>
          </a:r>
          <a:endParaRPr lang="en-US" sz="1300" kern="1200"/>
        </a:p>
      </dsp:txBody>
      <dsp:txXfrm>
        <a:off x="0" y="3395676"/>
        <a:ext cx="8596668" cy="4850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65688-BDAA-4E12-A3D9-C6232A3A7380}">
      <dsp:nvSpPr>
        <dsp:cNvPr id="0" name=""/>
        <dsp:cNvSpPr/>
      </dsp:nvSpPr>
      <dsp:spPr>
        <a:xfrm>
          <a:off x="0" y="57845"/>
          <a:ext cx="8596668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1" kern="1200"/>
            <a:t>Políticas e infraestruturas</a:t>
          </a:r>
          <a:r>
            <a:rPr lang="pt-PT" sz="1800" kern="1200"/>
            <a:t> — Políticas e infraestruturas identificadas para reduzir a mortalidade materna incluem o desenvolvimento do seguinte:</a:t>
          </a:r>
          <a:endParaRPr lang="en-US" sz="1800" kern="1200"/>
        </a:p>
      </dsp:txBody>
      <dsp:txXfrm>
        <a:off x="49154" y="106999"/>
        <a:ext cx="8498360" cy="908623"/>
      </dsp:txXfrm>
    </dsp:sp>
    <dsp:sp modelId="{1193E1D1-3A0E-40AB-A07C-0F7806BC0D02}">
      <dsp:nvSpPr>
        <dsp:cNvPr id="0" name=""/>
        <dsp:cNvSpPr/>
      </dsp:nvSpPr>
      <dsp:spPr>
        <a:xfrm>
          <a:off x="0" y="1064776"/>
          <a:ext cx="8596668" cy="17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94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400" kern="1200"/>
            <a:t>Serviços organizados para garantir que os cuidados pré-natais, intraparto e pós-parto sejam prestados através de instalações e programas de extensão disponíveis, acessíveis e aceitáveis para todas as mulheres , especialmente aquelas marginalizadas financeiramente, geograficamente e/ou socio-politicamente.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400" kern="1200"/>
            <a:t>Normas nacionais, protocolos locais e sistemas de instalações para serviços integrados de cuidados obstétricos, gestão de complicações e encaminhamento atempado quando necessário.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400" kern="1200"/>
            <a:t>Sistemas de referência funcionais (por exemplo, linhas de comunicação, serviços de transporte).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400" kern="1200"/>
            <a:t>Integração da prestação de cuidados de saúde com a oferta de educação, água, saneamento e desenvolvimento rural.</a:t>
          </a:r>
          <a:endParaRPr lang="en-US" sz="1400" kern="1200"/>
        </a:p>
      </dsp:txBody>
      <dsp:txXfrm>
        <a:off x="0" y="1064776"/>
        <a:ext cx="8596668" cy="1751220"/>
      </dsp:txXfrm>
    </dsp:sp>
    <dsp:sp modelId="{0B412239-B428-4CB9-A75E-472FB5CC9BB7}">
      <dsp:nvSpPr>
        <dsp:cNvPr id="0" name=""/>
        <dsp:cNvSpPr/>
      </dsp:nvSpPr>
      <dsp:spPr>
        <a:xfrm>
          <a:off x="0" y="2815996"/>
          <a:ext cx="8596668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1" kern="1200"/>
            <a:t>Mentoria baseada na comunidade</a:t>
          </a:r>
          <a:r>
            <a:rPr lang="pt-PT" sz="1800" kern="1200"/>
            <a:t> — Programas formais que ligam mentores formados a profissionais de saúde ou pacientes mostraram potencial para melhorar o conhecimento e os resultados obstétricos. </a:t>
          </a:r>
          <a:endParaRPr lang="en-US" sz="1800" kern="1200"/>
        </a:p>
      </dsp:txBody>
      <dsp:txXfrm>
        <a:off x="49154" y="2865150"/>
        <a:ext cx="8498360" cy="908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25/07/2026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256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25/07/2026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2241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946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ca://s/?q=Fraquezas_em_analise_SWOT" TargetMode="External"/><Relationship Id="rId2" Type="http://schemas.openxmlformats.org/officeDocument/2006/relationships/hyperlink" Target="ca://s/?q=Forcas_em_analise_SWOT" TargetMode="External"/><Relationship Id="rId1" Type="http://schemas.openxmlformats.org/officeDocument/2006/relationships/slideLayout" Target="../slideLayouts/slideLayout21.xml"/><Relationship Id="rId5" Type="http://schemas.openxmlformats.org/officeDocument/2006/relationships/hyperlink" Target="ca://s/?q=Ameacas_em_analise_SWOT" TargetMode="External"/><Relationship Id="rId4" Type="http://schemas.openxmlformats.org/officeDocument/2006/relationships/hyperlink" Target="ca://s/?q=Oportunidades_em_analise_SWO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22969" y="141288"/>
            <a:ext cx="961952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9467" y="865330"/>
            <a:ext cx="9029444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REPÚBLICA DE MOÇAMBIQUE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CIDADE DE MAPUTO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CONSELHO DOS SERVIÇOS DE REPRESENTAÇÃO DO ESTADO</a:t>
            </a:r>
          </a:p>
          <a:p>
            <a:pPr algn="ctr"/>
            <a:r>
              <a:rPr lang="pt-PT" sz="2400" b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DE SAÚDE DA CIDADE</a:t>
            </a:r>
          </a:p>
        </p:txBody>
      </p:sp>
      <p:sp>
        <p:nvSpPr>
          <p:cNvPr id="8" name="Footer Placeholder 3"/>
          <p:cNvSpPr txBox="1"/>
          <p:nvPr/>
        </p:nvSpPr>
        <p:spPr>
          <a:xfrm>
            <a:off x="922879" y="6280683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Cidade de Maputo, Julho de 2026</a:t>
            </a:r>
            <a:endParaRPr lang="en-US" sz="16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4321" y="2560320"/>
            <a:ext cx="10903620" cy="2387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5400" dirty="0">
                <a:latin typeface="Arial Narrow" panose="020B0606020202030204" pitchFamily="34" charset="0"/>
              </a:rPr>
              <a:t>Estratégias para Redução da Mortalidade Materna e Neonatal</a:t>
            </a:r>
            <a:endParaRPr lang="en-US" sz="5400" dirty="0">
              <a:latin typeface="Arial Narrow" panose="020B0606020202030204" pitchFamily="34" charset="0"/>
            </a:endParaRPr>
          </a:p>
        </p:txBody>
      </p:sp>
      <p:sp>
        <p:nvSpPr>
          <p:cNvPr id="10" name="Subtitle 2"/>
          <p:cNvSpPr txBox="1"/>
          <p:nvPr/>
        </p:nvSpPr>
        <p:spPr>
          <a:xfrm>
            <a:off x="292100" y="5460999"/>
            <a:ext cx="10579100" cy="53536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altLang="pt-PT" sz="2400" b="1" i="1" kern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Maputo Cidade, pela Convergência Económica, Inclusão, Inovação e Progresso Social</a:t>
            </a:r>
            <a:endParaRPr lang="en-US" b="1" i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11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90763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789094" y="518160"/>
            <a:ext cx="8596668" cy="1320800"/>
          </a:xfrm>
          <a:prstGeom prst="rect">
            <a:avLst/>
          </a:prstGeom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spPr>
        <p:txBody>
          <a:bodyPr vert="horz" lIns="91440" tIns="45720" rIns="91440" bIns="45720" numCol="1" rtlCol="0" anchor="t" anchorCtr="0" compatLnSpc="1">
            <a:normAutofit/>
          </a:bodyPr>
          <a:lstStyle/>
          <a:p>
            <a:pPr fontAlgn="base">
              <a:spcBef>
                <a:spcPct val="0"/>
              </a:spcBef>
              <a:spcAft>
                <a:spcPts val="5675"/>
              </a:spcAft>
            </a:pPr>
            <a:endParaRPr lang="en-US" sz="3600" b="1" kern="1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2C9E57E-65A6-93EE-7B87-C6F7F60B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62976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92298FF-C5A2-B17F-C912-F49BEAE81E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5029320"/>
              </p:ext>
            </p:extLst>
          </p:nvPr>
        </p:nvGraphicFramePr>
        <p:xfrm>
          <a:off x="677334" y="1097280"/>
          <a:ext cx="10640906" cy="4944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3F09DA9-24F9-D591-CB90-A8895FAF0979}"/>
              </a:ext>
            </a:extLst>
          </p:cNvPr>
          <p:cNvSpPr>
            <a:spLocks noGrp="1"/>
          </p:cNvSpPr>
          <p:nvPr/>
        </p:nvSpPr>
        <p:spPr bwMode="auto">
          <a:xfrm>
            <a:off x="677334" y="0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Introdução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677334" y="609600"/>
            <a:ext cx="8596668" cy="1320800"/>
          </a:xfrm>
          <a:prstGeom prst="rect">
            <a:avLst/>
          </a:prstGeom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spPr>
        <p:txBody>
          <a:bodyPr vert="horz" lIns="91440" tIns="45720" rIns="91440" bIns="45720" numCol="1" rtlCol="0" anchor="t" anchorCtr="0" compatLnSpc="1">
            <a:normAutofit/>
          </a:bodyPr>
          <a:lstStyle/>
          <a:p>
            <a:pPr fontAlgn="base">
              <a:spcBef>
                <a:spcPct val="0"/>
              </a:spcBef>
              <a:spcAft>
                <a:spcPts val="5675"/>
              </a:spcAft>
            </a:pPr>
            <a:endParaRPr lang="en-US" sz="3600" b="1" kern="1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C5DE228-EA35-25AC-4185-4BA514D7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62976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7C95019-9672-0B77-E069-2D1A073BDF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10573"/>
              </p:ext>
            </p:extLst>
          </p:nvPr>
        </p:nvGraphicFramePr>
        <p:xfrm>
          <a:off x="677334" y="1137921"/>
          <a:ext cx="10092266" cy="4903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6E25C79-72AD-1491-DA36-478E2ECB42F0}"/>
              </a:ext>
            </a:extLst>
          </p:cNvPr>
          <p:cNvSpPr>
            <a:spLocks noGrp="1"/>
          </p:cNvSpPr>
          <p:nvPr/>
        </p:nvSpPr>
        <p:spPr bwMode="auto">
          <a:xfrm>
            <a:off x="677334" y="0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Contextualização</a:t>
            </a:r>
          </a:p>
        </p:txBody>
      </p:sp>
    </p:spTree>
    <p:extLst>
      <p:ext uri="{BB962C8B-B14F-4D97-AF65-F5344CB8AC3E}">
        <p14:creationId xmlns:p14="http://schemas.microsoft.com/office/powerpoint/2010/main" val="96191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6B3E-3283-544D-05C5-3A521C74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DA4BE5C-D57B-4675-6795-5FC6A28B773C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Contextualização</a:t>
            </a:r>
          </a:p>
        </p:txBody>
      </p:sp>
      <p:sp>
        <p:nvSpPr>
          <p:cNvPr id="9" name="Estrela de 10 Pontos 7">
            <a:extLst>
              <a:ext uri="{FF2B5EF4-FFF2-40B4-BE49-F238E27FC236}">
                <a16:creationId xmlns:a16="http://schemas.microsoft.com/office/drawing/2014/main" id="{DEC49C13-AF29-BB21-B218-6353FB83052D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03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3B84A-2727-5EB4-7C8D-628923C1B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01" y="1103742"/>
            <a:ext cx="9638624" cy="575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5D1BA-E3D1-3FE2-E3F1-88D86F65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C164029-F4D2-F5F4-BE17-6290F894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62976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6D6DC11-BF04-1E3B-FB63-67DC36FF4E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5723409"/>
              </p:ext>
            </p:extLst>
          </p:nvPr>
        </p:nvGraphicFramePr>
        <p:xfrm>
          <a:off x="677334" y="1259841"/>
          <a:ext cx="10071946" cy="4781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AC3B9169-C1B0-AB35-6730-CFC4F0F0BCCD}"/>
              </a:ext>
            </a:extLst>
          </p:cNvPr>
          <p:cNvSpPr>
            <a:spLocks noGrp="1"/>
          </p:cNvSpPr>
          <p:nvPr/>
        </p:nvSpPr>
        <p:spPr bwMode="auto">
          <a:xfrm>
            <a:off x="403759" y="133483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Contextualização</a:t>
            </a:r>
          </a:p>
        </p:txBody>
      </p:sp>
    </p:spTree>
    <p:extLst>
      <p:ext uri="{BB962C8B-B14F-4D97-AF65-F5344CB8AC3E}">
        <p14:creationId xmlns:p14="http://schemas.microsoft.com/office/powerpoint/2010/main" val="381371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1785-0DA0-63CA-E322-54BEEA4B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45FAFA1-671A-9C55-53E2-5F5D40BD3177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Contextualização</a:t>
            </a:r>
          </a:p>
        </p:txBody>
      </p:sp>
      <p:sp>
        <p:nvSpPr>
          <p:cNvPr id="9" name="Estrela de 10 Pontos 7">
            <a:extLst>
              <a:ext uri="{FF2B5EF4-FFF2-40B4-BE49-F238E27FC236}">
                <a16:creationId xmlns:a16="http://schemas.microsoft.com/office/drawing/2014/main" id="{CA2EBD2F-5A75-6757-F2CD-664ED4CA9BFE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03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EA4C7FD-E41E-1D4F-2F2F-B485F9B9D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839153"/>
              </p:ext>
            </p:extLst>
          </p:nvPr>
        </p:nvGraphicFramePr>
        <p:xfrm>
          <a:off x="314960" y="1039090"/>
          <a:ext cx="11426457" cy="5002935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808468587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42832388"/>
                    </a:ext>
                  </a:extLst>
                </a:gridCol>
                <a:gridCol w="9120137">
                  <a:extLst>
                    <a:ext uri="{9D8B030D-6E8A-4147-A177-3AD203B41FA5}">
                      <a16:colId xmlns:a16="http://schemas.microsoft.com/office/drawing/2014/main" val="642159541"/>
                    </a:ext>
                  </a:extLst>
                </a:gridCol>
              </a:tblGrid>
              <a:tr h="45481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86085"/>
                  </a:ext>
                </a:extLst>
              </a:tr>
              <a:tr h="147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hlinkClick r:id="rId2" action="ppaction://hlinkfile"/>
                        </a:rPr>
                        <a:t>Forças</a:t>
                      </a:r>
                      <a:endParaRPr lang="en-US" sz="1800" b="1" dirty="0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🟩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 err="1"/>
                        <a:t>Recursos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humanos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qualificados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programas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nacionais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apoio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institucional</a:t>
                      </a:r>
                      <a:r>
                        <a:rPr lang="en-US" sz="1800" b="1" dirty="0"/>
                        <a:t>,.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946653"/>
                  </a:ext>
                </a:extLst>
              </a:tr>
              <a:tr h="1137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hlinkClick r:id="rId3" action="ppaction://hlinkfile"/>
                        </a:rPr>
                        <a:t>Fraquezas</a:t>
                      </a:r>
                      <a:endParaRPr lang="en-US" sz="1800" b="1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🟥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 err="1"/>
                        <a:t>Infraestrutura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limitada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escassez</a:t>
                      </a:r>
                      <a:r>
                        <a:rPr lang="en-US" sz="1800" b="1" dirty="0"/>
                        <a:t> de </a:t>
                      </a:r>
                      <a:r>
                        <a:rPr lang="en-US" sz="1800" b="1" dirty="0" err="1"/>
                        <a:t>medicamentos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transporte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insuficiente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escassez</a:t>
                      </a:r>
                      <a:r>
                        <a:rPr lang="en-US" sz="1800" b="1" dirty="0"/>
                        <a:t> de </a:t>
                      </a:r>
                      <a:r>
                        <a:rPr lang="en-US" sz="1800" b="1" dirty="0" err="1"/>
                        <a:t>profissionais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baixa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cobertura</a:t>
                      </a:r>
                      <a:r>
                        <a:rPr lang="en-US" sz="1800" b="1" dirty="0"/>
                        <a:t> da CPN (4+), </a:t>
                      </a:r>
                      <a:r>
                        <a:rPr lang="en-US" sz="1800" b="1" dirty="0" err="1"/>
                        <a:t>baixa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cobertura</a:t>
                      </a:r>
                      <a:r>
                        <a:rPr lang="en-US" sz="1800" b="1" dirty="0"/>
                        <a:t> de </a:t>
                      </a:r>
                      <a:r>
                        <a:rPr lang="en-US" sz="1800" b="1" dirty="0" err="1"/>
                        <a:t>partos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institucionais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baixo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acesso</a:t>
                      </a:r>
                      <a:r>
                        <a:rPr lang="en-US" sz="1800" b="1" dirty="0"/>
                        <a:t> a </a:t>
                      </a:r>
                      <a:r>
                        <a:rPr lang="en-US" sz="1800" b="1" dirty="0" err="1"/>
                        <a:t>cesariana</a:t>
                      </a:r>
                      <a:endParaRPr lang="en-US" sz="1800" b="1" dirty="0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443364"/>
                  </a:ext>
                </a:extLst>
              </a:tr>
              <a:tr h="1137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hlinkClick r:id="rId4" action="ppaction://hlinkfile"/>
                        </a:rPr>
                        <a:t>Oportunidades</a:t>
                      </a:r>
                      <a:endParaRPr lang="en-US" sz="1800" b="1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🟦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 err="1"/>
                        <a:t>Financiamento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internacional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telemedicina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parcerias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comunitárias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expansao</a:t>
                      </a:r>
                      <a:r>
                        <a:rPr lang="en-US" sz="1800" b="1" dirty="0"/>
                        <a:t> da rede sanitaria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530937"/>
                  </a:ext>
                </a:extLst>
              </a:tr>
              <a:tr h="795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hlinkClick r:id="rId5" action="ppaction://hlinkfile"/>
                        </a:rPr>
                        <a:t>Ameaças</a:t>
                      </a:r>
                      <a:endParaRPr lang="en-US" sz="1800" b="1" dirty="0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🟧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 err="1"/>
                        <a:t>Conflitos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desastres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naturais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desigualdades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regionais</a:t>
                      </a:r>
                      <a:r>
                        <a:rPr lang="en-US" sz="1800" b="1" dirty="0"/>
                        <a:t>.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929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28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677334" y="609600"/>
            <a:ext cx="8596668" cy="1320800"/>
          </a:xfrm>
          <a:prstGeom prst="rect">
            <a:avLst/>
          </a:prstGeom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spPr>
        <p:txBody>
          <a:bodyPr vert="horz" lIns="91440" tIns="45720" rIns="91440" bIns="45720" numCol="1" rtlCol="0" anchor="t" anchorCtr="0" compatLnSpc="1">
            <a:normAutofit/>
          </a:bodyPr>
          <a:lstStyle/>
          <a:p>
            <a:pPr fontAlgn="base">
              <a:spcBef>
                <a:spcPct val="0"/>
              </a:spcBef>
              <a:spcAft>
                <a:spcPts val="5675"/>
              </a:spcAft>
            </a:pPr>
            <a:endParaRPr lang="en-US" sz="3600" b="1" kern="1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DDECA31C-95E8-A68E-720A-DCA337D4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62976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0AB7B636-BCBF-DFAF-1FE7-BF241C6E9F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667044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CA840EA-B1AC-500B-4B2B-02D3AAD79742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5"/>
            <a:ext cx="10911938" cy="1320799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Abordagem para redução da mortalidade - Serviços a oferecer </a:t>
            </a:r>
          </a:p>
        </p:txBody>
      </p:sp>
    </p:spTree>
    <p:extLst>
      <p:ext uri="{BB962C8B-B14F-4D97-AF65-F5344CB8AC3E}">
        <p14:creationId xmlns:p14="http://schemas.microsoft.com/office/powerpoint/2010/main" val="2361317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9DA7022-BFE9-D3F5-0092-1FB3750E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62976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4A67AA3-D623-88CC-37AF-F81978D334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5188446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096AB29-BF1D-CD76-EDCC-DD90E46EFEB9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5"/>
            <a:ext cx="10911938" cy="10181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Abordagem para redução da mortalidade - Serviços a oferecer </a:t>
            </a:r>
          </a:p>
        </p:txBody>
      </p:sp>
    </p:spTree>
    <p:extLst>
      <p:ext uri="{BB962C8B-B14F-4D97-AF65-F5344CB8AC3E}">
        <p14:creationId xmlns:p14="http://schemas.microsoft.com/office/powerpoint/2010/main" val="26386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6273-D462-20A3-5233-FB39A698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A5DA6BF6-F4D8-ACCF-BFC7-CE96AFD4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62976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5529C43-44F1-BCC3-14D4-3D42C68BA3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2109895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CED8EBB1-1ECB-C9AC-6DFE-284AD4B70F77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5"/>
            <a:ext cx="10911938" cy="10181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Abordagem para redução da mortalidade - Serviços a oferecer </a:t>
            </a:r>
          </a:p>
        </p:txBody>
      </p:sp>
    </p:spTree>
    <p:extLst>
      <p:ext uri="{BB962C8B-B14F-4D97-AF65-F5344CB8AC3E}">
        <p14:creationId xmlns:p14="http://schemas.microsoft.com/office/powerpoint/2010/main" val="197390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6116-A22B-2F23-AF4F-9F8150CB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427A534-35E3-B125-3DC2-AF4BA6A8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62976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3E5361F-9EBD-B218-BBF3-893751943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634787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A0B1F16-91F1-82AA-3573-114262D6BA17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5"/>
            <a:ext cx="10911938" cy="10181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Abordagem para redução da mortalidade - Serviços a oferecer </a:t>
            </a:r>
          </a:p>
        </p:txBody>
      </p:sp>
    </p:spTree>
    <p:extLst>
      <p:ext uri="{BB962C8B-B14F-4D97-AF65-F5344CB8AC3E}">
        <p14:creationId xmlns:p14="http://schemas.microsoft.com/office/powerpoint/2010/main" val="187956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2CA56-1FA4-D0CF-F5D1-81256121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9A7B6C2-08DF-9CDA-93A5-F735CFB0D538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5"/>
            <a:ext cx="10911938" cy="10181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Abordagem para redução da mortalidade - Serviços a oferecer 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81215-0588-92C4-E1FC-8A024624322F}"/>
              </a:ext>
            </a:extLst>
          </p:cNvPr>
          <p:cNvSpPr txBox="1">
            <a:spLocks/>
          </p:cNvSpPr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pt-PT" sz="2400" b="1" dirty="0"/>
          </a:p>
          <a:p>
            <a:pPr marL="0" indent="0" algn="just">
              <a:buNone/>
            </a:pPr>
            <a:r>
              <a:rPr lang="pt-PT" b="1" dirty="0"/>
              <a:t>Ecografia</a:t>
            </a:r>
            <a:r>
              <a:rPr lang="pt-PT" dirty="0"/>
              <a:t> </a:t>
            </a:r>
            <a:endParaRPr lang="en-US" dirty="0"/>
          </a:p>
          <a:p>
            <a:pPr algn="just"/>
            <a:r>
              <a:rPr lang="pt-PT" dirty="0"/>
              <a:t>Pode desempenhar um papel na redução da mortalidade materna em países de baixo rendimento através de:</a:t>
            </a:r>
            <a:endParaRPr lang="en-US" dirty="0"/>
          </a:p>
          <a:p>
            <a:pPr algn="just"/>
            <a:r>
              <a:rPr lang="pt-PT" dirty="0"/>
              <a:t>Identificação precoce da gravidez ectópica, que é um fator importante para evitar a </a:t>
            </a:r>
            <a:r>
              <a:rPr lang="pt-PT" dirty="0" err="1"/>
              <a:t>ruptura</a:t>
            </a:r>
            <a:r>
              <a:rPr lang="pt-PT" dirty="0"/>
              <a:t> e prevenir a morte materna relacionada com gravidez ectópica.</a:t>
            </a:r>
            <a:endParaRPr lang="en-US" dirty="0"/>
          </a:p>
          <a:p>
            <a:pPr algn="just"/>
            <a:r>
              <a:rPr lang="pt-PT" dirty="0"/>
              <a:t>Identificação anteparto de placentação anormal (por exemplo, placenta prévia, placenta </a:t>
            </a:r>
            <a:r>
              <a:rPr lang="pt-PT" dirty="0" err="1"/>
              <a:t>acreta</a:t>
            </a:r>
            <a:r>
              <a:rPr lang="pt-PT" dirty="0"/>
              <a:t>), que permite cesariana em condições ótimas.</a:t>
            </a:r>
            <a:endParaRPr lang="en-US" dirty="0"/>
          </a:p>
          <a:p>
            <a:pPr algn="just"/>
            <a:r>
              <a:rPr lang="pt-PT" dirty="0"/>
              <a:t>Identificação precoce das gravidezes molares, que podem reduzir o risco de a paciente desenvolver hemorragia grave, tirotoxicose, pré-eclâmpsia ou síndrome de hiperestimulação ovárica.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55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EFE76-DA78-05CE-D3A2-D95ED063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4552043-A258-2C35-5530-55C5E587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62976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A6881035-A570-97D9-9B74-FFA7EFE3D8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876074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FBE2126-BF28-BEAA-81AE-78C931FDEC73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5"/>
            <a:ext cx="10911938" cy="10181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Abordagem para redução da mortalidade - Serviços a oferecer </a:t>
            </a:r>
          </a:p>
        </p:txBody>
      </p:sp>
    </p:spTree>
    <p:extLst>
      <p:ext uri="{BB962C8B-B14F-4D97-AF65-F5344CB8AC3E}">
        <p14:creationId xmlns:p14="http://schemas.microsoft.com/office/powerpoint/2010/main" val="2984554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84843-D762-CF85-1489-24862CAA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14648E-98D2-4EC4-DB6D-86F6B563663A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5"/>
            <a:ext cx="10911938" cy="10181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Abordagem  sobre condições obstétricas especificas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28046-3613-0DC9-E088-16162E677573}"/>
              </a:ext>
            </a:extLst>
          </p:cNvPr>
          <p:cNvSpPr txBox="1">
            <a:spLocks/>
          </p:cNvSpPr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sz="2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9840E9-4784-01FC-1BCD-FEC24DC7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488354"/>
              </p:ext>
            </p:extLst>
          </p:nvPr>
        </p:nvGraphicFramePr>
        <p:xfrm>
          <a:off x="536986" y="1723206"/>
          <a:ext cx="10607040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4854">
                  <a:extLst>
                    <a:ext uri="{9D8B030D-6E8A-4147-A177-3AD203B41FA5}">
                      <a16:colId xmlns:a16="http://schemas.microsoft.com/office/drawing/2014/main" val="2930047411"/>
                    </a:ext>
                  </a:extLst>
                </a:gridCol>
                <a:gridCol w="7852186">
                  <a:extLst>
                    <a:ext uri="{9D8B030D-6E8A-4147-A177-3AD203B41FA5}">
                      <a16:colId xmlns:a16="http://schemas.microsoft.com/office/drawing/2014/main" val="2019403184"/>
                    </a:ext>
                  </a:extLst>
                </a:gridCol>
              </a:tblGrid>
              <a:tr h="478518">
                <a:tc>
                  <a:txBody>
                    <a:bodyPr/>
                    <a:lstStyle/>
                    <a:p>
                      <a:r>
                        <a:rPr lang="pt-PT" b="1" dirty="0">
                          <a:latin typeface="+mn-lt"/>
                        </a:rPr>
                        <a:t>Hemorragia </a:t>
                      </a:r>
                      <a:r>
                        <a:rPr lang="pt-PT" b="1" dirty="0" err="1">
                          <a:latin typeface="+mn-lt"/>
                        </a:rPr>
                        <a:t>periparto</a:t>
                      </a:r>
                      <a:endParaRPr lang="en-US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Manejo </a:t>
                      </a:r>
                      <a:r>
                        <a:rPr lang="pt-PT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activo</a:t>
                      </a:r>
                      <a:r>
                        <a:rPr lang="pt-P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do terceiro </a:t>
                      </a:r>
                      <a:r>
                        <a:rPr lang="pt-PT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estadio</a:t>
                      </a:r>
                      <a:r>
                        <a:rPr lang="pt-P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do trabalho de parto.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Utilização de protocolos ou diretrizes para o tratamento de hemorragias.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Simulações ou simulacros de gestão de hemorragias para profissionais de saúde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036957"/>
                  </a:ext>
                </a:extLst>
              </a:tr>
              <a:tr h="478518">
                <a:tc>
                  <a:txBody>
                    <a:bodyPr/>
                    <a:lstStyle/>
                    <a:p>
                      <a:r>
                        <a:rPr lang="pt-PT" b="1" dirty="0">
                          <a:latin typeface="+mn-lt"/>
                        </a:rPr>
                        <a:t>Pré-eclampsia/eclampsia</a:t>
                      </a:r>
                      <a:endParaRPr lang="en-US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Cuidados pré-natais com medição periódica da pressão arterial</a:t>
                      </a:r>
                    </a:p>
                    <a:p>
                      <a:r>
                        <a:rPr lang="pt-PT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Administração intraparto de sulfato de magnésio</a:t>
                      </a:r>
                    </a:p>
                    <a:p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Administração de terapia anti-hipertensiva</a:t>
                      </a:r>
                    </a:p>
                    <a:p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Prevenção</a:t>
                      </a:r>
                      <a:endParaRPr lang="en-US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556510"/>
                  </a:ext>
                </a:extLst>
              </a:tr>
              <a:tr h="478518">
                <a:tc>
                  <a:txBody>
                    <a:bodyPr/>
                    <a:lstStyle/>
                    <a:p>
                      <a:r>
                        <a:rPr lang="pt-PT" b="1" dirty="0" err="1">
                          <a:latin typeface="+mn-lt"/>
                        </a:rPr>
                        <a:t>Infecção</a:t>
                      </a:r>
                      <a:endParaRPr lang="en-US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Ênfase na higiene para reduzir o risco de </a:t>
                      </a:r>
                      <a:r>
                        <a:rPr lang="pt-PT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infecção</a:t>
                      </a:r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 reduzir o risco de infeção bacteriana puerperal em áreas de poucos recursos, a OMS promove a observância de "seis limpezas" no momento do parto</a:t>
                      </a:r>
                    </a:p>
                    <a:p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Parto vaginal planeado (profilaxia para </a:t>
                      </a:r>
                      <a:r>
                        <a:rPr lang="pt-PT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Streptococcus</a:t>
                      </a:r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HIV</a:t>
                      </a:r>
                    </a:p>
                    <a:p>
                      <a:r>
                        <a:rPr lang="pt-PT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Malaria</a:t>
                      </a:r>
                      <a:endParaRPr lang="en-US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076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260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0" y="0"/>
            <a:ext cx="12136580" cy="108712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Exemplos de sucesso na redução da Mortalidade Materna em países com baixos recursos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257565-72C0-20BE-A746-10980E52F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391119"/>
              </p:ext>
            </p:extLst>
          </p:nvPr>
        </p:nvGraphicFramePr>
        <p:xfrm>
          <a:off x="0" y="1188720"/>
          <a:ext cx="12136580" cy="566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8290">
                  <a:extLst>
                    <a:ext uri="{9D8B030D-6E8A-4147-A177-3AD203B41FA5}">
                      <a16:colId xmlns:a16="http://schemas.microsoft.com/office/drawing/2014/main" val="3574485503"/>
                    </a:ext>
                  </a:extLst>
                </a:gridCol>
                <a:gridCol w="6068290">
                  <a:extLst>
                    <a:ext uri="{9D8B030D-6E8A-4147-A177-3AD203B41FA5}">
                      <a16:colId xmlns:a16="http://schemas.microsoft.com/office/drawing/2014/main" val="354069575"/>
                    </a:ext>
                  </a:extLst>
                </a:gridCol>
              </a:tblGrid>
              <a:tr h="108449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RWANDA 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Redução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74% entre 2000-2020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RMM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caiu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1.071 para 203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100.000 NV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Seguro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Saúde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Comunitário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Mutuelles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90% da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população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coberta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Contratos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desempenho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hospitais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vinculados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Enfermeiras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técnicos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cirúrgicos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treinados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cesarianas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anestesia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Comités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auditoria com plano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acção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morte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materna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Lição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MZ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Financiamento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responsabilidade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clara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funcionam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BANGLADESH 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Redução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65% entre 1990-2016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RMM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caiu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569 para 196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100.000 NV</a:t>
                      </a:r>
                    </a:p>
                    <a:p>
                      <a:pPr lvl="0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Agentes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comunitários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saúde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acompanhamento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domiciliar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Foco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hemorragia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pré-eclâmpsia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oxitocina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misoprostol e MgSO4.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Sistemas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ambulância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comunitário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Planeamento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familiar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escala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Lição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MZ: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APEs fortes e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foco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duas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principais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causas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salvam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vidas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71696"/>
                  </a:ext>
                </a:extLst>
              </a:tr>
              <a:tr h="108449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SRI LANKA - RMM de 500 para 30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60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Hoje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RMM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comparável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países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ricos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Parteira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pública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aldeia.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Registro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obrigatório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gravidezes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mortes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Sistema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referência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hierarquizado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Investimento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alfabetização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feminina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nutrição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Lição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MZ: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Atenção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primária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forte e dados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confiáveis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ETIÓPIA 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Redução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60% entre 2005-2016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RMM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caiu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871 para 353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100.000 NV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Extension Workers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atuando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comunidades.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Centros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Saúde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equipados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para-CONE-B.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Casas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espera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materna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grávidas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risco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Campanhas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nacionais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mobilização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Lição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MZ: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Aproximar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serviços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comunidade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fortalecer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CEmONC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83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798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74DD-D692-584F-CC65-0F79020A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factor humano"/>
          <p:cNvPicPr>
            <a:picLocks noChangeAspect="1"/>
          </p:cNvPicPr>
          <p:nvPr/>
        </p:nvPicPr>
        <p:blipFill>
          <a:blip r:embed="rId2"/>
          <a:srcRect t="12734" b="15078"/>
          <a:stretch>
            <a:fillRect/>
          </a:stretch>
        </p:blipFill>
        <p:spPr>
          <a:xfrm>
            <a:off x="1524000" y="1300000"/>
            <a:ext cx="9144000" cy="4400000"/>
          </a:xfrm>
          <a:prstGeom prst="rect">
            <a:avLst/>
          </a:prstGeom>
        </p:spPr>
      </p:pic>
      <p:sp>
        <p:nvSpPr>
          <p:cNvPr id="10" name="Legenda"/>
          <p:cNvSpPr txBox="1"/>
          <p:nvPr/>
        </p:nvSpPr>
        <p:spPr>
          <a:xfrm>
            <a:off x="1524000" y="5820000"/>
            <a:ext cx="9144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pt-BR" sz="2000" b="1" i="1">
                <a:solidFill>
                  <a:srgbClr val="03803B"/>
                </a:solidFill>
                <a:latin typeface="Arial Narrow" panose="020B0606020202030204" pitchFamily="34" charset="0"/>
              </a:rPr>
              <a:t>O factor humano é o motor da mudança</a:t>
            </a:r>
          </a:p>
        </p:txBody>
      </p:sp>
    </p:spTree>
    <p:extLst>
      <p:ext uri="{BB962C8B-B14F-4D97-AF65-F5344CB8AC3E}">
        <p14:creationId xmlns:p14="http://schemas.microsoft.com/office/powerpoint/2010/main" val="3401491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women_group_clapping_500_wht_12480"/>
          <p:cNvPicPr>
            <a:picLocks noChangeAspect="1" noChangeArrowheads="1" noCrop="1"/>
          </p:cNvPicPr>
          <p:nvPr/>
        </p:nvPicPr>
        <p:blipFill>
          <a:blip r:embed="rId2"/>
          <a:srcRect t="2000" b="8522"/>
          <a:stretch>
            <a:fillRect/>
          </a:stretch>
        </p:blipFill>
        <p:spPr bwMode="auto">
          <a:xfrm>
            <a:off x="3467101" y="2515085"/>
            <a:ext cx="3949700" cy="353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74678" y="747640"/>
            <a:ext cx="8382000" cy="186204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15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Muito</a:t>
            </a:r>
            <a:r>
              <a:rPr lang="en-US" altLang="en-US" sz="11500" b="1" dirty="0">
                <a:solidFill>
                  <a:srgbClr val="000000"/>
                </a:solidFill>
                <a:latin typeface="Juice ITC" panose="04040403040A02020202" pitchFamily="82" charset="0"/>
              </a:rPr>
              <a:t> Obrigado</a:t>
            </a:r>
          </a:p>
        </p:txBody>
      </p:sp>
      <p:sp>
        <p:nvSpPr>
          <p:cNvPr id="5" name="Rectangle 1"/>
          <p:cNvSpPr/>
          <p:nvPr/>
        </p:nvSpPr>
        <p:spPr>
          <a:xfrm>
            <a:off x="69851" y="6049186"/>
            <a:ext cx="10744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Maputo Cidade, pela Convergência Económica, Inclusão, Inovação e Progresso Social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8779</TotalTime>
  <Words>1535</Words>
  <Application>Microsoft Office PowerPoint</Application>
  <PresentationFormat>Widescreen</PresentationFormat>
  <Paragraphs>134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Narrow</vt:lpstr>
      <vt:lpstr>Bodoni MT</vt:lpstr>
      <vt:lpstr>Calibri</vt:lpstr>
      <vt:lpstr>Calibri Light</vt:lpstr>
      <vt:lpstr>Juice ITC</vt:lpstr>
      <vt:lpstr>Times New Roman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Benjamim Matingane</cp:lastModifiedBy>
  <cp:revision>1752</cp:revision>
  <dcterms:created xsi:type="dcterms:W3CDTF">2022-05-17T21:12:00Z</dcterms:created>
  <dcterms:modified xsi:type="dcterms:W3CDTF">2026-07-27T23:01:50Z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63BD0A64F7A24D1BAA045F58D81EDD59_13</vt:lpwstr>
  </property>
  <property fmtid="{D5CDD505-2E9C-101B-9397-08002B2CF9AE}" pid="3" name="KSOProductBuildVer">
    <vt:lpwstr>1033-12.2.0.21931</vt:lpwstr>
  </property>
</Properties>
</file>
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3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4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660" r:id="rId2"/>
    <p:sldId id="682" r:id="rId3"/>
    <p:sldId id="661" r:id="rId4"/>
    <p:sldId id="663" r:id="rId5"/>
    <p:sldId id="665" r:id="rId6"/>
    <p:sldId id="679" r:id="rId7"/>
    <p:sldId id="668" r:id="rId8"/>
    <p:sldId id="691" r:id="rId9"/>
    <p:sldId id="695" r:id="rId10"/>
    <p:sldId id="683" r:id="rId11"/>
    <p:sldId id="692" r:id="rId12"/>
    <p:sldId id="688" r:id="rId13"/>
    <p:sldId id="690" r:id="rId14"/>
    <p:sldId id="693" r:id="rId15"/>
    <p:sldId id="684" r:id="rId16"/>
    <p:sldId id="685" r:id="rId17"/>
    <p:sldId id="686" r:id="rId18"/>
    <p:sldId id="694" r:id="rId19"/>
    <p:sldId id="689" r:id="rId20"/>
    <p:sldId id="687" r:id="rId21"/>
    <p:sldId id="680" r:id="rId22"/>
    <p:sldId id="672" r:id="rId23"/>
    <p:sldId id="673" r:id="rId24"/>
    <p:sldId id="674" r:id="rId25"/>
    <p:sldId id="6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7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3E1C"/>
    <a:srgbClr val="EFF505"/>
    <a:srgbClr val="94C765"/>
    <a:srgbClr val="FFFF99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434" autoAdjust="0"/>
  </p:normalViewPr>
  <p:slideViewPr>
    <p:cSldViewPr snapToGrid="0" showGuides="1">
      <p:cViewPr varScale="1">
        <p:scale>
          <a:sx n="90" d="100"/>
          <a:sy n="90" d="100"/>
        </p:scale>
        <p:origin x="162" y="84"/>
      </p:cViewPr>
      <p:guideLst>
        <p:guide orient="horz" pos="2150"/>
        <p:guide pos="37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197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Admitidos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D8C-40B6-AAF6-51562DD961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I Semestre 2025</c:v>
                </c:pt>
                <c:pt idx="1">
                  <c:v>I Semestre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41334</c:v>
                </c:pt>
                <c:pt idx="1">
                  <c:v>47489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8C-40B6-AAF6-51562DD961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2079631"/>
        <c:axId val="832078799"/>
      </c:barChart>
      <c:catAx>
        <c:axId val="832079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pt-PT"/>
          </a:p>
        </c:txPr>
        <c:crossAx val="832078799"/>
        <c:crosses val="autoZero"/>
        <c:auto val="1"/>
        <c:lblAlgn val="ctr"/>
        <c:lblOffset val="100"/>
        <c:noMultiLvlLbl val="0"/>
      </c:catAx>
      <c:valAx>
        <c:axId val="832078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832079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Admitidos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8235</c:v>
                </c:pt>
                <c:pt idx="1">
                  <c:v>10421</c:v>
                </c:pt>
                <c:pt idx="2">
                  <c:v>7309</c:v>
                </c:pt>
                <c:pt idx="3">
                  <c:v>7843</c:v>
                </c:pt>
                <c:pt idx="4">
                  <c:v>7085</c:v>
                </c:pt>
                <c:pt idx="5">
                  <c:v>6596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C9-4744-A85C-0FCC354DE0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Triados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1.3885117499700828E-2"/>
                  <c:y val="-3.518323679050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C4C9-47F5-A6CC-99A48BAC7A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8235</c:v>
                </c:pt>
                <c:pt idx="1">
                  <c:v>10421</c:v>
                </c:pt>
                <c:pt idx="2">
                  <c:v>7309</c:v>
                </c:pt>
                <c:pt idx="3">
                  <c:v>7843</c:v>
                </c:pt>
                <c:pt idx="4">
                  <c:v>7085</c:v>
                </c:pt>
                <c:pt idx="5">
                  <c:v>6596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C9-4744-A85C-0FCC354DE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4843327"/>
        <c:axId val="954839999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Taxa de cobertura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6874999999999998E-3"/>
                  <c:y val="-4.21874974048045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3FC9-4744-A85C-0FCC354DE067}"/>
                </c:ext>
              </c:extLst>
            </c:dLbl>
            <c:dLbl>
              <c:idx val="1"/>
              <c:layout>
                <c:manualLayout>
                  <c:x val="-3.4375000000000003E-2"/>
                  <c:y val="2.34374985582247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3FC9-4744-A85C-0FCC354DE067}"/>
                </c:ext>
              </c:extLst>
            </c:dLbl>
            <c:dLbl>
              <c:idx val="2"/>
              <c:layout>
                <c:manualLayout>
                  <c:x val="-1.5625000000000573E-3"/>
                  <c:y val="-3.51562478373371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3FC9-4744-A85C-0FCC354DE067}"/>
                </c:ext>
              </c:extLst>
            </c:dLbl>
            <c:dLbl>
              <c:idx val="3"/>
              <c:layout>
                <c:manualLayout>
                  <c:x val="-6.2500000000000003E-3"/>
                  <c:y val="-4.6874997116449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3FC9-4744-A85C-0FCC354DE067}"/>
                </c:ext>
              </c:extLst>
            </c:dLbl>
            <c:dLbl>
              <c:idx val="4"/>
              <c:layout>
                <c:manualLayout>
                  <c:x val="-6.2500000000001148E-3"/>
                  <c:y val="-5.1562496828094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3FC9-4744-A85C-0FCC354DE06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Sheet1!$D$2:$D$7</c:f>
              <c:numCache>
                <c:formatCode>0%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FC9-4744-A85C-0FCC354DE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54837503"/>
        <c:axId val="954844991"/>
      </c:lineChart>
      <c:catAx>
        <c:axId val="954837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954844991"/>
        <c:crosses val="autoZero"/>
        <c:auto val="1"/>
        <c:lblAlgn val="ctr"/>
        <c:lblOffset val="100"/>
        <c:noMultiLvlLbl val="0"/>
      </c:catAx>
      <c:valAx>
        <c:axId val="954844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954837503"/>
        <c:crosses val="autoZero"/>
        <c:crossBetween val="between"/>
      </c:valAx>
      <c:valAx>
        <c:axId val="95483999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954843327"/>
        <c:crosses val="max"/>
        <c:crossBetween val="between"/>
      </c:valAx>
      <c:catAx>
        <c:axId val="9548433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548399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177260728536874E-2"/>
          <c:y val="2.6255526926834277E-2"/>
          <c:w val="0.9149459946337285"/>
          <c:h val="0.809607326859248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B7B-4850-828E-A98697B71A2C}"/>
              </c:ext>
            </c:extLst>
          </c:dPt>
          <c:dPt>
            <c:idx val="2"/>
            <c:invertIfNegative val="0"/>
            <c:bubble3D val="0"/>
            <c:spPr>
              <a:solidFill>
                <a:srgbClr val="FF66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B7B-4850-828E-A98697B71A2C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B7B-4850-828E-A98697B71A2C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B7B-4850-828E-A98697B71A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Total</c:v>
                </c:pt>
                <c:pt idx="1">
                  <c:v>Vermelho</c:v>
                </c:pt>
                <c:pt idx="2">
                  <c:v>Laranja</c:v>
                </c:pt>
                <c:pt idx="3">
                  <c:v>Amarelo</c:v>
                </c:pt>
                <c:pt idx="4">
                  <c:v>Verde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47489</c:v>
                </c:pt>
                <c:pt idx="1">
                  <c:v>749</c:v>
                </c:pt>
                <c:pt idx="2">
                  <c:v>2862</c:v>
                </c:pt>
                <c:pt idx="3">
                  <c:v>5189</c:v>
                </c:pt>
                <c:pt idx="4">
                  <c:v>38689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B-4850-828E-A98697B71A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0687200"/>
        <c:axId val="560681792"/>
      </c:barChart>
      <c:catAx>
        <c:axId val="560687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560681792"/>
        <c:crosses val="autoZero"/>
        <c:auto val="1"/>
        <c:lblAlgn val="ctr"/>
        <c:lblOffset val="100"/>
        <c:noMultiLvlLbl val="0"/>
      </c:catAx>
      <c:valAx>
        <c:axId val="5606817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560687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562035708783942E-2"/>
          <c:y val="2.2817218343331613E-2"/>
          <c:w val="0.92687733759842517"/>
          <c:h val="0.767486542354420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 vermelhos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</c:v>
                </c:pt>
                <c:pt idx="1">
                  <c:v>Vevereiro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143</c:v>
                </c:pt>
                <c:pt idx="1">
                  <c:v>200</c:v>
                </c:pt>
                <c:pt idx="2">
                  <c:v>120</c:v>
                </c:pt>
                <c:pt idx="3">
                  <c:v>86</c:v>
                </c:pt>
                <c:pt idx="4">
                  <c:v>102</c:v>
                </c:pt>
                <c:pt idx="5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62-436C-A05F-314E3E25E0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Atenidos em &lt;10min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</c:v>
                </c:pt>
                <c:pt idx="1">
                  <c:v>Vevereiro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53</c:v>
                </c:pt>
                <c:pt idx="1">
                  <c:v>109</c:v>
                </c:pt>
                <c:pt idx="2">
                  <c:v>84</c:v>
                </c:pt>
                <c:pt idx="3">
                  <c:v>78</c:v>
                </c:pt>
                <c:pt idx="4">
                  <c:v>94</c:v>
                </c:pt>
                <c:pt idx="5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62-436C-A05F-314E3E25E0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68676816"/>
        <c:axId val="1768680144"/>
      </c:barChart>
      <c:catAx>
        <c:axId val="1768676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768680144"/>
        <c:crosses val="autoZero"/>
        <c:auto val="1"/>
        <c:lblAlgn val="ctr"/>
        <c:lblOffset val="100"/>
        <c:noMultiLvlLbl val="0"/>
      </c:catAx>
      <c:valAx>
        <c:axId val="1768680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768676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 doentes laranja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 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693</c:v>
                </c:pt>
                <c:pt idx="1">
                  <c:v>661</c:v>
                </c:pt>
                <c:pt idx="2">
                  <c:v>406</c:v>
                </c:pt>
                <c:pt idx="3">
                  <c:v>444</c:v>
                </c:pt>
                <c:pt idx="4">
                  <c:v>358</c:v>
                </c:pt>
                <c:pt idx="5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32-408C-91C8-7BB0FA76DE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Atendidos em &lt;30min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 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686</c:v>
                </c:pt>
                <c:pt idx="1">
                  <c:v>657</c:v>
                </c:pt>
                <c:pt idx="2">
                  <c:v>398</c:v>
                </c:pt>
                <c:pt idx="3">
                  <c:v>440</c:v>
                </c:pt>
                <c:pt idx="4">
                  <c:v>353</c:v>
                </c:pt>
                <c:pt idx="5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32-408C-91C8-7BB0FA76DE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86615072"/>
        <c:axId val="1686603840"/>
      </c:barChart>
      <c:catAx>
        <c:axId val="1686615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686603840"/>
        <c:crosses val="autoZero"/>
        <c:auto val="1"/>
        <c:lblAlgn val="ctr"/>
        <c:lblOffset val="100"/>
        <c:noMultiLvlLbl val="0"/>
      </c:catAx>
      <c:valAx>
        <c:axId val="1686603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686615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Doentes Amarelos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 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791</c:v>
                </c:pt>
                <c:pt idx="1">
                  <c:v>1312</c:v>
                </c:pt>
                <c:pt idx="2">
                  <c:v>938</c:v>
                </c:pt>
                <c:pt idx="3">
                  <c:v>924</c:v>
                </c:pt>
                <c:pt idx="4">
                  <c:v>794</c:v>
                </c:pt>
                <c:pt idx="5">
                  <c:v>424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63-4142-A28E-CC1180FF57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09002272"/>
        <c:axId val="1809006848"/>
      </c:barChart>
      <c:catAx>
        <c:axId val="1809002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09006848"/>
        <c:crosses val="autoZero"/>
        <c:auto val="1"/>
        <c:lblAlgn val="ctr"/>
        <c:lblOffset val="100"/>
        <c:noMultiLvlLbl val="0"/>
      </c:catAx>
      <c:valAx>
        <c:axId val="1809006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09002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Doentes verdes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6608</c:v>
                </c:pt>
                <c:pt idx="1">
                  <c:v>8248</c:v>
                </c:pt>
                <c:pt idx="2">
                  <c:v>5845</c:v>
                </c:pt>
                <c:pt idx="3">
                  <c:v>6389</c:v>
                </c:pt>
                <c:pt idx="4">
                  <c:v>5831</c:v>
                </c:pt>
                <c:pt idx="5">
                  <c:v>5774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69-4FEA-BCB5-E16326424A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08998528"/>
        <c:axId val="1809004352"/>
      </c:barChart>
      <c:catAx>
        <c:axId val="1808998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09004352"/>
        <c:crosses val="autoZero"/>
        <c:auto val="1"/>
        <c:lblAlgn val="ctr"/>
        <c:lblOffset val="100"/>
        <c:noMultiLvlLbl val="0"/>
      </c:catAx>
      <c:valAx>
        <c:axId val="1809004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0899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Doentes triados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8235</c:v>
                </c:pt>
                <c:pt idx="1">
                  <c:v>10421</c:v>
                </c:pt>
                <c:pt idx="2">
                  <c:v>7309</c:v>
                </c:pt>
                <c:pt idx="3">
                  <c:v>7843</c:v>
                </c:pt>
                <c:pt idx="4">
                  <c:v>7085</c:v>
                </c:pt>
                <c:pt idx="5">
                  <c:v>6596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9E-4809-AD4D-009D2606BB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Botentíns reclassificados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42</c:v>
                </c:pt>
                <c:pt idx="2">
                  <c:v>58</c:v>
                </c:pt>
                <c:pt idx="3">
                  <c:v>84</c:v>
                </c:pt>
                <c:pt idx="4">
                  <c:v>92</c:v>
                </c:pt>
                <c:pt idx="5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9E-4809-AD4D-009D2606B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09003520"/>
        <c:axId val="1809011840"/>
      </c:barChart>
      <c:catAx>
        <c:axId val="1809003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09011840"/>
        <c:crosses val="autoZero"/>
        <c:auto val="1"/>
        <c:lblAlgn val="ctr"/>
        <c:lblOffset val="100"/>
        <c:noMultiLvlLbl val="0"/>
      </c:catAx>
      <c:valAx>
        <c:axId val="1809011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09003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0.40605</cdr:x>
      <cdr:y>0.29354</cdr:y>
    </cdr:from>
    <cdr:to>
      <cdr:x>0.53911</cdr:x>
      <cdr:y>0.47025</cdr:y>
    </cdr:to>
    <cdr:sp macro="" textlink="">
      <cdr:nvSpPr>
        <cdr:cNvPr id="2" name="Oval 1"/>
        <cdr:cNvSpPr/>
      </cdr:nvSpPr>
      <cdr:spPr>
        <a:xfrm xmlns:a="http://schemas.openxmlformats.org/drawingml/2006/main">
          <a:off x="3300373" y="1258777"/>
          <a:ext cx="1081489" cy="757763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Evol</a:t>
          </a:r>
          <a:r>
            <a:rPr lang="pt-PT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 </a:t>
          </a:r>
          <a:r>
            <a:rPr lang="pt-PT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15%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0.85473</cdr:x>
      <cdr:y>0.04897</cdr:y>
    </cdr:from>
    <cdr:to>
      <cdr:x>0.93946</cdr:x>
      <cdr:y>0.12088</cdr:y>
    </cdr:to>
    <cdr:sp macro="" textlink="">
      <cdr:nvSpPr>
        <cdr:cNvPr id="2" name="Oval 1"/>
        <cdr:cNvSpPr/>
      </cdr:nvSpPr>
      <cdr:spPr>
        <a:xfrm xmlns:a="http://schemas.openxmlformats.org/drawingml/2006/main">
          <a:off x="7520816" y="220395"/>
          <a:ext cx="745543" cy="323688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81%</a:t>
          </a:r>
          <a:endParaRPr lang="en-US" sz="1400" dirty="0">
            <a:solidFill>
              <a:schemeClr val="tx1"/>
            </a:solidFill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0.87304</cdr:x>
      <cdr:y>0.31059</cdr:y>
    </cdr:from>
    <cdr:to>
      <cdr:x>0.94616</cdr:x>
      <cdr:y>0.38053</cdr:y>
    </cdr:to>
    <cdr:sp macro="" textlink="">
      <cdr:nvSpPr>
        <cdr:cNvPr id="2" name="Oval 1"/>
        <cdr:cNvSpPr/>
      </cdr:nvSpPr>
      <cdr:spPr>
        <a:xfrm xmlns:a="http://schemas.openxmlformats.org/drawingml/2006/main">
          <a:off x="8863633" y="1427474"/>
          <a:ext cx="742344" cy="321429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89%</a:t>
          </a:r>
          <a:endParaRPr lang="en-US" sz="14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0.72202</cdr:x>
      <cdr:y>0.28381</cdr:y>
    </cdr:from>
    <cdr:to>
      <cdr:x>0.79434</cdr:x>
      <cdr:y>0.37037</cdr:y>
    </cdr:to>
    <cdr:sp macro="" textlink="">
      <cdr:nvSpPr>
        <cdr:cNvPr id="3" name="Oval 2"/>
        <cdr:cNvSpPr/>
      </cdr:nvSpPr>
      <cdr:spPr>
        <a:xfrm xmlns:a="http://schemas.openxmlformats.org/drawingml/2006/main">
          <a:off x="7330371" y="1304377"/>
          <a:ext cx="734189" cy="397822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92%</a:t>
          </a:r>
          <a:endParaRPr lang="en-US" sz="14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0.57114</cdr:x>
      <cdr:y>0.34458</cdr:y>
    </cdr:from>
    <cdr:to>
      <cdr:x>0.64254</cdr:x>
      <cdr:y>0.43114</cdr:y>
    </cdr:to>
    <cdr:sp macro="" textlink="">
      <cdr:nvSpPr>
        <cdr:cNvPr id="4" name="Oval 3"/>
        <cdr:cNvSpPr/>
      </cdr:nvSpPr>
      <cdr:spPr>
        <a:xfrm xmlns:a="http://schemas.openxmlformats.org/drawingml/2006/main">
          <a:off x="5798525" y="1583681"/>
          <a:ext cx="724905" cy="397822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91%</a:t>
          </a:r>
          <a:endParaRPr lang="en-US" sz="14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0.4076</cdr:x>
      <cdr:y>0.26659</cdr:y>
    </cdr:from>
    <cdr:to>
      <cdr:x>0.479</cdr:x>
      <cdr:y>0.35315</cdr:y>
    </cdr:to>
    <cdr:sp macro="" textlink="">
      <cdr:nvSpPr>
        <cdr:cNvPr id="5" name="Oval 4"/>
        <cdr:cNvSpPr/>
      </cdr:nvSpPr>
      <cdr:spPr>
        <a:xfrm xmlns:a="http://schemas.openxmlformats.org/drawingml/2006/main">
          <a:off x="4138194" y="1225259"/>
          <a:ext cx="724905" cy="397822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70%</a:t>
          </a:r>
          <a:endParaRPr lang="en-US" sz="14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0.25978</cdr:x>
      <cdr:y>0.04954</cdr:y>
    </cdr:from>
    <cdr:to>
      <cdr:x>0.32893</cdr:x>
      <cdr:y>0.11828</cdr:y>
    </cdr:to>
    <cdr:sp macro="" textlink="">
      <cdr:nvSpPr>
        <cdr:cNvPr id="6" name="Oval 5"/>
        <cdr:cNvSpPr/>
      </cdr:nvSpPr>
      <cdr:spPr>
        <a:xfrm xmlns:a="http://schemas.openxmlformats.org/drawingml/2006/main">
          <a:off x="2637453" y="227694"/>
          <a:ext cx="702050" cy="315926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55%</a:t>
          </a:r>
          <a:endParaRPr lang="en-US" sz="14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0.10016</cdr:x>
      <cdr:y>0.2701</cdr:y>
    </cdr:from>
    <cdr:to>
      <cdr:x>0.17156</cdr:x>
      <cdr:y>0.35666</cdr:y>
    </cdr:to>
    <cdr:sp macro="" textlink="">
      <cdr:nvSpPr>
        <cdr:cNvPr id="7" name="Oval 6"/>
        <cdr:cNvSpPr/>
      </cdr:nvSpPr>
      <cdr:spPr>
        <a:xfrm xmlns:a="http://schemas.openxmlformats.org/drawingml/2006/main">
          <a:off x="1016835" y="1241362"/>
          <a:ext cx="724894" cy="397827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37%</a:t>
          </a:r>
          <a:endParaRPr lang="en-US" sz="1400" dirty="0">
            <a:solidFill>
              <a:schemeClr val="tx1"/>
            </a:solidFill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0.70812</cdr:x>
      <cdr:y>0.43006</cdr:y>
    </cdr:from>
    <cdr:to>
      <cdr:x>0.79731</cdr:x>
      <cdr:y>0.5</cdr:y>
    </cdr:to>
    <cdr:sp macro="" textlink="">
      <cdr:nvSpPr>
        <cdr:cNvPr id="2" name="Oval 1"/>
        <cdr:cNvSpPr/>
      </cdr:nvSpPr>
      <cdr:spPr>
        <a:xfrm xmlns:a="http://schemas.openxmlformats.org/drawingml/2006/main">
          <a:off x="5755638" y="2330365"/>
          <a:ext cx="724905" cy="378968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99%</a:t>
          </a:r>
          <a:endParaRPr lang="en-US" sz="14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0.41081</cdr:x>
      <cdr:y>0.38088</cdr:y>
    </cdr:from>
    <cdr:to>
      <cdr:x>0.5</cdr:x>
      <cdr:y>0.45081</cdr:y>
    </cdr:to>
    <cdr:sp macro="" textlink="">
      <cdr:nvSpPr>
        <cdr:cNvPr id="3" name="Oval 2"/>
        <cdr:cNvSpPr/>
      </cdr:nvSpPr>
      <cdr:spPr>
        <a:xfrm xmlns:a="http://schemas.openxmlformats.org/drawingml/2006/main">
          <a:off x="3339095" y="2063840"/>
          <a:ext cx="724905" cy="378968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98%</a:t>
          </a:r>
          <a:endParaRPr lang="en-US" sz="14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0.55758</cdr:x>
      <cdr:y>0.33652</cdr:y>
    </cdr:from>
    <cdr:to>
      <cdr:x>0.64677</cdr:x>
      <cdr:y>0.40646</cdr:y>
    </cdr:to>
    <cdr:sp macro="" textlink="">
      <cdr:nvSpPr>
        <cdr:cNvPr id="4" name="Oval 3"/>
        <cdr:cNvSpPr/>
      </cdr:nvSpPr>
      <cdr:spPr>
        <a:xfrm xmlns:a="http://schemas.openxmlformats.org/drawingml/2006/main">
          <a:off x="4532035" y="1823485"/>
          <a:ext cx="724905" cy="378968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99%</a:t>
          </a:r>
          <a:endParaRPr lang="en-US" sz="14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0.8614</cdr:x>
      <cdr:y>0.5</cdr:y>
    </cdr:from>
    <cdr:to>
      <cdr:x>0.95059</cdr:x>
      <cdr:y>0.56994</cdr:y>
    </cdr:to>
    <cdr:sp macro="" textlink="">
      <cdr:nvSpPr>
        <cdr:cNvPr id="5" name="Oval 4"/>
        <cdr:cNvSpPr/>
      </cdr:nvSpPr>
      <cdr:spPr>
        <a:xfrm xmlns:a="http://schemas.openxmlformats.org/drawingml/2006/main">
          <a:off x="7001486" y="2709333"/>
          <a:ext cx="724905" cy="378968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98%</a:t>
          </a:r>
          <a:endParaRPr lang="en-US" sz="14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0.24339</cdr:x>
      <cdr:y>0.11223</cdr:y>
    </cdr:from>
    <cdr:to>
      <cdr:x>0.33258</cdr:x>
      <cdr:y>0.18217</cdr:y>
    </cdr:to>
    <cdr:sp macro="" textlink="">
      <cdr:nvSpPr>
        <cdr:cNvPr id="6" name="Oval 5"/>
        <cdr:cNvSpPr/>
      </cdr:nvSpPr>
      <cdr:spPr>
        <a:xfrm xmlns:a="http://schemas.openxmlformats.org/drawingml/2006/main">
          <a:off x="1978268" y="608137"/>
          <a:ext cx="724905" cy="378968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3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pt-PT" sz="1400" dirty="0" smtClean="0">
              <a:solidFill>
                <a:schemeClr val="tx1"/>
              </a:solidFill>
            </a:rPr>
            <a:t>99%</a:t>
          </a:r>
          <a:endParaRPr lang="en-US" sz="1400" dirty="0">
            <a:solidFill>
              <a:schemeClr val="tx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  <a:t>23/07/2026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2101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  <a:t>23/07/2026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66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 smtClean="0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567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461" y="0"/>
            <a:ext cx="1033802" cy="940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59467" y="865330"/>
            <a:ext cx="9029444" cy="15696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REPÚBLICA DE MOÇAMBIQUE</a:t>
            </a:r>
          </a:p>
          <a:p>
            <a:pPr algn="ctr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CIDADE DE MAPUTO</a:t>
            </a:r>
          </a:p>
          <a:p>
            <a:pPr algn="ctr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CONSELHO DOS SERVIÇOS DE REPRESENTAÇÃO DO ESTADO</a:t>
            </a:r>
          </a:p>
          <a:p>
            <a:pPr algn="ctr"/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SERVIÇO DE SAÚDE DA CIDADE</a:t>
            </a:r>
          </a:p>
        </p:txBody>
      </p:sp>
      <p:sp>
        <p:nvSpPr>
          <p:cNvPr id="8" name="Footer Placeholder 3"/>
          <p:cNvSpPr txBox="1"/>
          <p:nvPr/>
        </p:nvSpPr>
        <p:spPr>
          <a:xfrm>
            <a:off x="922879" y="6280683"/>
            <a:ext cx="9782827" cy="365125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latin typeface="Arial Narrow" panose="020B0606020202030204" pitchFamily="34" charset="0"/>
                <a:cs typeface="Arial" panose="020B0604020202020204" pitchFamily="34" charset="0"/>
              </a:rPr>
              <a:t>Cidade de </a:t>
            </a:r>
            <a:r>
              <a:rPr lang="pt-BR" sz="1600" dirty="0" smtClean="0">
                <a:latin typeface="Arial Narrow" panose="020B0606020202030204" pitchFamily="34" charset="0"/>
                <a:cs typeface="Arial" panose="020B0604020202020204" pitchFamily="34" charset="0"/>
              </a:rPr>
              <a:t>Maputo,Junho </a:t>
            </a:r>
            <a:r>
              <a:rPr lang="pt-BR" sz="1600" dirty="0">
                <a:latin typeface="Arial Narrow" panose="020B0606020202030204" pitchFamily="34" charset="0"/>
                <a:cs typeface="Arial" panose="020B0604020202020204" pitchFamily="34" charset="0"/>
              </a:rPr>
              <a:t>de 2026</a:t>
            </a:r>
            <a:endParaRPr lang="en-US" sz="16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5038" y="2493607"/>
            <a:ext cx="10842186" cy="252205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 sz="4000" b="1" dirty="0"/>
          </a:p>
          <a:p>
            <a:pPr algn="ctr"/>
            <a:r>
              <a:rPr lang="pt-P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Boas Práticas no Serviço de Urgência do </a:t>
            </a:r>
            <a:r>
              <a:rPr lang="pt-PT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HGPC</a:t>
            </a:r>
            <a:endParaRPr lang="pt-PT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Impacto da Implementação do Sistema  </a:t>
            </a:r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Triagem e Funcionamento do SUR do HGPC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ZA" sz="4000" b="1" dirty="0">
              <a:solidFill>
                <a:schemeClr val="bg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1043524" y="5395018"/>
            <a:ext cx="9662182" cy="86667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pt-PT" altLang="pt-PT" sz="2400" b="1" kern="0" dirty="0">
              <a:solidFill>
                <a:srgbClr val="002060"/>
              </a:solidFill>
              <a:latin typeface="Arial Narrow" panose="020B0606020202030204" pitchFamily="34" charset="0"/>
              <a:ea typeface="Kozuka Gothic Pro B" pitchFamily="34" charset="-128"/>
              <a:cs typeface="Arial" panose="020B0604020202020204" pitchFamily="34" charset="0"/>
            </a:endParaRPr>
          </a:p>
          <a:p>
            <a:pPr marL="0" lv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pt-PT" altLang="pt-PT" sz="2400" b="1" kern="0" dirty="0">
              <a:solidFill>
                <a:srgbClr val="002060"/>
              </a:solidFill>
              <a:latin typeface="Arial Narrow" panose="020B0606020202030204" pitchFamily="34" charset="0"/>
              <a:ea typeface="Kozuka Gothic Pro B" pitchFamily="34" charset="-128"/>
              <a:cs typeface="Arial" panose="020B0604020202020204" pitchFamily="34" charset="0"/>
            </a:endParaRPr>
          </a:p>
          <a:p>
            <a:pPr mar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PT" altLang="pt-PT" sz="2400" b="1" kern="0" dirty="0">
                <a:solidFill>
                  <a:srgbClr val="002060"/>
                </a:solidFill>
                <a:latin typeface="Arial Narrow" panose="020B0606020202030204" pitchFamily="34" charset="0"/>
                <a:ea typeface="Kozuka Gothic Pro B" pitchFamily="34" charset="-128"/>
                <a:cs typeface="Arial" panose="020B0604020202020204" pitchFamily="34" charset="0"/>
              </a:rPr>
              <a:t>“</a:t>
            </a:r>
            <a:r>
              <a:rPr lang="pt-BR" sz="2400" b="1" i="1" dirty="0">
                <a:solidFill>
                  <a:srgbClr val="00B050"/>
                </a:solidFill>
                <a:latin typeface="Bodoni MT" panose="02070603080606020203"/>
              </a:rPr>
              <a:t>Maputo Cidade, pela Convergência Económica, Inclusão, Inovação e Progresso Social. </a:t>
            </a:r>
            <a:r>
              <a:rPr lang="pt-PT" altLang="pt-PT" sz="2400" b="1" kern="0" dirty="0">
                <a:solidFill>
                  <a:srgbClr val="002060"/>
                </a:solidFill>
                <a:latin typeface="Arial Narrow" panose="020B0606020202030204" pitchFamily="34" charset="0"/>
                <a:ea typeface="Kozuka Gothic Pro B" pitchFamily="34" charset="-128"/>
                <a:cs typeface="Arial" panose="020B0604020202020204" pitchFamily="34" charset="0"/>
              </a:rPr>
              <a:t>”</a:t>
            </a:r>
          </a:p>
          <a:p>
            <a:pPr mar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PT" altLang="pt-PT" sz="2400" b="1" kern="0" dirty="0">
                <a:solidFill>
                  <a:srgbClr val="002060"/>
                </a:solidFill>
                <a:latin typeface="Arial Narrow" panose="020B0606020202030204" pitchFamily="34" charset="0"/>
                <a:ea typeface="Kozuka Gothic Pro B" pitchFamily="34" charset="-128"/>
                <a:cs typeface="Arial" panose="020B0604020202020204" pitchFamily="34" charset="0"/>
              </a:rPr>
              <a:t>.</a:t>
            </a:r>
          </a:p>
          <a:p>
            <a:pPr marL="0" indent="0" algn="ctr">
              <a:buNone/>
            </a:pPr>
            <a:endParaRPr lang="en-US" sz="2700" b="1" i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7" name="Estrela de 10 Pontos 6"/>
          <p:cNvSpPr/>
          <p:nvPr/>
        </p:nvSpPr>
        <p:spPr>
          <a:xfrm>
            <a:off x="11535451" y="6261694"/>
            <a:ext cx="568318" cy="457200"/>
          </a:xfrm>
          <a:prstGeom prst="star10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8849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7A170-F4DA-4AF2-AEB4-AEEF2A9E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5698" y="6492875"/>
            <a:ext cx="6297612" cy="365125"/>
          </a:xfrm>
        </p:spPr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D439845-BCC5-4B5D-8BFD-302E28CF924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331246" y="133904"/>
            <a:ext cx="7906471" cy="762812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kumimoji="0" lang="pt-PT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Estrutura da apresentação</a:t>
            </a:r>
          </a:p>
        </p:txBody>
      </p:sp>
      <p:grpSp>
        <p:nvGrpSpPr>
          <p:cNvPr id="8" name="Google Shape;108;p15">
            <a:extLst>
              <a:ext uri="{FF2B5EF4-FFF2-40B4-BE49-F238E27FC236}">
                <a16:creationId xmlns:a16="http://schemas.microsoft.com/office/drawing/2014/main" id="{4CD04DD3-2C22-44E4-9FF0-2671138CD71F}"/>
              </a:ext>
            </a:extLst>
          </p:cNvPr>
          <p:cNvGrpSpPr/>
          <p:nvPr/>
        </p:nvGrpSpPr>
        <p:grpSpPr>
          <a:xfrm>
            <a:off x="815698" y="1137445"/>
            <a:ext cx="8966058" cy="5404205"/>
            <a:chOff x="0" y="0"/>
            <a:chExt cx="8966058" cy="5404205"/>
          </a:xfrm>
        </p:grpSpPr>
        <p:sp>
          <p:nvSpPr>
            <p:cNvPr id="9" name="Google Shape;109;p15">
              <a:extLst>
                <a:ext uri="{FF2B5EF4-FFF2-40B4-BE49-F238E27FC236}">
                  <a16:creationId xmlns:a16="http://schemas.microsoft.com/office/drawing/2014/main" id="{DC12AE48-8465-47F3-9343-18144BE4714B}"/>
                </a:ext>
              </a:extLst>
            </p:cNvPr>
            <p:cNvSpPr/>
            <p:nvPr/>
          </p:nvSpPr>
          <p:spPr>
            <a:xfrm>
              <a:off x="0" y="0"/>
              <a:ext cx="6903865" cy="972757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rgbClr val="3A66B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0;p15">
              <a:extLst>
                <a:ext uri="{FF2B5EF4-FFF2-40B4-BE49-F238E27FC236}">
                  <a16:creationId xmlns:a16="http://schemas.microsoft.com/office/drawing/2014/main" id="{87DB09E4-5E7D-43E0-8EC9-7BD1585E11FC}"/>
                </a:ext>
              </a:extLst>
            </p:cNvPr>
            <p:cNvSpPr txBox="1"/>
            <p:nvPr/>
          </p:nvSpPr>
          <p:spPr>
            <a:xfrm>
              <a:off x="28491" y="28491"/>
              <a:ext cx="5740372" cy="91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pt-PT" sz="2800" dirty="0">
                  <a:solidFill>
                    <a:schemeClr val="dk1"/>
                  </a:solidFill>
                  <a:highlight>
                    <a:schemeClr val="lt1"/>
                  </a:highlight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Fluxo dos pacientes no SUR</a:t>
              </a:r>
              <a:endParaRPr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Google Shape;111;p15">
              <a:extLst>
                <a:ext uri="{FF2B5EF4-FFF2-40B4-BE49-F238E27FC236}">
                  <a16:creationId xmlns:a16="http://schemas.microsoft.com/office/drawing/2014/main" id="{1DC44B0E-69F4-4907-8BAC-33C043C4270A}"/>
                </a:ext>
              </a:extLst>
            </p:cNvPr>
            <p:cNvSpPr/>
            <p:nvPr/>
          </p:nvSpPr>
          <p:spPr>
            <a:xfrm>
              <a:off x="515548" y="1107862"/>
              <a:ext cx="6903865" cy="972757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rgbClr val="3A66B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2;p15">
              <a:extLst>
                <a:ext uri="{FF2B5EF4-FFF2-40B4-BE49-F238E27FC236}">
                  <a16:creationId xmlns:a16="http://schemas.microsoft.com/office/drawing/2014/main" id="{AFCE6F96-63E7-4419-8CFA-AB3B5C39906E}"/>
                </a:ext>
              </a:extLst>
            </p:cNvPr>
            <p:cNvSpPr txBox="1"/>
            <p:nvPr/>
          </p:nvSpPr>
          <p:spPr>
            <a:xfrm>
              <a:off x="544039" y="1136353"/>
              <a:ext cx="5699042" cy="91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pt-PT" sz="2800" dirty="0">
                  <a:solidFill>
                    <a:schemeClr val="dk1"/>
                  </a:solidFill>
                  <a:highlight>
                    <a:schemeClr val="lt1"/>
                  </a:highlight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Descrição das </a:t>
              </a:r>
              <a:r>
                <a:rPr lang="pt-PT" sz="2800" dirty="0" err="1">
                  <a:solidFill>
                    <a:schemeClr val="dk1"/>
                  </a:solidFill>
                  <a:highlight>
                    <a:schemeClr val="lt1"/>
                  </a:highlight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actividades</a:t>
              </a:r>
              <a:r>
                <a:rPr lang="pt-PT" sz="2800" dirty="0">
                  <a:solidFill>
                    <a:schemeClr val="dk1"/>
                  </a:solidFill>
                  <a:highlight>
                    <a:schemeClr val="lt1"/>
                  </a:highlight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 </a:t>
              </a:r>
              <a:r>
                <a:rPr lang="pt-PT" sz="2800" dirty="0" smtClean="0">
                  <a:solidFill>
                    <a:schemeClr val="dk1"/>
                  </a:solidFill>
                  <a:highlight>
                    <a:schemeClr val="lt1"/>
                  </a:highlight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da </a:t>
              </a:r>
              <a:r>
                <a:rPr lang="pt-PT" sz="2800" dirty="0">
                  <a:solidFill>
                    <a:schemeClr val="dk1"/>
                  </a:solidFill>
                  <a:highlight>
                    <a:schemeClr val="lt1"/>
                  </a:highlight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triagem e admissão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Google Shape;113;p15">
              <a:extLst>
                <a:ext uri="{FF2B5EF4-FFF2-40B4-BE49-F238E27FC236}">
                  <a16:creationId xmlns:a16="http://schemas.microsoft.com/office/drawing/2014/main" id="{23BC592B-6EFC-4CD2-9C35-E479F0C47B71}"/>
                </a:ext>
              </a:extLst>
            </p:cNvPr>
            <p:cNvSpPr/>
            <p:nvPr/>
          </p:nvSpPr>
          <p:spPr>
            <a:xfrm>
              <a:off x="1031096" y="2215724"/>
              <a:ext cx="6903865" cy="972757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rgbClr val="3A66B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4;p15">
              <a:extLst>
                <a:ext uri="{FF2B5EF4-FFF2-40B4-BE49-F238E27FC236}">
                  <a16:creationId xmlns:a16="http://schemas.microsoft.com/office/drawing/2014/main" id="{CFDADD01-A36A-448F-8565-C70CEFFF5ADD}"/>
                </a:ext>
              </a:extLst>
            </p:cNvPr>
            <p:cNvSpPr txBox="1"/>
            <p:nvPr/>
          </p:nvSpPr>
          <p:spPr>
            <a:xfrm>
              <a:off x="1059587" y="2244215"/>
              <a:ext cx="5699042" cy="91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2800"/>
              </a:pPr>
              <a:r>
                <a:rPr lang="pt-PT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Bodoni"/>
                </a:rPr>
                <a:t>Classificação dos pacientes segundo á sua gravidade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Google Shape;115;p15">
              <a:extLst>
                <a:ext uri="{FF2B5EF4-FFF2-40B4-BE49-F238E27FC236}">
                  <a16:creationId xmlns:a16="http://schemas.microsoft.com/office/drawing/2014/main" id="{8DD08870-295D-46DE-A327-6331A68F4768}"/>
                </a:ext>
              </a:extLst>
            </p:cNvPr>
            <p:cNvSpPr/>
            <p:nvPr/>
          </p:nvSpPr>
          <p:spPr>
            <a:xfrm>
              <a:off x="1546645" y="3323586"/>
              <a:ext cx="6903865" cy="972757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rgbClr val="3A66B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6;p15">
              <a:extLst>
                <a:ext uri="{FF2B5EF4-FFF2-40B4-BE49-F238E27FC236}">
                  <a16:creationId xmlns:a16="http://schemas.microsoft.com/office/drawing/2014/main" id="{378B1921-E96E-4C6A-9BF3-3F48EBE227A7}"/>
                </a:ext>
              </a:extLst>
            </p:cNvPr>
            <p:cNvSpPr txBox="1"/>
            <p:nvPr/>
          </p:nvSpPr>
          <p:spPr>
            <a:xfrm>
              <a:off x="1575136" y="3352077"/>
              <a:ext cx="5699042" cy="91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800"/>
              </a:pPr>
              <a:r>
                <a:rPr lang="pt-PT" sz="28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;</a:t>
              </a:r>
              <a:r>
                <a:rPr lang="pt-PT" dirty="0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pt-PT" sz="2800" dirty="0" smtClean="0">
                  <a:solidFill>
                    <a:srgbClr val="222222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Indicadores de triagem</a:t>
              </a:r>
              <a:endParaRPr lang="pt-PT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endParaRPr dirty="0"/>
            </a:p>
          </p:txBody>
        </p:sp>
        <p:sp>
          <p:nvSpPr>
            <p:cNvPr id="17" name="Google Shape;117;p15">
              <a:extLst>
                <a:ext uri="{FF2B5EF4-FFF2-40B4-BE49-F238E27FC236}">
                  <a16:creationId xmlns:a16="http://schemas.microsoft.com/office/drawing/2014/main" id="{678834C8-A4DC-4639-9F39-7422FD3D0DA6}"/>
                </a:ext>
              </a:extLst>
            </p:cNvPr>
            <p:cNvSpPr/>
            <p:nvPr/>
          </p:nvSpPr>
          <p:spPr>
            <a:xfrm>
              <a:off x="2062193" y="4431448"/>
              <a:ext cx="6903865" cy="972757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rgbClr val="3A66B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8;p15">
              <a:extLst>
                <a:ext uri="{FF2B5EF4-FFF2-40B4-BE49-F238E27FC236}">
                  <a16:creationId xmlns:a16="http://schemas.microsoft.com/office/drawing/2014/main" id="{C7322686-04A8-428F-8EA8-E1EE20D7748B}"/>
                </a:ext>
              </a:extLst>
            </p:cNvPr>
            <p:cNvSpPr txBox="1"/>
            <p:nvPr/>
          </p:nvSpPr>
          <p:spPr>
            <a:xfrm>
              <a:off x="2090684" y="4459939"/>
              <a:ext cx="5699042" cy="91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800"/>
              </a:pPr>
              <a:r>
                <a:rPr lang="pt-PT" sz="28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r>
                <a:rPr lang="pt-PT" sz="2800" dirty="0">
                  <a:solidFill>
                    <a:srgbClr val="222222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Vantagens, constrangimentos e perspectivas</a:t>
              </a:r>
              <a:endParaRPr lang="pt-PT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endParaRPr dirty="0"/>
            </a:p>
          </p:txBody>
        </p:sp>
        <p:sp>
          <p:nvSpPr>
            <p:cNvPr id="19" name="Google Shape;119;p15">
              <a:extLst>
                <a:ext uri="{FF2B5EF4-FFF2-40B4-BE49-F238E27FC236}">
                  <a16:creationId xmlns:a16="http://schemas.microsoft.com/office/drawing/2014/main" id="{6E91BD88-6AE2-49A3-A8E8-59A1AECC7108}"/>
                </a:ext>
              </a:extLst>
            </p:cNvPr>
            <p:cNvSpPr/>
            <p:nvPr/>
          </p:nvSpPr>
          <p:spPr>
            <a:xfrm>
              <a:off x="6271573" y="710653"/>
              <a:ext cx="632292" cy="632292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0;p15">
              <a:extLst>
                <a:ext uri="{FF2B5EF4-FFF2-40B4-BE49-F238E27FC236}">
                  <a16:creationId xmlns:a16="http://schemas.microsoft.com/office/drawing/2014/main" id="{4BB922CA-6D24-479B-8A25-AAE80039DE48}"/>
                </a:ext>
              </a:extLst>
            </p:cNvPr>
            <p:cNvSpPr txBox="1"/>
            <p:nvPr/>
          </p:nvSpPr>
          <p:spPr>
            <a:xfrm>
              <a:off x="6413839" y="710653"/>
              <a:ext cx="347760" cy="47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35550" rIns="35550" bIns="35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21;p15">
              <a:extLst>
                <a:ext uri="{FF2B5EF4-FFF2-40B4-BE49-F238E27FC236}">
                  <a16:creationId xmlns:a16="http://schemas.microsoft.com/office/drawing/2014/main" id="{D698405A-A445-425A-B4D9-448A91D6DBA5}"/>
                </a:ext>
              </a:extLst>
            </p:cNvPr>
            <p:cNvSpPr/>
            <p:nvPr/>
          </p:nvSpPr>
          <p:spPr>
            <a:xfrm>
              <a:off x="6787121" y="1818515"/>
              <a:ext cx="632292" cy="632292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2;p15">
              <a:extLst>
                <a:ext uri="{FF2B5EF4-FFF2-40B4-BE49-F238E27FC236}">
                  <a16:creationId xmlns:a16="http://schemas.microsoft.com/office/drawing/2014/main" id="{D4056EC8-7C98-47E0-AF59-5020F40FE94A}"/>
                </a:ext>
              </a:extLst>
            </p:cNvPr>
            <p:cNvSpPr txBox="1"/>
            <p:nvPr/>
          </p:nvSpPr>
          <p:spPr>
            <a:xfrm>
              <a:off x="6929387" y="1818515"/>
              <a:ext cx="347760" cy="47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35550" rIns="35550" bIns="35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23;p15">
              <a:extLst>
                <a:ext uri="{FF2B5EF4-FFF2-40B4-BE49-F238E27FC236}">
                  <a16:creationId xmlns:a16="http://schemas.microsoft.com/office/drawing/2014/main" id="{AF5A5AAD-CECF-49CA-B43A-EA16650BE99C}"/>
                </a:ext>
              </a:extLst>
            </p:cNvPr>
            <p:cNvSpPr/>
            <p:nvPr/>
          </p:nvSpPr>
          <p:spPr>
            <a:xfrm>
              <a:off x="7302670" y="2910164"/>
              <a:ext cx="632292" cy="632292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4;p15">
              <a:extLst>
                <a:ext uri="{FF2B5EF4-FFF2-40B4-BE49-F238E27FC236}">
                  <a16:creationId xmlns:a16="http://schemas.microsoft.com/office/drawing/2014/main" id="{BC477417-3426-446F-A10D-31DE183F7772}"/>
                </a:ext>
              </a:extLst>
            </p:cNvPr>
            <p:cNvSpPr txBox="1"/>
            <p:nvPr/>
          </p:nvSpPr>
          <p:spPr>
            <a:xfrm>
              <a:off x="7444936" y="2910164"/>
              <a:ext cx="347760" cy="47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35550" rIns="35550" bIns="35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5;p15">
              <a:extLst>
                <a:ext uri="{FF2B5EF4-FFF2-40B4-BE49-F238E27FC236}">
                  <a16:creationId xmlns:a16="http://schemas.microsoft.com/office/drawing/2014/main" id="{30B5BD8F-9435-402D-9ACF-ED7595D7EF5B}"/>
                </a:ext>
              </a:extLst>
            </p:cNvPr>
            <p:cNvSpPr/>
            <p:nvPr/>
          </p:nvSpPr>
          <p:spPr>
            <a:xfrm>
              <a:off x="7818218" y="4028835"/>
              <a:ext cx="632292" cy="632292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6;p15">
              <a:extLst>
                <a:ext uri="{FF2B5EF4-FFF2-40B4-BE49-F238E27FC236}">
                  <a16:creationId xmlns:a16="http://schemas.microsoft.com/office/drawing/2014/main" id="{6D4812ED-D2F2-447E-BB14-CFD07BE36C11}"/>
                </a:ext>
              </a:extLst>
            </p:cNvPr>
            <p:cNvSpPr txBox="1"/>
            <p:nvPr/>
          </p:nvSpPr>
          <p:spPr>
            <a:xfrm>
              <a:off x="7960484" y="4028835"/>
              <a:ext cx="347760" cy="47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550" tIns="35550" rIns="35550" bIns="35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915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28354"/>
            <a:ext cx="10844106" cy="3814355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PT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Novembro de 2022, com  a redução dos casos de COVID-19, foi reaberto o serviço de Urgência no HGPC para atender a população circunvizinha e reduzir a demanda nas outras Unidades Sanitárias</a:t>
            </a:r>
            <a:r>
              <a:rPr lang="pt-PT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PT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PT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dinamizar e flexibilizar  o  atendimento no serviço de urgência, houve necessidade de se introduzir o serviço de </a:t>
            </a:r>
            <a:r>
              <a:rPr lang="pt-PT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triagem </a:t>
            </a:r>
            <a:r>
              <a:rPr lang="pt-PT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 o principal </a:t>
            </a:r>
            <a:r>
              <a:rPr lang="pt-PT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objectivo</a:t>
            </a:r>
            <a:r>
              <a:rPr lang="pt-PT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 priorizar os doentes consoante a sua gravidade reduzindo desta forma o tempo de espera dos mesmos.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10844106" cy="71120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Reabertura do SUR do HGPC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34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10844106" cy="237077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Triagem, é o processo pelo qual se determina a prioridade para atendimento e tratamento dos pacientes com base na gravidade do seu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estado</a:t>
            </a:r>
            <a:endParaRPr lang="pt-P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10844106" cy="71120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Triagem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68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Fluxo dos Pacientes no SUR do HGPC</a:t>
            </a:r>
            <a:endParaRPr lang="pt-P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677334" y="609600"/>
            <a:ext cx="10844106" cy="71120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0" fontAlgn="base" hangingPunct="0">
              <a:spcAft>
                <a:spcPts val="5675"/>
              </a:spcAft>
              <a:defRPr/>
            </a:pPr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Fluxo dos Pacientes no SUR do HGPC</a:t>
            </a:r>
            <a:endParaRPr lang="pt-PT" altLang="en-US" sz="3200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6">
            <a:extLst>
              <a:ext uri="{FF2B5EF4-FFF2-40B4-BE49-F238E27FC236}">
                <a16:creationId xmlns:a16="http://schemas.microsoft.com/office/drawing/2014/main" id="{955FB457-7AF8-8AD8-34CD-AAA0BCF6AF56}"/>
              </a:ext>
            </a:extLst>
          </p:cNvPr>
          <p:cNvSpPr/>
          <p:nvPr/>
        </p:nvSpPr>
        <p:spPr>
          <a:xfrm>
            <a:off x="6712729" y="2820838"/>
            <a:ext cx="719945" cy="116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7334" y="3592285"/>
            <a:ext cx="2884051" cy="14897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400" b="1" dirty="0" smtClean="0">
                <a:solidFill>
                  <a:schemeClr val="tx1"/>
                </a:solidFill>
              </a:rPr>
              <a:t>Triagem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tx1"/>
                </a:solidFill>
              </a:rPr>
              <a:t>Classificação do pacientes;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tx1"/>
                </a:solidFill>
              </a:rPr>
              <a:t>Avaliação dos SV;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tx1"/>
                </a:solidFill>
              </a:rPr>
              <a:t>Encaminhar os doentes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60707" y="1653093"/>
            <a:ext cx="2952022" cy="2774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400" b="1" dirty="0" smtClean="0">
                <a:solidFill>
                  <a:schemeClr val="tx1"/>
                </a:solidFill>
              </a:rPr>
              <a:t>Admissão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tx1"/>
                </a:solidFill>
              </a:rPr>
              <a:t>Registo dos dados pessoais e  demográficos;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pt-PT" dirty="0" smtClean="0">
                <a:solidFill>
                  <a:schemeClr val="tx1"/>
                </a:solidFill>
              </a:rPr>
              <a:t>Encaminhar os pacientes para os gabinetes de consulta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419801" y="2664009"/>
            <a:ext cx="1447448" cy="383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Gabinete de Atendimento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31502" y="5533660"/>
            <a:ext cx="1868851" cy="555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400" b="1" dirty="0">
                <a:solidFill>
                  <a:schemeClr val="tx1"/>
                </a:solidFill>
              </a:rPr>
              <a:t>Sala de Observação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1E580EC5-80BA-E473-7DA4-BBB42E814EBC}"/>
              </a:ext>
            </a:extLst>
          </p:cNvPr>
          <p:cNvSpPr/>
          <p:nvPr/>
        </p:nvSpPr>
        <p:spPr>
          <a:xfrm>
            <a:off x="8787938" y="2250836"/>
            <a:ext cx="234003" cy="1098059"/>
          </a:xfrm>
          <a:prstGeom prst="leftBrace">
            <a:avLst>
              <a:gd name="adj1" fmla="val 8333"/>
              <a:gd name="adj2" fmla="val 5475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990262" y="2038019"/>
            <a:ext cx="2814918" cy="366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Gabinete de Pediatria </a:t>
            </a:r>
            <a:r>
              <a:rPr lang="pt-PT" dirty="0" smtClean="0">
                <a:solidFill>
                  <a:schemeClr val="tx1"/>
                </a:solidFill>
              </a:rPr>
              <a:t>(1 e2)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990262" y="3047217"/>
            <a:ext cx="2814918" cy="366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Gabinete de adultos </a:t>
            </a:r>
            <a:r>
              <a:rPr lang="pt-PT" dirty="0" smtClean="0">
                <a:solidFill>
                  <a:schemeClr val="tx1"/>
                </a:solidFill>
              </a:rPr>
              <a:t>(3 a 5)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1E580EC5-80BA-E473-7DA4-BBB42E814EBC}"/>
              </a:ext>
            </a:extLst>
          </p:cNvPr>
          <p:cNvSpPr/>
          <p:nvPr/>
        </p:nvSpPr>
        <p:spPr>
          <a:xfrm>
            <a:off x="3561385" y="2679015"/>
            <a:ext cx="504748" cy="3283122"/>
          </a:xfrm>
          <a:prstGeom prst="leftBrace">
            <a:avLst>
              <a:gd name="adj1" fmla="val 8333"/>
              <a:gd name="adj2" fmla="val 5475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8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7438" y="2011727"/>
            <a:ext cx="81889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/>
              <a:t>TRIAGEM – Data: __________  Hora: _________</a:t>
            </a:r>
            <a:br>
              <a:rPr dirty="0"/>
            </a:br>
            <a:r>
              <a:rPr dirty="0"/>
              <a:t>Cor: ( ) Verde   ( ) </a:t>
            </a:r>
            <a:r>
              <a:rPr dirty="0" err="1"/>
              <a:t>Amarelo</a:t>
            </a:r>
            <a:r>
              <a:rPr dirty="0"/>
              <a:t>   ( ) </a:t>
            </a:r>
            <a:r>
              <a:rPr dirty="0" err="1"/>
              <a:t>Laranja</a:t>
            </a:r>
            <a:r>
              <a:rPr dirty="0"/>
              <a:t>   ( ) Vermelho</a:t>
            </a:r>
            <a:br>
              <a:rPr dirty="0"/>
            </a:br>
            <a:r>
              <a:rPr dirty="0" err="1"/>
              <a:t>Motivo</a:t>
            </a:r>
            <a:r>
              <a:rPr dirty="0"/>
              <a:t>: __________________________________________</a:t>
            </a:r>
            <a:br>
              <a:rPr dirty="0"/>
            </a:br>
            <a:r>
              <a:rPr dirty="0"/>
              <a:t>Ass: _____________________________________________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ATENDIMENTO – Data: __________  Hora: _________</a:t>
            </a:r>
            <a:br>
              <a:rPr dirty="0"/>
            </a:br>
            <a:r>
              <a:rPr dirty="0"/>
              <a:t>Re</a:t>
            </a:r>
            <a:r>
              <a:rPr lang="pt-PT" dirty="0"/>
              <a:t>classificação</a:t>
            </a:r>
            <a:r>
              <a:rPr dirty="0"/>
              <a:t>: ( ) Sim   ( ) </a:t>
            </a:r>
            <a:r>
              <a:rPr dirty="0" err="1"/>
              <a:t>Não</a:t>
            </a:r>
            <a:r>
              <a:rPr dirty="0"/>
              <a:t/>
            </a:r>
            <a:br>
              <a:rPr dirty="0"/>
            </a:br>
            <a:r>
              <a:rPr dirty="0"/>
              <a:t>Nova Cor: ( ) Verde   ( ) </a:t>
            </a:r>
            <a:r>
              <a:rPr dirty="0" err="1"/>
              <a:t>Amarelo</a:t>
            </a:r>
            <a:r>
              <a:rPr dirty="0"/>
              <a:t>   ( ) </a:t>
            </a:r>
            <a:r>
              <a:rPr dirty="0" err="1"/>
              <a:t>Laranja</a:t>
            </a:r>
            <a:r>
              <a:rPr dirty="0"/>
              <a:t>   ( ) Vermelho</a:t>
            </a:r>
            <a:br>
              <a:rPr dirty="0"/>
            </a:br>
            <a:r>
              <a:rPr dirty="0" err="1"/>
              <a:t>Motivo</a:t>
            </a:r>
            <a:r>
              <a:rPr dirty="0"/>
              <a:t>: __________________________________________</a:t>
            </a:r>
            <a:br>
              <a:rPr dirty="0"/>
            </a:br>
            <a:r>
              <a:rPr dirty="0"/>
              <a:t>Ass: _____________________________________________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327711" y="609600"/>
            <a:ext cx="10844106" cy="71120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0" fontAlgn="base" hangingPunct="0">
              <a:spcAft>
                <a:spcPts val="5675"/>
              </a:spcAft>
              <a:defRPr/>
            </a:pPr>
            <a:r>
              <a:rPr lang="pt-PT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Carimbo</a:t>
            </a:r>
            <a:endParaRPr lang="pt-PT" altLang="en-US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91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035" y="2081102"/>
            <a:ext cx="10895106" cy="37895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Recentemente introduzimos o sistema de cores(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Criterios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Manchester) para classificação dos pacientes no SUR e consiste em 4 cores ( Vermelho, Laranja, Amarelo e Verde 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Cada cor representa um nível de gravidade e orienta o enfermeiro quanto à necessidade de  urgência no atendimento.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 bwMode="auto">
          <a:xfrm>
            <a:off x="596651" y="542001"/>
            <a:ext cx="10844106" cy="132080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Classificação dos Pacientes segundo a sua Gravidade</a:t>
            </a:r>
            <a:b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Triagem á cores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22" y="2146412"/>
            <a:ext cx="11362304" cy="4241110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80" y="2081102"/>
            <a:ext cx="11553587" cy="448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6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96311" y="2631417"/>
            <a:ext cx="10173913" cy="963706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INDICADORES DE TRIAGEM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66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96311" y="2631417"/>
            <a:ext cx="10173913" cy="963706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Volume e perfil de atendimento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05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79353" y="387947"/>
            <a:ext cx="10173913" cy="963706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de atendimento no SUR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4246470985"/>
              </p:ext>
            </p:extLst>
          </p:nvPr>
        </p:nvGraphicFramePr>
        <p:xfrm>
          <a:off x="2032000" y="1850065"/>
          <a:ext cx="8128000" cy="4288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818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77334" y="334785"/>
            <a:ext cx="10173913" cy="700661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Taxa de cobertura da triagem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1485049445"/>
              </p:ext>
            </p:extLst>
          </p:nvPr>
        </p:nvGraphicFramePr>
        <p:xfrm>
          <a:off x="911668" y="1035446"/>
          <a:ext cx="10061132" cy="5053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388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77334" y="334785"/>
            <a:ext cx="10173913" cy="963706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B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Distribuição do Volume de Atendimentos por Gravidade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1075552454"/>
              </p:ext>
            </p:extLst>
          </p:nvPr>
        </p:nvGraphicFramePr>
        <p:xfrm>
          <a:off x="1360967" y="1637414"/>
          <a:ext cx="8799033" cy="4500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Oval 6"/>
          <p:cNvSpPr/>
          <p:nvPr/>
        </p:nvSpPr>
        <p:spPr>
          <a:xfrm>
            <a:off x="3941418" y="4522441"/>
            <a:ext cx="708959" cy="42838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>
                <a:solidFill>
                  <a:schemeClr val="tx1"/>
                </a:solidFill>
              </a:rPr>
              <a:t>2</a:t>
            </a:r>
            <a:r>
              <a:rPr lang="pt-PT" sz="1400" dirty="0" smtClean="0">
                <a:solidFill>
                  <a:schemeClr val="tx1"/>
                </a:solidFill>
              </a:rPr>
              <a:t>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632196" y="4452479"/>
            <a:ext cx="646371" cy="40764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smtClean="0">
                <a:solidFill>
                  <a:schemeClr val="tx1"/>
                </a:solidFill>
              </a:rPr>
              <a:t>6%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260387" y="4332957"/>
            <a:ext cx="694893" cy="34354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11</a:t>
            </a:r>
            <a:r>
              <a:rPr lang="pt-PT" sz="1400" dirty="0" smtClean="0">
                <a:solidFill>
                  <a:schemeClr val="tx1"/>
                </a:solidFill>
              </a:rPr>
              <a:t>%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54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21026" y="2816728"/>
            <a:ext cx="10844105" cy="963706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 fontScale="90000"/>
          </a:bodyPr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Doentes atendidos dentro do tempo preconizado (Tempo de espera)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45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6862" y="6034746"/>
            <a:ext cx="6297612" cy="365125"/>
          </a:xfrm>
        </p:spPr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 txBox="1">
            <a:spLocks/>
          </p:cNvSpPr>
          <p:nvPr/>
        </p:nvSpPr>
        <p:spPr bwMode="auto">
          <a:xfrm>
            <a:off x="1598202" y="600046"/>
            <a:ext cx="8279027" cy="620925"/>
          </a:xfrm>
          <a:prstGeom prst="rect">
            <a:avLst/>
          </a:prstGeom>
          <a:solidFill>
            <a:srgbClr val="C00000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Vermelho – Imediato &lt;10Min- Risco Muito Grave</a:t>
            </a:r>
            <a:endParaRPr lang="pt-PT" altLang="en-US" sz="3200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1107162613"/>
              </p:ext>
            </p:extLst>
          </p:nvPr>
        </p:nvGraphicFramePr>
        <p:xfrm>
          <a:off x="661429" y="1438787"/>
          <a:ext cx="10152572" cy="4595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8972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 txBox="1">
            <a:spLocks/>
          </p:cNvSpPr>
          <p:nvPr/>
        </p:nvSpPr>
        <p:spPr bwMode="auto">
          <a:xfrm>
            <a:off x="1591770" y="480708"/>
            <a:ext cx="8279027" cy="620925"/>
          </a:xfrm>
          <a:prstGeom prst="rect">
            <a:avLst/>
          </a:prstGeom>
          <a:solidFill>
            <a:srgbClr val="FF6600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Laranja / &lt;30Min- Risco grave </a:t>
            </a:r>
            <a:endParaRPr lang="pt-PT" altLang="en-US" sz="3200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1024715758"/>
              </p:ext>
            </p:extLst>
          </p:nvPr>
        </p:nvGraphicFramePr>
        <p:xfrm>
          <a:off x="1869438" y="1203373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Oval 15"/>
          <p:cNvSpPr/>
          <p:nvPr/>
        </p:nvSpPr>
        <p:spPr>
          <a:xfrm>
            <a:off x="2677346" y="1622026"/>
            <a:ext cx="724905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99%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57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 txBox="1">
            <a:spLocks/>
          </p:cNvSpPr>
          <p:nvPr/>
        </p:nvSpPr>
        <p:spPr bwMode="auto">
          <a:xfrm>
            <a:off x="1532236" y="499096"/>
            <a:ext cx="8279027" cy="620925"/>
          </a:xfrm>
          <a:prstGeom prst="rect">
            <a:avLst/>
          </a:prstGeom>
          <a:solidFill>
            <a:srgbClr val="FFC000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Amarelo / &lt; 2h- Gravidade moderada</a:t>
            </a:r>
            <a:endParaRPr lang="pt-PT" altLang="en-US" sz="3200" b="1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488168072"/>
              </p:ext>
            </p:extLst>
          </p:nvPr>
        </p:nvGraphicFramePr>
        <p:xfrm>
          <a:off x="2032000" y="1449977"/>
          <a:ext cx="8784046" cy="4402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Oval 12"/>
          <p:cNvSpPr/>
          <p:nvPr/>
        </p:nvSpPr>
        <p:spPr>
          <a:xfrm>
            <a:off x="2824017" y="2670220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4111581" y="1409101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5559936" y="2323980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820031" y="2335355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8187991" y="2632001"/>
            <a:ext cx="864087" cy="40412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9583783" y="3565024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9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 txBox="1">
            <a:spLocks/>
          </p:cNvSpPr>
          <p:nvPr/>
        </p:nvSpPr>
        <p:spPr bwMode="auto">
          <a:xfrm>
            <a:off x="1807659" y="398936"/>
            <a:ext cx="8279027" cy="6209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Verde / 4 a 6h- Paciente estável </a:t>
            </a:r>
            <a:endParaRPr lang="pt-PT" altLang="en-US" sz="3200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248374240"/>
              </p:ext>
            </p:extLst>
          </p:nvPr>
        </p:nvGraphicFramePr>
        <p:xfrm>
          <a:off x="2032000" y="1141969"/>
          <a:ext cx="8128000" cy="4996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Oval 13"/>
          <p:cNvSpPr/>
          <p:nvPr/>
        </p:nvSpPr>
        <p:spPr>
          <a:xfrm>
            <a:off x="2775375" y="1956886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3986275" y="1236660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246925" y="2292937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6461360" y="2071056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703462" y="2335854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945564" y="2335854"/>
            <a:ext cx="864087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100%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33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57231" y="2795463"/>
            <a:ext cx="10173913" cy="963706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TAXA DE RECLASSIFICAÇÃO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87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77334" y="334785"/>
            <a:ext cx="10173913" cy="963706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Boletins Reclassificados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3600935720"/>
              </p:ext>
            </p:extLst>
          </p:nvPr>
        </p:nvGraphicFramePr>
        <p:xfrm>
          <a:off x="1149531" y="1409759"/>
          <a:ext cx="9701715" cy="4679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Oval 15"/>
          <p:cNvSpPr/>
          <p:nvPr/>
        </p:nvSpPr>
        <p:spPr>
          <a:xfrm>
            <a:off x="2475327" y="4411851"/>
            <a:ext cx="790388" cy="38603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0,4%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3741006" y="4406381"/>
            <a:ext cx="850505" cy="39150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0,4%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5331360" y="4404608"/>
            <a:ext cx="783165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0,8%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66415" y="4223164"/>
            <a:ext cx="724905" cy="3789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>
                <a:solidFill>
                  <a:schemeClr val="tx1"/>
                </a:solidFill>
              </a:rPr>
              <a:t>1</a:t>
            </a:r>
            <a:r>
              <a:rPr lang="pt-PT" sz="1400" dirty="0" smtClean="0">
                <a:solidFill>
                  <a:schemeClr val="tx1"/>
                </a:solidFill>
              </a:rPr>
              <a:t>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8310053" y="4411851"/>
            <a:ext cx="799771" cy="3885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1,3%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9828557" y="4297507"/>
            <a:ext cx="791546" cy="3885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 smtClean="0">
                <a:solidFill>
                  <a:schemeClr val="tx1"/>
                </a:solidFill>
              </a:rPr>
              <a:t>1,4%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2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6189D-F66E-42FF-9BC3-0D2BAFE1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93124" y="334785"/>
            <a:ext cx="10258123" cy="62080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Indicadores </a:t>
            </a: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resultado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602467"/>
              </p:ext>
            </p:extLst>
          </p:nvPr>
        </p:nvGraphicFramePr>
        <p:xfrm>
          <a:off x="1293067" y="1733378"/>
          <a:ext cx="9438639" cy="13497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1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3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2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9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400" dirty="0">
                          <a:solidFill>
                            <a:schemeClr val="tx1"/>
                          </a:solidFill>
                          <a:effectLst/>
                        </a:rPr>
                        <a:t>Período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400" dirty="0">
                          <a:solidFill>
                            <a:schemeClr val="tx1"/>
                          </a:solidFill>
                          <a:effectLst/>
                        </a:rPr>
                        <a:t>Admitido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400" dirty="0">
                          <a:solidFill>
                            <a:schemeClr val="tx1"/>
                          </a:solidFill>
                          <a:effectLst/>
                        </a:rPr>
                        <a:t>Total de Altas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</a:rPr>
                        <a:t>Total de Óbitos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4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Reinternamento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25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</a:rPr>
                        <a:t>Jan - </a:t>
                      </a:r>
                      <a:r>
                        <a:rPr lang="pt-PT" sz="2400" dirty="0" err="1" smtClean="0">
                          <a:solidFill>
                            <a:schemeClr val="tx1"/>
                          </a:solidFill>
                          <a:effectLst/>
                        </a:rPr>
                        <a:t>Jun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781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</a:rPr>
                        <a:t>781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 txBox="1">
            <a:spLocks/>
          </p:cNvSpPr>
          <p:nvPr/>
        </p:nvSpPr>
        <p:spPr bwMode="auto">
          <a:xfrm>
            <a:off x="796874" y="960575"/>
            <a:ext cx="9934832" cy="64701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0" fontAlgn="base" hangingPunct="0">
              <a:spcAft>
                <a:spcPts val="5675"/>
              </a:spcAft>
              <a:defRPr/>
            </a:pPr>
            <a:r>
              <a:rPr lang="pt-B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Movimento na S.O</a:t>
            </a:r>
            <a:endParaRPr lang="pt-PT" altLang="en-US" sz="3200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449010"/>
              </p:ext>
            </p:extLst>
          </p:nvPr>
        </p:nvGraphicFramePr>
        <p:xfrm>
          <a:off x="1179746" y="4325942"/>
          <a:ext cx="9055772" cy="1609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8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4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887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400" dirty="0">
                          <a:solidFill>
                            <a:schemeClr val="tx1"/>
                          </a:solidFill>
                          <a:effectLst/>
                        </a:rPr>
                        <a:t>Período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Taxa</a:t>
                      </a:r>
                      <a:r>
                        <a:rPr lang="pt-PT" sz="24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Reinternamento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</a:rPr>
                        <a:t>Taxa de mortalidade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</a:rPr>
                        <a:t>Jan - </a:t>
                      </a:r>
                      <a:r>
                        <a:rPr lang="pt-PT" sz="2400" dirty="0" err="1" smtClean="0">
                          <a:solidFill>
                            <a:schemeClr val="tx1"/>
                          </a:solidFill>
                          <a:effectLst/>
                        </a:rPr>
                        <a:t>Jun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0,1%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0,4%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94BA1468-983B-4A28-8B9B-FCB712CF9F41}"/>
              </a:ext>
            </a:extLst>
          </p:cNvPr>
          <p:cNvSpPr txBox="1">
            <a:spLocks/>
          </p:cNvSpPr>
          <p:nvPr/>
        </p:nvSpPr>
        <p:spPr bwMode="auto">
          <a:xfrm>
            <a:off x="545552" y="3196239"/>
            <a:ext cx="10324160" cy="67250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0" fontAlgn="base" hangingPunct="0">
              <a:spcAft>
                <a:spcPts val="5675"/>
              </a:spcAft>
              <a:defRPr/>
            </a:pPr>
            <a:r>
              <a:rPr lang="pt-B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Indicadores</a:t>
            </a:r>
            <a:endParaRPr lang="pt-PT" altLang="en-US" sz="3200" b="1" noProof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7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pic>
        <p:nvPicPr>
          <p:cNvPr id="3" name="Picture 2" descr="A group of people in a room">
            <a:extLst>
              <a:ext uri="{FF2B5EF4-FFF2-40B4-BE49-F238E27FC236}">
                <a16:creationId xmlns:a16="http://schemas.microsoft.com/office/drawing/2014/main" id="{03FE358D-A800-6911-7357-27470595F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2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56" y="1320800"/>
            <a:ext cx="10844106" cy="237077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Redução do número de óbitos no SUR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Garantir o atendimento urgente aos pacientes mais graves ( Ex: Identificação e reencaminhamento rápido dos pacientes com elevadas cifras tensionais);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Avaliação dos sinais vitais a todos pacientes;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Redução de sobrecarga de trabalho aos clínicos, permitindo mais atenção aos pacientes que precisam;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Centralização 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Racionalização do material/equipamento médico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P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10844106" cy="71120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Vantagens da </a:t>
            </a:r>
            <a:r>
              <a:rPr lang="pt-PT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Triagem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8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60589"/>
            <a:ext cx="10911840" cy="3523035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Insuficiência de RH ( Clínicos e Administrativos 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 não adequada para o fluxo dos pacientes ( Críticos 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Défice no resgito da hora de atendimento por parte dos clínicos;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 Pré – Triagem sem privacidade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10844106" cy="71120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Constrangimentos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077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5" y="1506166"/>
            <a:ext cx="10930965" cy="30927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arenR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Aumento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RH no sector;</a:t>
            </a:r>
          </a:p>
          <a:p>
            <a:pPr>
              <a:lnSpc>
                <a:spcPct val="150000"/>
              </a:lnSpc>
              <a:buFont typeface="+mj-lt"/>
              <a:buAutoNum type="arabicParenR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Melhorar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ções 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 bwMode="auto">
          <a:xfrm>
            <a:off x="535094" y="602961"/>
            <a:ext cx="10844106" cy="711200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/>
          <a:p>
            <a:pPr lvl="0" algn="ctr" eaLnBrk="0" fontAlgn="base" hangingPunct="0">
              <a:spcAft>
                <a:spcPts val="5675"/>
              </a:spcAft>
              <a:defRPr/>
            </a:pP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Perspectivas</a:t>
            </a:r>
            <a:endParaRPr kumimoji="0" lang="pt-PT" altLang="en-US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31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/>
            <a:r>
              <a:rPr lang="en-US" altLang="en-US" sz="8000" b="1" noProof="1">
                <a:solidFill>
                  <a:srgbClr val="000000"/>
                </a:solidFill>
                <a:latin typeface="Juice ITC" panose="04040403040A02020202" pitchFamily="82" charset="0"/>
              </a:rPr>
              <a:t>Muito Obrigada</a:t>
            </a:r>
            <a:endParaRPr lang="pt-PT" sz="8000" dirty="0"/>
          </a:p>
        </p:txBody>
      </p:sp>
      <p:pic>
        <p:nvPicPr>
          <p:cNvPr id="5" name="Picture 7" descr="women_group_clapping_500_wht_1248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5300" y="2160588"/>
            <a:ext cx="3881437" cy="3881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1"/>
          <p:cNvSpPr/>
          <p:nvPr/>
        </p:nvSpPr>
        <p:spPr>
          <a:xfrm>
            <a:off x="655638" y="5648325"/>
            <a:ext cx="10858500" cy="401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kern="1200">
                <a:solidFill>
                  <a:srgbClr val="0D0D0D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 kern="1200">
                <a:solidFill>
                  <a:srgbClr val="0D0D0D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 kern="1200">
                <a:solidFill>
                  <a:srgbClr val="0D0D0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 kern="1200">
                <a:solidFill>
                  <a:srgbClr val="0D0D0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 kern="1200">
                <a:solidFill>
                  <a:srgbClr val="0D0D0D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PT" sz="2000" b="1" i="1" dirty="0">
                <a:solidFill>
                  <a:srgbClr val="00B050"/>
                </a:solidFill>
                <a:latin typeface="Bodoni MT" panose="02070603080606020203" pitchFamily="18" charset="0"/>
              </a:rPr>
              <a:t>Maputo Cidade, pela Convergência Económica, Inclusão, Inovação e Progresso Social. </a:t>
            </a:r>
            <a:endParaRPr lang="en-US" altLang="pt-PT" sz="2000" b="1" i="1" dirty="0">
              <a:solidFill>
                <a:srgbClr val="00B050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22728</TotalTime>
  <Words>1040</Words>
  <Application>Microsoft Office PowerPoint</Application>
  <PresentationFormat>Widescreen</PresentationFormat>
  <Paragraphs>154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Arial Narrow</vt:lpstr>
      <vt:lpstr>Bodoni</vt:lpstr>
      <vt:lpstr>Bodoni MT</vt:lpstr>
      <vt:lpstr>Calibri</vt:lpstr>
      <vt:lpstr>Calibri Light</vt:lpstr>
      <vt:lpstr>Juice ITC</vt:lpstr>
      <vt:lpstr>Kozuka Gothic Pro B</vt:lpstr>
      <vt:lpstr>Times New Roman</vt:lpstr>
      <vt:lpstr>Wingdings</vt:lpstr>
      <vt:lpstr>Wingdings 3</vt:lpstr>
      <vt:lpstr>Facet</vt:lpstr>
      <vt:lpstr>PowerPoint Presentation</vt:lpstr>
      <vt:lpstr>Estrutura da apresentação</vt:lpstr>
      <vt:lpstr>Reabertura do SUR do HGPC</vt:lpstr>
      <vt:lpstr>Triagem</vt:lpstr>
      <vt:lpstr>Fluxo dos Pacientes no SUR do HGPC</vt:lpstr>
      <vt:lpstr>PowerPoint Presentation</vt:lpstr>
      <vt:lpstr>Classificação dos Pacientes segundo a sua Gravidade Triagem á cores</vt:lpstr>
      <vt:lpstr>INDICADORES DE TRIAGEM</vt:lpstr>
      <vt:lpstr>1. Volume e perfil de atendimento</vt:lpstr>
      <vt:lpstr>Volume de atendimento no SUR</vt:lpstr>
      <vt:lpstr>Taxa de cobertura da triagem</vt:lpstr>
      <vt:lpstr>Distribuição do Volume de Atendimentos por Gravidade</vt:lpstr>
      <vt:lpstr>2. Doentes atendidos dentro do tempo preconizado (Tempo de espera)</vt:lpstr>
      <vt:lpstr>PowerPoint Presentation</vt:lpstr>
      <vt:lpstr>PowerPoint Presentation</vt:lpstr>
      <vt:lpstr>PowerPoint Presentation</vt:lpstr>
      <vt:lpstr>PowerPoint Presentation</vt:lpstr>
      <vt:lpstr>3. TAXA DE RECLASSIFICAÇÃO</vt:lpstr>
      <vt:lpstr>Boletins Reclassificados</vt:lpstr>
      <vt:lpstr>4. Indicadores de resultado</vt:lpstr>
      <vt:lpstr>PowerPoint Presentation</vt:lpstr>
      <vt:lpstr>Vantagens da Triagem</vt:lpstr>
      <vt:lpstr>Constrangimentos</vt:lpstr>
      <vt:lpstr>Perspectivas</vt:lpstr>
      <vt:lpstr>Muito Obrigada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MISAU</cp:lastModifiedBy>
  <cp:revision>1472</cp:revision>
  <dcterms:created xsi:type="dcterms:W3CDTF">2022-05-17T21:12:00Z</dcterms:created>
  <dcterms:modified xsi:type="dcterms:W3CDTF">2026-07-23T08:23:21Z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32AF1B26D2884FD98A549372911EA4D5_13</vt:lpwstr>
  </property>
  <property fmtid="{D5CDD505-2E9C-101B-9397-08002B2CF9AE}" pid="3" name="KSOProductBuildVer">
    <vt:lpwstr>1033-12.2.0.13472</vt:lpwstr>
  </property>
</Properties>
</file>
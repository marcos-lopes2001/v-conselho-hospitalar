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85" r:id="rId2"/>
    <p:sldId id="415" r:id="rId3"/>
    <p:sldId id="427" r:id="rId4"/>
    <p:sldId id="426" r:id="rId5"/>
    <p:sldId id="430" r:id="rId6"/>
    <p:sldId id="425" r:id="rId7"/>
    <p:sldId id="428" r:id="rId8"/>
    <p:sldId id="429" r:id="rId9"/>
    <p:sldId id="294" r:id="rId10"/>
    <p:sldId id="291" r:id="rId11"/>
    <p:sldId id="435" r:id="rId12"/>
    <p:sldId id="433" r:id="rId13"/>
    <p:sldId id="43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rmacia Hospitalar" initials="FH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111"/>
    <a:srgbClr val="FF6600"/>
    <a:srgbClr val="003E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06" autoAdjust="0"/>
    <p:restoredTop sz="92937" autoAdjust="0"/>
  </p:normalViewPr>
  <p:slideViewPr>
    <p:cSldViewPr snapToGrid="0" showGuides="1">
      <p:cViewPr varScale="1">
        <p:scale>
          <a:sx n="89" d="100"/>
          <a:sy n="89" d="100"/>
        </p:scale>
        <p:origin x="826" y="67"/>
      </p:cViewPr>
      <p:guideLst>
        <p:guide orient="horz" pos="218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1.bin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'[informacao_do_estado_de_stock_2026-07-27T09_50_43.996445398Z(1).xlsx]Sheet1'!$B$4</c:f>
              <c:strCache>
                <c:ptCount val="1"/>
                <c:pt idx="0">
                  <c:v>Roptura de stock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Pt>
            <c:idx val="6"/>
            <c:invertIfNegative val="0"/>
            <c:bubble3D val="0"/>
            <c:spPr>
              <a:solidFill>
                <a:srgbClr val="FF0000"/>
              </a:solidFill>
              <a:ln>
                <a:gradFill flip="none" rotWithShape="1">
                  <a:gsLst>
                    <a:gs pos="0">
                      <a:srgbClr val="FF0000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2700000" scaled="1"/>
                  <a:tileRect/>
                </a:gradFill>
              </a:ln>
            </c:spPr>
            <c:extLst>
              <c:ext xmlns:c16="http://schemas.microsoft.com/office/drawing/2014/chart" uri="{C3380CC4-5D6E-409C-BE32-E72D297353CC}">
                <c16:uniqueId val="{00000001-2EFD-46FF-B310-4D468D3B634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'[informacao_do_estado_de_stock_2026-07-27T09_50_43.996445398Z(1).xlsx]Sheet1'!$A$5:$A$11</c:f>
              <c:strCache>
                <c:ptCount val="7"/>
                <c:pt idx="0">
                  <c:v>Via Clássica</c:v>
                </c:pt>
                <c:pt idx="1">
                  <c:v>MTB</c:v>
                </c:pt>
                <c:pt idx="2">
                  <c:v>TARV</c:v>
                </c:pt>
                <c:pt idx="3">
                  <c:v>Testes Rápidos Diag.</c:v>
                </c:pt>
                <c:pt idx="4">
                  <c:v>Material Medico Cirúrgico</c:v>
                </c:pt>
                <c:pt idx="5">
                  <c:v>Malária</c:v>
                </c:pt>
                <c:pt idx="6">
                  <c:v>Total</c:v>
                </c:pt>
              </c:strCache>
            </c:strRef>
          </c:cat>
          <c:val>
            <c:numRef>
              <c:f>'[informacao_do_estado_de_stock_2026-07-27T09_50_43.996445398Z(1).xlsx]Sheet1'!$B$5:$B$11</c:f>
              <c:numCache>
                <c:formatCode>General</c:formatCode>
                <c:ptCount val="7"/>
                <c:pt idx="0">
                  <c:v>214</c:v>
                </c:pt>
                <c:pt idx="1">
                  <c:v>6</c:v>
                </c:pt>
                <c:pt idx="2">
                  <c:v>3</c:v>
                </c:pt>
                <c:pt idx="3">
                  <c:v>0</c:v>
                </c:pt>
                <c:pt idx="4">
                  <c:v>42</c:v>
                </c:pt>
                <c:pt idx="5">
                  <c:v>0</c:v>
                </c:pt>
                <c:pt idx="6">
                  <c:v>265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EFD-46FF-B310-4D468D3B6343}"/>
            </c:ext>
          </c:extLst>
        </c:ser>
        <c:ser>
          <c:idx val="1"/>
          <c:order val="1"/>
          <c:tx>
            <c:strRef>
              <c:f>'[informacao_do_estado_de_stock_2026-07-27T09_50_43.996445398Z(1).xlsx]Sheet1'!$C$4</c:f>
              <c:strCache>
                <c:ptCount val="1"/>
                <c:pt idx="0">
                  <c:v>Stock regular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rgbClr val="00B05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'[informacao_do_estado_de_stock_2026-07-27T09_50_43.996445398Z(1).xlsx]Sheet1'!$A$5:$A$11</c:f>
              <c:strCache>
                <c:ptCount val="7"/>
                <c:pt idx="0">
                  <c:v>Via Clássica</c:v>
                </c:pt>
                <c:pt idx="1">
                  <c:v>MTB</c:v>
                </c:pt>
                <c:pt idx="2">
                  <c:v>TARV</c:v>
                </c:pt>
                <c:pt idx="3">
                  <c:v>Testes Rápidos Diag.</c:v>
                </c:pt>
                <c:pt idx="4">
                  <c:v>Material Medico Cirúrgico</c:v>
                </c:pt>
                <c:pt idx="5">
                  <c:v>Malária</c:v>
                </c:pt>
                <c:pt idx="6">
                  <c:v>Total</c:v>
                </c:pt>
              </c:strCache>
            </c:strRef>
          </c:cat>
          <c:val>
            <c:numRef>
              <c:f>'[informacao_do_estado_de_stock_2026-07-27T09_50_43.996445398Z(1).xlsx]Sheet1'!$C$5:$C$11</c:f>
              <c:numCache>
                <c:formatCode>General</c:formatCode>
                <c:ptCount val="7"/>
                <c:pt idx="0">
                  <c:v>58</c:v>
                </c:pt>
                <c:pt idx="1">
                  <c:v>12</c:v>
                </c:pt>
                <c:pt idx="2">
                  <c:v>6</c:v>
                </c:pt>
                <c:pt idx="3">
                  <c:v>4</c:v>
                </c:pt>
                <c:pt idx="4">
                  <c:v>4</c:v>
                </c:pt>
                <c:pt idx="5">
                  <c:v>1</c:v>
                </c:pt>
                <c:pt idx="6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EFD-46FF-B310-4D468D3B6343}"/>
            </c:ext>
          </c:extLst>
        </c:ser>
        <c:ser>
          <c:idx val="2"/>
          <c:order val="2"/>
          <c:tx>
            <c:strRef>
              <c:f>'[informacao_do_estado_de_stock_2026-07-27T09_50_43.996445398Z(1).xlsx]Sheet1'!$D$4</c:f>
              <c:strCache>
                <c:ptCount val="1"/>
                <c:pt idx="0">
                  <c:v>Stock acumulado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'[informacao_do_estado_de_stock_2026-07-27T09_50_43.996445398Z(1).xlsx]Sheet1'!$A$5:$A$11</c:f>
              <c:strCache>
                <c:ptCount val="7"/>
                <c:pt idx="0">
                  <c:v>Via Clássica</c:v>
                </c:pt>
                <c:pt idx="1">
                  <c:v>MTB</c:v>
                </c:pt>
                <c:pt idx="2">
                  <c:v>TARV</c:v>
                </c:pt>
                <c:pt idx="3">
                  <c:v>Testes Rápidos Diag.</c:v>
                </c:pt>
                <c:pt idx="4">
                  <c:v>Material Medico Cirúrgico</c:v>
                </c:pt>
                <c:pt idx="5">
                  <c:v>Malária</c:v>
                </c:pt>
                <c:pt idx="6">
                  <c:v>Total</c:v>
                </c:pt>
              </c:strCache>
            </c:strRef>
          </c:cat>
          <c:val>
            <c:numRef>
              <c:f>'[informacao_do_estado_de_stock_2026-07-27T09_50_43.996445398Z(1).xlsx]Sheet1'!$D$5:$D$11</c:f>
              <c:numCache>
                <c:formatCode>General</c:formatCode>
                <c:ptCount val="7"/>
                <c:pt idx="0">
                  <c:v>142</c:v>
                </c:pt>
                <c:pt idx="1">
                  <c:v>13</c:v>
                </c:pt>
                <c:pt idx="2">
                  <c:v>7</c:v>
                </c:pt>
                <c:pt idx="3">
                  <c:v>8</c:v>
                </c:pt>
                <c:pt idx="4">
                  <c:v>27</c:v>
                </c:pt>
                <c:pt idx="5">
                  <c:v>3</c:v>
                </c:pt>
                <c:pt idx="6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EFD-46FF-B310-4D468D3B6343}"/>
            </c:ext>
          </c:extLst>
        </c:ser>
        <c:ser>
          <c:idx val="3"/>
          <c:order val="3"/>
          <c:tx>
            <c:strRef>
              <c:f>'[informacao_do_estado_de_stock_2026-07-27T09_50_43.996445398Z(1).xlsx]Sheet1'!$E$4</c:f>
              <c:strCache>
                <c:ptCount val="1"/>
                <c:pt idx="0">
                  <c:v>Eminência de roptura</c:v>
                </c:pt>
              </c:strCache>
            </c:strRef>
          </c:tx>
          <c:spPr>
            <a:solidFill>
              <a:srgbClr val="FFFF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'[informacao_do_estado_de_stock_2026-07-27T09_50_43.996445398Z(1).xlsx]Sheet1'!$A$5:$A$11</c:f>
              <c:strCache>
                <c:ptCount val="7"/>
                <c:pt idx="0">
                  <c:v>Via Clássica</c:v>
                </c:pt>
                <c:pt idx="1">
                  <c:v>MTB</c:v>
                </c:pt>
                <c:pt idx="2">
                  <c:v>TARV</c:v>
                </c:pt>
                <c:pt idx="3">
                  <c:v>Testes Rápidos Diag.</c:v>
                </c:pt>
                <c:pt idx="4">
                  <c:v>Material Medico Cirúrgico</c:v>
                </c:pt>
                <c:pt idx="5">
                  <c:v>Malária</c:v>
                </c:pt>
                <c:pt idx="6">
                  <c:v>Total</c:v>
                </c:pt>
              </c:strCache>
            </c:strRef>
          </c:cat>
          <c:val>
            <c:numRef>
              <c:f>'[informacao_do_estado_de_stock_2026-07-27T09_50_43.996445398Z(1).xlsx]Sheet1'!$E$5:$E$11</c:f>
              <c:numCache>
                <c:formatCode>General</c:formatCode>
                <c:ptCount val="7"/>
                <c:pt idx="0">
                  <c:v>44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6</c:v>
                </c:pt>
                <c:pt idx="5">
                  <c:v>0</c:v>
                </c:pt>
                <c:pt idx="6">
                  <c:v>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EFD-46FF-B310-4D468D3B6343}"/>
            </c:ext>
          </c:extLst>
        </c:ser>
        <c:ser>
          <c:idx val="4"/>
          <c:order val="4"/>
          <c:tx>
            <c:strRef>
              <c:f>'[informacao_do_estado_de_stock_2026-07-27T09_50_43.996445398Z(1).xlsx]Sheet1'!$F$4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'[informacao_do_estado_de_stock_2026-07-27T09_50_43.996445398Z(1).xlsx]Sheet1'!$A$5:$A$11</c:f>
              <c:strCache>
                <c:ptCount val="7"/>
                <c:pt idx="0">
                  <c:v>Via Clássica</c:v>
                </c:pt>
                <c:pt idx="1">
                  <c:v>MTB</c:v>
                </c:pt>
                <c:pt idx="2">
                  <c:v>TARV</c:v>
                </c:pt>
                <c:pt idx="3">
                  <c:v>Testes Rápidos Diag.</c:v>
                </c:pt>
                <c:pt idx="4">
                  <c:v>Material Medico Cirúrgico</c:v>
                </c:pt>
                <c:pt idx="5">
                  <c:v>Malária</c:v>
                </c:pt>
                <c:pt idx="6">
                  <c:v>Total</c:v>
                </c:pt>
              </c:strCache>
            </c:strRef>
          </c:cat>
          <c:val>
            <c:numRef>
              <c:f>'[informacao_do_estado_de_stock_2026-07-27T09_50_43.996445398Z(1).xlsx]Sheet1'!$F$5:$F$11</c:f>
              <c:numCache>
                <c:formatCode>General</c:formatCode>
                <c:ptCount val="7"/>
                <c:pt idx="0">
                  <c:v>458</c:v>
                </c:pt>
                <c:pt idx="1">
                  <c:v>34</c:v>
                </c:pt>
                <c:pt idx="2">
                  <c:v>19</c:v>
                </c:pt>
                <c:pt idx="3">
                  <c:v>15</c:v>
                </c:pt>
                <c:pt idx="4">
                  <c:v>79</c:v>
                </c:pt>
                <c:pt idx="5">
                  <c:v>4</c:v>
                </c:pt>
                <c:pt idx="6">
                  <c:v>609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EFD-46FF-B310-4D468D3B63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227499648"/>
        <c:axId val="227501328"/>
      </c:barChart>
      <c:catAx>
        <c:axId val="22749964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7501328"/>
        <c:crosses val="autoZero"/>
        <c:auto val="1"/>
        <c:lblAlgn val="ctr"/>
        <c:lblOffset val="100"/>
        <c:noMultiLvlLbl val="0"/>
      </c:catAx>
      <c:valAx>
        <c:axId val="22750132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27499648"/>
        <c:crosses val="autoZero"/>
        <c:crossBetween val="between"/>
      </c:valAx>
    </c:plotArea>
    <c:legend>
      <c:legendPos val="t"/>
      <c:overlay val="0"/>
      <c:txPr>
        <a:bodyPr rot="0" spcFirstLastPara="0" vertOverflow="ellipsis" vert="horz" wrap="square" anchor="ctr" anchorCtr="1"/>
        <a:lstStyle/>
        <a:p>
          <a:pPr>
            <a:defRPr lang="en-GB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53b95f4d-d792-4135-a885-fa516f2edd41}"/>
      </c:ext>
    </c:extLst>
  </c:chart>
  <c:txPr>
    <a:bodyPr/>
    <a:lstStyle/>
    <a:p>
      <a:pPr>
        <a:defRPr lang="en-GB"/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sz="2000" dirty="0">
                <a:latin typeface="Bodoni MT" panose="02070603080606020203" pitchFamily="18" charset="0"/>
              </a:rPr>
              <a:t>Reagentes</a:t>
            </a:r>
            <a:r>
              <a:rPr lang="pt-PT" sz="2000" baseline="0" dirty="0">
                <a:latin typeface="Bodoni MT" panose="02070603080606020203" pitchFamily="18" charset="0"/>
              </a:rPr>
              <a:t> e consumiveis de laboratório</a:t>
            </a:r>
            <a:endParaRPr lang="pt-PT" sz="2000" dirty="0">
              <a:latin typeface="Bodoni MT" panose="02070603080606020203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A78-4EAB-9CC2-FFC33D2C9B68}"/>
              </c:ext>
            </c:extLst>
          </c:dPt>
          <c:dPt>
            <c:idx val="1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A78-4EAB-9CC2-FFC33D2C9B68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A78-4EAB-9CC2-FFC33D2C9B68}"/>
              </c:ext>
            </c:extLst>
          </c:dPt>
          <c:dPt>
            <c:idx val="3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A78-4EAB-9CC2-FFC33D2C9B68}"/>
              </c:ext>
            </c:extLst>
          </c:dPt>
          <c:dPt>
            <c:idx val="4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BA78-4EAB-9CC2-FFC33D2C9B6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Sheet1!$E$7:$E$11</c:f>
              <c:strCache>
                <c:ptCount val="5"/>
                <c:pt idx="0">
                  <c:v>Total de Reagentes e Consumiveis</c:v>
                </c:pt>
                <c:pt idx="1">
                  <c:v>Total de Reagentes com maior Rotatividade</c:v>
                </c:pt>
                <c:pt idx="2">
                  <c:v>Total de Reagentes Acumulados</c:v>
                </c:pt>
                <c:pt idx="3">
                  <c:v>Total de Reagentes com Roptura</c:v>
                </c:pt>
                <c:pt idx="4">
                  <c:v>Total de Reagentes com Eminencia de Roptura</c:v>
                </c:pt>
              </c:strCache>
            </c:strRef>
          </c:cat>
          <c:val>
            <c:numRef>
              <c:f>Sheet1!$F$7:$F$11</c:f>
              <c:numCache>
                <c:formatCode>General</c:formatCode>
                <c:ptCount val="5"/>
                <c:pt idx="0">
                  <c:v>51</c:v>
                </c:pt>
                <c:pt idx="1">
                  <c:v>19</c:v>
                </c:pt>
                <c:pt idx="2">
                  <c:v>6</c:v>
                </c:pt>
                <c:pt idx="3">
                  <c:v>20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A78-4EAB-9CC2-FFC33D2C9B6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85634592"/>
        <c:axId val="285648032"/>
      </c:barChart>
      <c:catAx>
        <c:axId val="285634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285648032"/>
        <c:crosses val="autoZero"/>
        <c:auto val="1"/>
        <c:lblAlgn val="ctr"/>
        <c:lblOffset val="100"/>
        <c:noMultiLvlLbl val="0"/>
      </c:catAx>
      <c:valAx>
        <c:axId val="285648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2856345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1048748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8FD59-9D0F-40A5-B250-B737B64162E8}" type="datetimeFigureOut">
              <a:rPr lang="pt-PT" smtClean="0"/>
              <a:t>28/07/2026</a:t>
            </a:fld>
            <a:endParaRPr lang="pt-PT"/>
          </a:p>
        </p:txBody>
      </p:sp>
      <p:sp>
        <p:nvSpPr>
          <p:cNvPr id="1048749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1048750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129F8A-2E1A-4ED4-86A0-F8F8C89DD0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1048742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FE548-66E2-490A-B8BE-3BB0057E4DE2}" type="datetimeFigureOut">
              <a:rPr lang="pt-PT" smtClean="0"/>
              <a:t>28/07/2026</a:t>
            </a:fld>
            <a:endParaRPr lang="pt-PT"/>
          </a:p>
        </p:txBody>
      </p:sp>
      <p:sp>
        <p:nvSpPr>
          <p:cNvPr id="104874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104874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104874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104874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2229E6-C54D-45FB-8CDB-E6480133944C}" type="slidenum">
              <a:rPr lang="pt-PT" smtClean="0"/>
              <a:t>‹nº›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0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61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0FCD6B51-D266-47C3-9CE4-6C12FE77CBF4}" type="datetime1">
              <a:rPr lang="en-US" smtClean="0"/>
              <a:t>7/28/2026</a:t>
            </a:fld>
            <a:endParaRPr lang="en-US"/>
          </a:p>
        </p:txBody>
      </p:sp>
      <p:sp>
        <p:nvSpPr>
          <p:cNvPr id="104866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66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sp>
        <p:nvSpPr>
          <p:cNvPr id="1048664" name="Título 1"/>
          <p:cNvSpPr txBox="1"/>
          <p:nvPr userDrawn="1"/>
        </p:nvSpPr>
        <p:spPr>
          <a:xfrm>
            <a:off x="1502668" y="464650"/>
            <a:ext cx="7675469" cy="193988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defTabSz="365760">
              <a:lnSpc>
                <a:spcPct val="150000"/>
              </a:lnSpc>
              <a:defRPr sz="108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REPÚBLICA DE MOÇAMBIQUE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CIDADE DE MAPUTO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CONSELHO DOS SERVIÇOS DE REPRESENTAÇÃO DO ESTADO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lang="pt-BR" sz="108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097157" name="Picture 1" descr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8745" y="129411"/>
            <a:ext cx="823579" cy="8429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097158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7593" y="0"/>
            <a:ext cx="251300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58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9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BA71251D-F6D8-4FC2-973A-95D980E2EFEF}" type="datetime1">
              <a:rPr lang="en-US" smtClean="0"/>
              <a:t>7/28/2026</a:t>
            </a:fld>
            <a:endParaRPr lang="en-US"/>
          </a:p>
        </p:txBody>
      </p:sp>
      <p:sp>
        <p:nvSpPr>
          <p:cNvPr id="104859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59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1048694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577361D-9EC4-4101-8F89-9D3C3A91704F}" type="datetime1">
              <a:rPr lang="en-US" smtClean="0"/>
              <a:t>7/28/2026</a:t>
            </a:fld>
            <a:endParaRPr lang="en-US"/>
          </a:p>
        </p:txBody>
      </p:sp>
      <p:sp>
        <p:nvSpPr>
          <p:cNvPr id="104869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69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1048727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2087D8B-E3A0-46A6-A6DD-F4ABDB3A591A}" type="datetime1">
              <a:rPr lang="en-US" smtClean="0"/>
              <a:t>7/28/2026</a:t>
            </a:fld>
            <a:endParaRPr lang="en-US"/>
          </a:p>
        </p:txBody>
      </p:sp>
      <p:sp>
        <p:nvSpPr>
          <p:cNvPr id="104872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72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8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699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B8A61937-3ED8-488B-B3C8-19ACDAB1881B}" type="datetime1">
              <a:rPr lang="en-US" smtClean="0"/>
              <a:t>7/28/2026</a:t>
            </a:fld>
            <a:endParaRPr lang="en-US"/>
          </a:p>
        </p:txBody>
      </p:sp>
      <p:sp>
        <p:nvSpPr>
          <p:cNvPr id="10487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7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66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7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8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29F4FEBF-EC45-4BA7-8B31-D6F135B53F81}" type="datetime1">
              <a:rPr lang="en-US" smtClean="0"/>
              <a:t>7/28/2026</a:t>
            </a:fld>
            <a:endParaRPr lang="en-US"/>
          </a:p>
        </p:txBody>
      </p:sp>
      <p:sp>
        <p:nvSpPr>
          <p:cNvPr id="104866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67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0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70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70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7" name="Date Placeholder 6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C85C495F-E200-4EE2-9D2F-806E1D739964}" type="datetime1">
              <a:rPr lang="en-US" smtClean="0"/>
              <a:t>7/28/2026</a:t>
            </a:fld>
            <a:endParaRPr lang="en-US"/>
          </a:p>
        </p:txBody>
      </p:sp>
      <p:sp>
        <p:nvSpPr>
          <p:cNvPr id="104870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70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2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0278709F-CD7E-4D26-9D83-9FC8391953F3}" type="datetime1">
              <a:rPr lang="en-US" smtClean="0"/>
              <a:t>7/28/2026</a:t>
            </a:fld>
            <a:endParaRPr lang="en-US"/>
          </a:p>
        </p:txBody>
      </p:sp>
      <p:sp>
        <p:nvSpPr>
          <p:cNvPr id="104862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62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0" name="Date Placeholder 1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CC8105E8-30DD-4052-8F75-FA42284CBA65}" type="datetime1">
              <a:rPr lang="en-US" smtClean="0"/>
              <a:t>7/28/2026</a:t>
            </a:fld>
            <a:endParaRPr lang="en-US"/>
          </a:p>
        </p:txBody>
      </p:sp>
      <p:sp>
        <p:nvSpPr>
          <p:cNvPr id="104858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58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21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22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723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BD330B30-77CF-48AC-ABA9-7A3B3A8FF6CD}" type="datetime1">
              <a:rPr lang="en-US" smtClean="0"/>
              <a:t>7/28/2026</a:t>
            </a:fld>
            <a:endParaRPr lang="en-US"/>
          </a:p>
        </p:txBody>
      </p:sp>
      <p:sp>
        <p:nvSpPr>
          <p:cNvPr id="104872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72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80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048681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682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C1581D66-ADA7-4323-B1EC-35A6B438FE67}" type="datetime1">
              <a:rPr lang="en-US" smtClean="0"/>
              <a:t>7/28/2026</a:t>
            </a:fld>
            <a:endParaRPr lang="en-US"/>
          </a:p>
        </p:txBody>
      </p:sp>
      <p:sp>
        <p:nvSpPr>
          <p:cNvPr id="104868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68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16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717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0D05E78D-37F7-4D41-B60E-14CB5F927762}" type="datetime1">
              <a:rPr lang="en-US" smtClean="0"/>
              <a:t>7/28/2026</a:t>
            </a:fld>
            <a:endParaRPr lang="en-US"/>
          </a:p>
        </p:txBody>
      </p:sp>
      <p:sp>
        <p:nvSpPr>
          <p:cNvPr id="104871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7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72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67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67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8E1D4FEE-2241-43B1-90A1-0F091DB55BB9}" type="datetime1">
              <a:rPr lang="en-US" smtClean="0"/>
              <a:t>7/28/2026</a:t>
            </a:fld>
            <a:endParaRPr lang="en-US"/>
          </a:p>
        </p:txBody>
      </p:sp>
      <p:sp>
        <p:nvSpPr>
          <p:cNvPr id="104867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67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sp>
        <p:nvSpPr>
          <p:cNvPr id="1048677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1048678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31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732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E2925387-D311-4F7F-BF79-EBD45F0D33E7}" type="datetime1">
              <a:rPr lang="en-US" smtClean="0"/>
              <a:t>7/28/2026</a:t>
            </a:fld>
            <a:endParaRPr lang="en-US"/>
          </a:p>
        </p:txBody>
      </p:sp>
      <p:sp>
        <p:nvSpPr>
          <p:cNvPr id="104873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73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86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687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688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934D10FB-448B-43A8-889D-B7AED872DE4B}" type="datetime1">
              <a:rPr lang="en-US" smtClean="0"/>
              <a:t>7/28/2026</a:t>
            </a:fld>
            <a:endParaRPr lang="en-US"/>
          </a:p>
        </p:txBody>
      </p:sp>
      <p:sp>
        <p:nvSpPr>
          <p:cNvPr id="104868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69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sp>
        <p:nvSpPr>
          <p:cNvPr id="1048691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1048692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36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737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738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02FC17FD-9ACB-4C23-9FFA-02147DFB0E47}" type="datetime1">
              <a:rPr lang="en-US" smtClean="0"/>
              <a:t>7/28/2026</a:t>
            </a:fld>
            <a:endParaRPr lang="en-US"/>
          </a:p>
        </p:txBody>
      </p:sp>
      <p:sp>
        <p:nvSpPr>
          <p:cNvPr id="104873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74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1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12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4DD00591-4DE6-4AC3-9433-7986D8106039}" type="datetime1">
              <a:rPr lang="en-US" smtClean="0"/>
              <a:t>7/28/2026</a:t>
            </a:fld>
            <a:endParaRPr lang="en-US"/>
          </a:p>
        </p:txBody>
      </p:sp>
      <p:sp>
        <p:nvSpPr>
          <p:cNvPr id="104871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7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5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6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5D3BF1B1-D4A1-4C05-A965-0CB17CAD1F3C}" type="datetime1">
              <a:rPr lang="en-US" smtClean="0"/>
              <a:t>7/28/2026</a:t>
            </a:fld>
            <a:endParaRPr lang="en-US"/>
          </a:p>
        </p:txBody>
      </p:sp>
      <p:sp>
        <p:nvSpPr>
          <p:cNvPr id="104865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65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26862" y="6088988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57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pic>
        <p:nvPicPr>
          <p:cNvPr id="2097152" name="Picture 1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9678998" y="0"/>
            <a:ext cx="2513001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Footer Placeholder 3"/>
          <p:cNvSpPr txBox="1"/>
          <p:nvPr/>
        </p:nvSpPr>
        <p:spPr>
          <a:xfrm>
            <a:off x="1169087" y="5445224"/>
            <a:ext cx="9996896" cy="72008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Promovendo O Subsistema Comunitário Para O Alcance Da Cobertura Universal De Saúde</a:t>
            </a:r>
            <a:r>
              <a:rPr lang="pt-BR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9" name="Rectângulo 10"/>
          <p:cNvSpPr txBox="1"/>
          <p:nvPr/>
        </p:nvSpPr>
        <p:spPr>
          <a:xfrm>
            <a:off x="1276121" y="4653136"/>
            <a:ext cx="9782827" cy="40011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ctr">
              <a:defRPr sz="200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dirty="0">
              <a:solidFill>
                <a:srgbClr val="0D0D0D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1764177" y="2026275"/>
            <a:ext cx="8305101" cy="96193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SERVIÇOS DE SAÚDE DA CIDADE</a:t>
            </a:r>
          </a:p>
          <a:p>
            <a:pPr algn="ctr"/>
            <a:r>
              <a:rPr lang="pt-PT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Repartição de Logística e Assistência Farmacêutica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474" y="3360777"/>
            <a:ext cx="10498509" cy="961936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l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lang="pt-BR" sz="2800" b="1" dirty="0">
                <a:solidFill>
                  <a:schemeClr val="bg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Desafios na gestão de medicamentos Material médico-cirúrgico</a:t>
            </a:r>
            <a:endParaRPr lang="en-ZA" sz="2700" b="1" dirty="0">
              <a:solidFill>
                <a:schemeClr val="bg1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 sz="200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pt-BR" dirty="0"/>
              <a:t>                                           </a:t>
            </a:r>
            <a:r>
              <a:rPr lang="pt-BR" b="1" dirty="0">
                <a:solidFill>
                  <a:srgbClr val="0D0D0D"/>
                </a:solidFill>
                <a:latin typeface="Bodoni MT" panose="02070603080606020203" pitchFamily="18" charset="0"/>
              </a:rPr>
              <a:t>Maputo Cidade, Julho  de  2026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782249" y="6237312"/>
            <a:ext cx="68333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330719" y="5962147"/>
            <a:ext cx="748070" cy="59513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Retângulo 7"/>
          <p:cNvSpPr/>
          <p:nvPr/>
        </p:nvSpPr>
        <p:spPr>
          <a:xfrm>
            <a:off x="771525" y="5445224"/>
            <a:ext cx="9801225" cy="46208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Maputo Cidade, pela Convergência Económica, Inclusão, Inovação e Progresso Social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>
          <a:xfrm>
            <a:off x="2105536" y="6119476"/>
            <a:ext cx="6297612" cy="365125"/>
          </a:xfrm>
        </p:spPr>
        <p:txBody>
          <a:bodyPr/>
          <a:lstStyle/>
          <a:p>
            <a:r>
              <a:rPr lang="pt-BR" dirty="0">
                <a:solidFill>
                  <a:srgbClr val="00B050"/>
                </a:solidFill>
              </a:rPr>
              <a:t>Maputo Cidade, pela Convergência Económica, Inclusão, Inovação e Progresso Social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00050" y="904757"/>
            <a:ext cx="10198100" cy="99927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pt-BR" dirty="0">
              <a:latin typeface="Bodoni MT" panose="02070603080606020203" pitchFamily="18" charset="0"/>
            </a:endParaRPr>
          </a:p>
          <a:p>
            <a:pPr algn="just"/>
            <a:r>
              <a:rPr lang="pt-BR" sz="2000" dirty="0">
                <a:latin typeface="Bodoni MT" panose="02070603080606020203" pitchFamily="18" charset="0"/>
              </a:rPr>
              <a:t>A logística farmacêutica desempenha um papel fundamental na disponibilidade de medicamentos e material médico-cirúrgico necessários à prestação de cuidados de saúde com qualidade</a:t>
            </a:r>
            <a:r>
              <a:rPr lang="pt-BR" sz="2400" dirty="0">
                <a:latin typeface="Bodoni MT" panose="02070603080606020203" pitchFamily="18" charset="0"/>
              </a:rPr>
              <a:t>.</a:t>
            </a:r>
          </a:p>
          <a:p>
            <a:pPr algn="just"/>
            <a:endParaRPr lang="pt-BR" sz="2400" dirty="0"/>
          </a:p>
        </p:txBody>
      </p:sp>
      <p:sp>
        <p:nvSpPr>
          <p:cNvPr id="8" name="Rounded Rectangle 7"/>
          <p:cNvSpPr/>
          <p:nvPr/>
        </p:nvSpPr>
        <p:spPr>
          <a:xfrm>
            <a:off x="438150" y="3039050"/>
            <a:ext cx="10160000" cy="8509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000" dirty="0">
                <a:latin typeface="Bodoni MT" panose="02070603080606020203" pitchFamily="18" charset="0"/>
              </a:rPr>
              <a:t>Neste contexto, torna-se essencial fortalecer a gestão logística, para melhorar a qualidade dos dados e adoptar estratégias que assegurem a disponibilidade contínua dos produtos, reduzindo perdas e promovendo a eficiência dos recursos existentes.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" y="2041162"/>
            <a:ext cx="10198100" cy="89090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000" dirty="0">
                <a:latin typeface="Bodoni MT" panose="02070603080606020203" pitchFamily="18" charset="0"/>
              </a:rPr>
              <a:t>Entretanto, desafios como rupturas, excessos de stock</a:t>
            </a:r>
            <a:r>
              <a:rPr lang="en-US" altLang="pt-BR" sz="2000" dirty="0">
                <a:latin typeface="Bodoni MT" panose="02070603080606020203" pitchFamily="18" charset="0"/>
              </a:rPr>
              <a:t> de produtos com menor rotação</a:t>
            </a:r>
            <a:r>
              <a:rPr lang="pt-BR" sz="2000" dirty="0">
                <a:latin typeface="Bodoni MT" panose="02070603080606020203" pitchFamily="18" charset="0"/>
              </a:rPr>
              <a:t>, produtos </a:t>
            </a:r>
            <a:r>
              <a:rPr lang="en-US" altLang="pt-BR" sz="2000" dirty="0">
                <a:latin typeface="Bodoni MT" panose="02070603080606020203" pitchFamily="18" charset="0"/>
              </a:rPr>
              <a:t>prestes a expirar</a:t>
            </a:r>
            <a:r>
              <a:rPr lang="pt-BR" sz="2000" dirty="0">
                <a:latin typeface="Bodoni MT" panose="02070603080606020203" pitchFamily="18" charset="0"/>
              </a:rPr>
              <a:t>, limitações de armazenamento e dificuldades de distribuição comprometem a eficiência da cadeia de abastecimento.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7500" y="152400"/>
            <a:ext cx="10318750" cy="54610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err="1">
                <a:latin typeface="Bodoni MT" panose="02070603080606020203" pitchFamily="18" charset="0"/>
              </a:rPr>
              <a:t>Introdução</a:t>
            </a:r>
            <a:endParaRPr lang="en-US" sz="3600" b="1" dirty="0">
              <a:latin typeface="Bodoni MT" panose="02070603080606020203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76250" y="4068472"/>
            <a:ext cx="10198100" cy="6985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sz="2000" dirty="0">
                <a:latin typeface="Bodoni MT" panose="02070603080606020203" pitchFamily="18" charset="0"/>
              </a:rPr>
              <a:t>A CMAM assegura aquisição, recepção, armazenamento e distribuição nacional, abastecendo o DPM-SSCM, que distribui aos hospitais gerais e centros de saúde. </a:t>
            </a:r>
            <a:endParaRPr lang="en-US" sz="2000" dirty="0">
              <a:latin typeface="Bodoni MT" panose="02070603080606020203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6250" y="4904105"/>
            <a:ext cx="10160000" cy="6985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sz="2000" dirty="0">
                <a:latin typeface="Bodoni MT" panose="02070603080606020203" pitchFamily="18" charset="0"/>
              </a:rPr>
              <a:t>Com a gestão directa dos Hospitais Gerais pela CMAM, o Depósito de Medicamentos da Cidade de Maputo garante a distribuição às Unidades Sanitárias de nível primário.</a:t>
            </a:r>
            <a:endParaRPr lang="en-US" sz="2000" dirty="0">
              <a:latin typeface="Bodoni MT" panose="02070603080606020203" pitchFamily="18" charset="0"/>
            </a:endParaRPr>
          </a:p>
        </p:txBody>
      </p:sp>
      <p:sp>
        <p:nvSpPr>
          <p:cNvPr id="2" name="Oval 1"/>
          <p:cNvSpPr/>
          <p:nvPr/>
        </p:nvSpPr>
        <p:spPr>
          <a:xfrm>
            <a:off x="11140237" y="6041362"/>
            <a:ext cx="773089" cy="59456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00B050"/>
                </a:solidFill>
              </a:rPr>
              <a:t>Maputo Cidade, pela Convergência Económica, Inclusão, Inovação e Progresso Social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622300" y="451757"/>
            <a:ext cx="10223500" cy="6096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latin typeface="Bodoni MT" panose="02070603080606020203" pitchFamily="18" charset="0"/>
              </a:rPr>
              <a:t>Objectivo Geral</a:t>
            </a:r>
            <a:endParaRPr lang="en-US" sz="3600" dirty="0">
              <a:latin typeface="Bodoni MT" panose="02070603080606020203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2300" y="3327400"/>
            <a:ext cx="10071100" cy="2159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000" dirty="0">
                <a:latin typeface="Bodoni MT" panose="02070603080606020203" pitchFamily="18" charset="0"/>
              </a:rPr>
              <a:t>Avaliar a situação actual dos stocks de medicamentos e material médico-cirúrgico.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000" dirty="0">
                <a:latin typeface="Bodoni MT" panose="02070603080606020203" pitchFamily="18" charset="0"/>
              </a:rPr>
              <a:t>Analisar os principais factores que contribuem para as rupturas e acumul</a:t>
            </a:r>
            <a:r>
              <a:rPr lang="en-US" altLang="pt-BR" sz="2000" dirty="0">
                <a:latin typeface="Bodoni MT" panose="02070603080606020203" pitchFamily="18" charset="0"/>
              </a:rPr>
              <a:t>o</a:t>
            </a:r>
            <a:r>
              <a:rPr lang="pt-BR" sz="2000" dirty="0">
                <a:latin typeface="Bodoni MT" panose="02070603080606020203" pitchFamily="18" charset="0"/>
              </a:rPr>
              <a:t> de produtos.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000" dirty="0">
                <a:latin typeface="Bodoni MT" panose="02070603080606020203" pitchFamily="18" charset="0"/>
              </a:rPr>
              <a:t>Identificar os principais constrangimentos na gestão de medicamentos e material médico-cirúrgico.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000" dirty="0">
                <a:latin typeface="Bodoni MT" panose="02070603080606020203" pitchFamily="18" charset="0"/>
              </a:rPr>
              <a:t>Propor medidas para melhorar a disponibilidade e a gestão eficiente dos produtos.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00" y="1333500"/>
            <a:ext cx="10223500" cy="1041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2000" dirty="0">
              <a:latin typeface="Bodoni MT" panose="02070603080606020203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altLang="pt-BR" sz="2000" dirty="0">
                <a:latin typeface="Bodoni MT" panose="02070603080606020203" pitchFamily="18" charset="0"/>
              </a:rPr>
              <a:t>Identificar os desafios na cadeia de </a:t>
            </a:r>
            <a:r>
              <a:rPr lang="pt-BR" sz="2000" dirty="0">
                <a:latin typeface="Bodoni MT" panose="02070603080606020203" pitchFamily="18" charset="0"/>
              </a:rPr>
              <a:t>gestão de medicamentos e material médico-cirúrgico, identificando os principais desafios e constrangimentos que afectam o abastecimento das Unidades Sanitárias.</a:t>
            </a:r>
            <a:endParaRPr lang="en-US" sz="2000" dirty="0">
              <a:latin typeface="Bodoni MT" panose="02070603080606020203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2300" y="2647043"/>
            <a:ext cx="10223500" cy="5461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latin typeface="Bodoni MT" panose="02070603080606020203" pitchFamily="18" charset="0"/>
              </a:rPr>
              <a:t>Objectivos Específicos</a:t>
            </a:r>
            <a:endParaRPr lang="en-US" sz="3600" dirty="0">
              <a:latin typeface="Bodoni MT" panose="02070603080606020203" pitchFamily="18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981509" y="6088988"/>
            <a:ext cx="769256" cy="58758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20700" y="571500"/>
            <a:ext cx="10033000" cy="7366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/>
              <a:t>Situação actual dos stocks de medicamentos e MMC</a:t>
            </a:r>
            <a:endParaRPr lang="en-US" sz="3200" b="1" dirty="0"/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785843894"/>
              </p:ext>
            </p:extLst>
          </p:nvPr>
        </p:nvGraphicFramePr>
        <p:xfrm>
          <a:off x="1149291" y="1925186"/>
          <a:ext cx="8313489" cy="3376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Oval 2"/>
          <p:cNvSpPr/>
          <p:nvPr/>
        </p:nvSpPr>
        <p:spPr>
          <a:xfrm>
            <a:off x="11286309" y="5802811"/>
            <a:ext cx="740227" cy="52832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4" name="Retângulo 3"/>
          <p:cNvSpPr/>
          <p:nvPr/>
        </p:nvSpPr>
        <p:spPr>
          <a:xfrm>
            <a:off x="1990725" y="5351382"/>
            <a:ext cx="6096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rgbClr val="00B050"/>
                </a:solidFill>
              </a:rPr>
              <a:t>Maputo Cidade, pela Convergência Económica, Inclusão, Inovação e Progresso Social </a:t>
            </a:r>
            <a:endParaRPr lang="en-US" sz="12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3675260"/>
              </p:ext>
            </p:extLst>
          </p:nvPr>
        </p:nvGraphicFramePr>
        <p:xfrm>
          <a:off x="512617" y="1537856"/>
          <a:ext cx="9955085" cy="41840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Footer Placeholder 3"/>
          <p:cNvSpPr txBox="1">
            <a:spLocks/>
          </p:cNvSpPr>
          <p:nvPr/>
        </p:nvSpPr>
        <p:spPr>
          <a:xfrm>
            <a:off x="1826862" y="6088988"/>
            <a:ext cx="6297612" cy="36512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100" dirty="0">
                <a:solidFill>
                  <a:srgbClr val="00B050"/>
                </a:solidFill>
              </a:rPr>
              <a:t>Maputo Cidade, pela Convergência Económica, Inclusão, Inovação e Progresso Social. </a:t>
            </a:r>
            <a:endParaRPr lang="en-US" sz="1100" dirty="0">
              <a:solidFill>
                <a:srgbClr val="00B050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12616" y="152400"/>
            <a:ext cx="9955086" cy="54610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 err="1">
                <a:latin typeface="Bodoni MT" panose="02070603080606020203" pitchFamily="18" charset="0"/>
              </a:rPr>
              <a:t>Reagentes</a:t>
            </a:r>
            <a:r>
              <a:rPr lang="en-US" sz="3600" b="1" dirty="0">
                <a:latin typeface="Bodoni MT" panose="02070603080606020203" pitchFamily="18" charset="0"/>
              </a:rPr>
              <a:t> e </a:t>
            </a:r>
            <a:r>
              <a:rPr lang="en-US" sz="3600" b="1" dirty="0" err="1">
                <a:latin typeface="Bodoni MT" panose="02070603080606020203" pitchFamily="18" charset="0"/>
              </a:rPr>
              <a:t>Consumiveis</a:t>
            </a:r>
            <a:r>
              <a:rPr lang="en-US" sz="3600" b="1" dirty="0">
                <a:latin typeface="Bodoni MT" panose="02070603080606020203" pitchFamily="18" charset="0"/>
              </a:rPr>
              <a:t> do </a:t>
            </a:r>
            <a:r>
              <a:rPr lang="en-US" sz="3600" b="1" dirty="0" err="1">
                <a:latin typeface="Bodoni MT" panose="02070603080606020203" pitchFamily="18" charset="0"/>
              </a:rPr>
              <a:t>Laboratorio</a:t>
            </a:r>
            <a:endParaRPr lang="en-US" sz="3600" b="1" dirty="0">
              <a:latin typeface="Bodoni MT" panose="02070603080606020203" pitchFamily="18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D686B9D4-0AC9-0B1C-2F07-F01B95347392}"/>
              </a:ext>
            </a:extLst>
          </p:cNvPr>
          <p:cNvSpPr/>
          <p:nvPr/>
        </p:nvSpPr>
        <p:spPr>
          <a:xfrm>
            <a:off x="11138263" y="6088988"/>
            <a:ext cx="635725" cy="47132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68015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JPPAPE~1\AppData\Local\Temp\Rar$DRa13600.32931\01_situacao_geral_stock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224" y="733800"/>
            <a:ext cx="9971552" cy="5390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JPPAPE~1\AppData\Local\Temp\Rar$DRa13600.32931\02_situacao_stock_por_distrit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881" y="274313"/>
            <a:ext cx="10872238" cy="6309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/>
          <p:cNvSpPr/>
          <p:nvPr/>
        </p:nvSpPr>
        <p:spPr>
          <a:xfrm>
            <a:off x="10834501" y="6007888"/>
            <a:ext cx="725714" cy="53702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81818" y="107950"/>
            <a:ext cx="9489282" cy="48895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err="1">
                <a:latin typeface="Bodoni MT" panose="02070603080606020203" pitchFamily="18" charset="0"/>
              </a:rPr>
              <a:t>Ropturas</a:t>
            </a:r>
            <a:r>
              <a:rPr lang="en-US" sz="3600" b="1" dirty="0">
                <a:latin typeface="Bodoni MT" panose="02070603080606020203" pitchFamily="18" charset="0"/>
              </a:rPr>
              <a:t>- MMC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730546"/>
              </p:ext>
            </p:extLst>
          </p:nvPr>
        </p:nvGraphicFramePr>
        <p:xfrm>
          <a:off x="581818" y="1027906"/>
          <a:ext cx="9489282" cy="5109210"/>
        </p:xfrm>
        <a:graphic>
          <a:graphicData uri="http://schemas.openxmlformats.org/drawingml/2006/table">
            <a:tbl>
              <a:tblPr/>
              <a:tblGrid>
                <a:gridCol w="9489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2389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Bodoni MT" panose="02070603080606020203" pitchFamily="18" charset="0"/>
                        </a:rPr>
                        <a:t>Nome do </a:t>
                      </a:r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Bodoni MT" panose="02070603080606020203" pitchFamily="18" charset="0"/>
                        </a:rPr>
                        <a:t>produto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Bodoni MT" panose="02070603080606020203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389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Agulha intra óssea pediatrica 16G; Sem Dosagem; Embalagem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389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Seringa sem agulha; 1ml; Seringas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389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Seringa sem agulha; 1ml; Seringas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389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Algalia Foley de Silicone( Cateter) de 2 vias n 18; 5 ml 2 Way; Algália/cateter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389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Luvas de Examinacao de Latex Medio; Sem Dosagem; Luvas de Examinacao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389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Luvas Cirurgicas 6,5 par; Sem Dosagem; Luvas de Examinacao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389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Luvas Cirurgicas 8,5 par; Sem Dosagem; Luvas de Examinacao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2389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luvas Descartaveis de Polietileno Pequenas; Sem Dosagem; Luvas de Examinacao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2389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Luvas Descartaveis de Polietileno Medias; Sem Dosagem; Luvas de Examinacao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2389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Luvas Descartaveis de Polietileno Grandes; Sem Dosagem; Luvas de Examinacao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2389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Fio sutura absorv. sint.agulha 3/8;26mm,triangular; 3/8, 26mm;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2389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Mascara KN95 (Covid 19) ; N/A; 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2389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Mascara FFP2 (Covid 19); Sem Dosagem;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2389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Luvas cirurgicas 7.5 (Covid 19); N/A; 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2389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Luvas de examinacao  tamanho S (Covid 19); N/A; Luvas de Examinacao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2389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Luvas Cirurgicas; 8 (Covid 19); N/A; Luvas de Examinacao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2389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Luvas de examinacao  tamanho L (Covid 19); N/A; Luvas de Examinacao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2" name="Oval 1"/>
          <p:cNvSpPr/>
          <p:nvPr/>
        </p:nvSpPr>
        <p:spPr>
          <a:xfrm>
            <a:off x="11155679" y="6209212"/>
            <a:ext cx="740229" cy="53993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304959"/>
              </p:ext>
            </p:extLst>
          </p:nvPr>
        </p:nvGraphicFramePr>
        <p:xfrm>
          <a:off x="429306" y="1092199"/>
          <a:ext cx="4546826" cy="5608639"/>
        </p:xfrm>
        <a:graphic>
          <a:graphicData uri="http://schemas.openxmlformats.org/drawingml/2006/table">
            <a:tbl>
              <a:tblPr/>
              <a:tblGrid>
                <a:gridCol w="4546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536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Bodoni MT" panose="02070603080606020203" pitchFamily="18" charset="0"/>
                        </a:rPr>
                        <a:t>Nome</a:t>
                      </a:r>
                      <a:r>
                        <a:rPr lang="en-US" sz="16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Bodoni MT" panose="02070603080606020203" pitchFamily="18" charset="0"/>
                        </a:rPr>
                        <a:t> do </a:t>
                      </a:r>
                      <a:r>
                        <a:rPr lang="en-US" sz="1600" b="1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Bodoni MT" panose="02070603080606020203" pitchFamily="18" charset="0"/>
                        </a:rPr>
                        <a:t>Produto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Bodoni MT" panose="02070603080606020203" pitchFamily="18" charset="0"/>
                      </a:endParaRPr>
                    </a:p>
                  </a:txBody>
                  <a:tcPr marL="9242" marR="9242" marT="92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362"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Penicilina procaina; 3 000 000UI; Inj ampola</a:t>
                      </a:r>
                    </a:p>
                  </a:txBody>
                  <a:tcPr marL="9242" marR="9242" marT="92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36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Amoxicilina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comprimido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despersivel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 ; 250mg; Comp</a:t>
                      </a:r>
                    </a:p>
                  </a:txBody>
                  <a:tcPr marL="9242" marR="9242" marT="92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36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Amoxicilina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trihidrato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; 125mg/5mL;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Susp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Bodoni MT" panose="02070603080606020203" pitchFamily="18" charset="0"/>
                      </a:endParaRPr>
                    </a:p>
                  </a:txBody>
                  <a:tcPr marL="9242" marR="9242" marT="92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36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Cefixima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; 400mg; Comp</a:t>
                      </a:r>
                    </a:p>
                  </a:txBody>
                  <a:tcPr marL="9242" marR="9242" marT="92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536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Ceftadizima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; 1g-ampola;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Inj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Bodoni MT" panose="02070603080606020203" pitchFamily="18" charset="0"/>
                      </a:endParaRPr>
                    </a:p>
                  </a:txBody>
                  <a:tcPr marL="9242" marR="9242" marT="92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536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Ceftriaxona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; 1g/4ml-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ampola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;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Inj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Bodoni MT" panose="02070603080606020203" pitchFamily="18" charset="0"/>
                      </a:endParaRPr>
                    </a:p>
                  </a:txBody>
                  <a:tcPr marL="9242" marR="9242" marT="92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139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Ceftriaxona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 1g,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po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 para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solucao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injectavel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 intramuscular; 1g/4ml-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ampola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; Po</a:t>
                      </a:r>
                    </a:p>
                  </a:txBody>
                  <a:tcPr marL="9242" marR="9242" marT="92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536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Amikacina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sulfato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; (500mg/2ml);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Inj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Bodoni MT" panose="02070603080606020203" pitchFamily="18" charset="0"/>
                      </a:endParaRPr>
                    </a:p>
                  </a:txBody>
                  <a:tcPr marL="9242" marR="9242" marT="92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536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Eritromicina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,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estearato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; 500mg; Comp</a:t>
                      </a:r>
                    </a:p>
                  </a:txBody>
                  <a:tcPr marL="9242" marR="9242" marT="92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536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Doxiciclina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Hidrocloreto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; 100mg; Caps</a:t>
                      </a:r>
                    </a:p>
                  </a:txBody>
                  <a:tcPr marL="9242" marR="9242" marT="92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536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Ciprofloxacina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; 500mg; Comp</a:t>
                      </a:r>
                    </a:p>
                  </a:txBody>
                  <a:tcPr marL="9242" marR="9242" marT="92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536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Ciprofloxacina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; 250mg; Comp</a:t>
                      </a:r>
                    </a:p>
                  </a:txBody>
                  <a:tcPr marL="9242" marR="9242" marT="92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536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Moxifloxacina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; 100mg; Comp</a:t>
                      </a:r>
                    </a:p>
                  </a:txBody>
                  <a:tcPr marL="9242" marR="9242" marT="92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536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Clofazimina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 ; 50mg; Comp</a:t>
                      </a:r>
                    </a:p>
                  </a:txBody>
                  <a:tcPr marL="9242" marR="9242" marT="92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536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Clofazimina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; 100mg; Caps</a:t>
                      </a:r>
                    </a:p>
                  </a:txBody>
                  <a:tcPr marL="9242" marR="9242" marT="92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536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Albendazol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 ( DTNs); 400mg; Comp</a:t>
                      </a:r>
                    </a:p>
                  </a:txBody>
                  <a:tcPr marL="9242" marR="9242" marT="92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536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Tiabendazol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; 5%;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Pomada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Bodoni MT" panose="02070603080606020203" pitchFamily="18" charset="0"/>
                      </a:endParaRPr>
                    </a:p>
                  </a:txBody>
                  <a:tcPr marL="9242" marR="9242" marT="92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536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Sulfadoxina+Pirimetamina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; 500mg + 25mg; Comp</a:t>
                      </a:r>
                    </a:p>
                  </a:txBody>
                  <a:tcPr marL="9242" marR="9242" marT="92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536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Fluconazol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; 50mg; Caps</a:t>
                      </a:r>
                    </a:p>
                  </a:txBody>
                  <a:tcPr marL="9242" marR="9242" marT="92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536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Griseofulvina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; 500mg; Comp</a:t>
                      </a:r>
                    </a:p>
                  </a:txBody>
                  <a:tcPr marL="9242" marR="9242" marT="92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190417"/>
              </p:ext>
            </p:extLst>
          </p:nvPr>
        </p:nvGraphicFramePr>
        <p:xfrm>
          <a:off x="5349600" y="1092197"/>
          <a:ext cx="5158743" cy="5589862"/>
        </p:xfrm>
        <a:graphic>
          <a:graphicData uri="http://schemas.openxmlformats.org/drawingml/2006/table">
            <a:tbl>
              <a:tblPr/>
              <a:tblGrid>
                <a:gridCol w="5158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203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Bodoni MT" panose="02070603080606020203" pitchFamily="18" charset="0"/>
                        </a:rPr>
                        <a:t>Nome</a:t>
                      </a:r>
                      <a:r>
                        <a:rPr lang="en-US" sz="16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Bodoni MT" panose="02070603080606020203" pitchFamily="18" charset="0"/>
                        </a:rPr>
                        <a:t> do </a:t>
                      </a:r>
                      <a:r>
                        <a:rPr lang="en-US" sz="1600" b="1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Bodoni MT" panose="02070603080606020203" pitchFamily="18" charset="0"/>
                        </a:rPr>
                        <a:t>Prorduto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Bodoni MT" panose="02070603080606020203" pitchFamily="18" charset="0"/>
                      </a:endParaRPr>
                    </a:p>
                  </a:txBody>
                  <a:tcPr marL="7464" marR="7464" marT="74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59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Abacavir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 (ABC)+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Lamivudina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 (3TC); 120mg+60mg 60Comp; </a:t>
                      </a:r>
                    </a:p>
                  </a:txBody>
                  <a:tcPr marL="7464" marR="7464" marT="74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4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Abacavir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 (ABC)+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Lamivudina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 (3TC); 600mg+300mg, 30cp</a:t>
                      </a:r>
                    </a:p>
                  </a:txBody>
                  <a:tcPr marL="7464" marR="7464" marT="74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03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Dolutegravir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; 10 mg 30 Comp; </a:t>
                      </a:r>
                    </a:p>
                  </a:txBody>
                  <a:tcPr marL="7464" marR="7464" marT="74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03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Doxorrubicina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 liposomal; 50mg/25mL;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Inj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Bodoni MT" panose="02070603080606020203" pitchFamily="18" charset="0"/>
                      </a:endParaRPr>
                    </a:p>
                  </a:txBody>
                  <a:tcPr marL="7464" marR="7464" marT="74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03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Hidroxicarbamida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 (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Hidroxiureia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); 500mg; Caps</a:t>
                      </a:r>
                    </a:p>
                  </a:txBody>
                  <a:tcPr marL="7464" marR="7464" marT="74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03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Ondansetron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; 8mg/4mL;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Inj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Bodoni MT" panose="02070603080606020203" pitchFamily="18" charset="0"/>
                      </a:endParaRPr>
                    </a:p>
                  </a:txBody>
                  <a:tcPr marL="7464" marR="7464" marT="74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03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Espironolactona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; 25mg; Comp</a:t>
                      </a:r>
                    </a:p>
                  </a:txBody>
                  <a:tcPr marL="7464" marR="7464" marT="74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03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Hidroclortiazida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 ; 25mg; Comp</a:t>
                      </a:r>
                    </a:p>
                  </a:txBody>
                  <a:tcPr marL="7464" marR="7464" marT="74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03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Manitol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; 2g/100ml;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Inj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Bodoni MT" panose="02070603080606020203" pitchFamily="18" charset="0"/>
                      </a:endParaRPr>
                    </a:p>
                  </a:txBody>
                  <a:tcPr marL="7464" marR="7464" marT="74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03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Manitol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; 500ML (20%);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Inj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Bodoni MT" panose="02070603080606020203" pitchFamily="18" charset="0"/>
                      </a:endParaRPr>
                    </a:p>
                  </a:txBody>
                  <a:tcPr marL="7464" marR="7464" marT="74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03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Manitol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; 500ML (20%);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Inj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Bodoni MT" panose="02070603080606020203" pitchFamily="18" charset="0"/>
                      </a:endParaRPr>
                    </a:p>
                  </a:txBody>
                  <a:tcPr marL="7464" marR="7464" marT="74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203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Agua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para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Injectaveis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 ; 5ml;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Inj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Bodoni MT" panose="02070603080606020203" pitchFamily="18" charset="0"/>
                      </a:endParaRPr>
                    </a:p>
                  </a:txBody>
                  <a:tcPr marL="7464" marR="7464" marT="74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203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Cloreto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 de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sodio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; 20mL 20%;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Inj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Bodoni MT" panose="02070603080606020203" pitchFamily="18" charset="0"/>
                      </a:endParaRPr>
                    </a:p>
                  </a:txBody>
                  <a:tcPr marL="7464" marR="7464" marT="74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203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Gelatina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polimerizada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 (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Haemaccel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); 3,5%/500ml;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Inj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Bodoni MT" panose="02070603080606020203" pitchFamily="18" charset="0"/>
                      </a:endParaRPr>
                    </a:p>
                  </a:txBody>
                  <a:tcPr marL="7464" marR="7464" marT="74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2032"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Glicose (Dextrose); 1000mL 5%; Inj</a:t>
                      </a:r>
                    </a:p>
                  </a:txBody>
                  <a:tcPr marL="7464" marR="7464" marT="74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010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Resomal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 (SRO); Sodium 45mmol/L + Potassium 40; Po</a:t>
                      </a:r>
                    </a:p>
                  </a:txBody>
                  <a:tcPr marL="7464" marR="7464" marT="74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2032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Sais de Rehidratacao Oral; 2,6g+1,5g+2,9g+13,5g; Po</a:t>
                      </a:r>
                    </a:p>
                  </a:txBody>
                  <a:tcPr marL="7464" marR="7464" marT="74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2032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Gluconato de cálcio; 10%-ampola; Inj</a:t>
                      </a:r>
                    </a:p>
                  </a:txBody>
                  <a:tcPr marL="7464" marR="7464" marT="74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29305" y="381000"/>
            <a:ext cx="10079037" cy="7112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err="1">
                <a:latin typeface="Bodoni MT" panose="02070603080606020203" pitchFamily="18" charset="0"/>
              </a:rPr>
              <a:t>Medicamentos</a:t>
            </a:r>
            <a:r>
              <a:rPr lang="en-US" dirty="0"/>
              <a:t> </a:t>
            </a:r>
            <a:r>
              <a:rPr lang="en-US" sz="3600" dirty="0" err="1">
                <a:latin typeface="Bodoni MT" panose="02070603080606020203" pitchFamily="18" charset="0"/>
              </a:rPr>
              <a:t>em</a:t>
            </a:r>
            <a:r>
              <a:rPr lang="en-US" sz="3600" dirty="0">
                <a:latin typeface="Bodoni MT" panose="02070603080606020203" pitchFamily="18" charset="0"/>
              </a:rPr>
              <a:t> </a:t>
            </a:r>
            <a:r>
              <a:rPr lang="en-US" sz="3600" dirty="0" err="1">
                <a:latin typeface="Bodoni MT" panose="02070603080606020203" pitchFamily="18" charset="0"/>
              </a:rPr>
              <a:t>Roptura</a:t>
            </a:r>
            <a:endParaRPr lang="en-US" sz="3600" dirty="0">
              <a:latin typeface="Bodoni MT" panose="02070603080606020203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11051493" y="6129430"/>
            <a:ext cx="783455" cy="57140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2797" y="499292"/>
            <a:ext cx="9961636" cy="856343"/>
          </a:xfrm>
        </p:spPr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Impactos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Indisponibilidade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Medtos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MMC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826862" y="6088988"/>
            <a:ext cx="7621938" cy="365125"/>
          </a:xfrm>
        </p:spPr>
        <p:txBody>
          <a:bodyPr/>
          <a:lstStyle/>
          <a:p>
            <a:r>
              <a:rPr lang="pt-BR" sz="1200" dirty="0">
                <a:solidFill>
                  <a:srgbClr val="00B050"/>
                </a:solidFill>
              </a:rPr>
              <a:t>Maputo Cidade, pela Convergência Económica, Inclusão, Inovação e Progresso Social</a:t>
            </a:r>
            <a:r>
              <a:rPr lang="pt-BR" sz="1600" dirty="0">
                <a:solidFill>
                  <a:srgbClr val="00B050"/>
                </a:solidFill>
              </a:rPr>
              <a:t> 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5" name="Retângulo: Cantos Arredondados 4"/>
          <p:cNvSpPr/>
          <p:nvPr/>
        </p:nvSpPr>
        <p:spPr>
          <a:xfrm>
            <a:off x="520700" y="548640"/>
            <a:ext cx="10504352" cy="836023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latin typeface="Bodoni MT" panose="02070603080606020203" pitchFamily="18" charset="0"/>
              </a:rPr>
              <a:t>Constrangimentos roptura de medicamentos e MMC</a:t>
            </a:r>
            <a:endParaRPr lang="en-US" sz="3600" b="1" dirty="0">
              <a:latin typeface="Bodoni MT" panose="02070603080606020203" pitchFamily="18" charset="0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660399" y="1892300"/>
            <a:ext cx="9049657" cy="4953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en-US" sz="2000" dirty="0" err="1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Substituição</a:t>
            </a:r>
            <a:r>
              <a:rPr lang="en-US" altLang="en-US" sz="2000" dirty="0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por</a:t>
            </a:r>
            <a:r>
              <a:rPr lang="en-US" altLang="en-US" sz="2000" dirty="0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alternativas</a:t>
            </a:r>
            <a:r>
              <a:rPr lang="en-US" altLang="en-US" sz="2000" dirty="0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terapêuticas</a:t>
            </a:r>
            <a:r>
              <a:rPr lang="en-US" altLang="en-US" sz="2000" dirty="0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menos</a:t>
            </a:r>
            <a:r>
              <a:rPr lang="en-US" altLang="en-US" sz="2000" dirty="0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adequadas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algn="ctr"/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660400" y="2628900"/>
            <a:ext cx="9049656" cy="5588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>
              <a:buFont typeface="Wingdings" panose="05000000000000000000" pitchFamily="2" charset="2"/>
              <a:buChar char="ü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altLang="en-US" sz="2000" dirty="0" err="1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Aumento</a:t>
            </a:r>
            <a:r>
              <a:rPr lang="en-US" altLang="en-US" sz="2000" dirty="0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do tempo de </a:t>
            </a:r>
            <a:r>
              <a:rPr lang="en-US" altLang="en-US" sz="2000" dirty="0" err="1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internamento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algn="ctr"/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660400" y="3416300"/>
            <a:ext cx="9049656" cy="4953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altLang="en-US" sz="2000" dirty="0" err="1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Aumento</a:t>
            </a:r>
            <a:r>
              <a:rPr lang="en-US" altLang="en-US" sz="2000" dirty="0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do </a:t>
            </a:r>
            <a:r>
              <a:rPr lang="en-US" altLang="en-US" sz="2000" dirty="0" err="1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risco</a:t>
            </a:r>
            <a:r>
              <a:rPr lang="en-US" altLang="en-US" sz="2000" dirty="0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US" altLang="en-US" sz="2000" dirty="0" err="1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complicações</a:t>
            </a:r>
            <a:r>
              <a:rPr lang="en-US" altLang="en-US" sz="2000" dirty="0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clínicas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660400" y="4064000"/>
            <a:ext cx="9049655" cy="533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altLang="en-US" sz="2000" dirty="0" err="1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Adiamento</a:t>
            </a:r>
            <a:r>
              <a:rPr lang="en-US" altLang="en-US" sz="2000" dirty="0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US" altLang="en-US" sz="2000" dirty="0" err="1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cirúrgias</a:t>
            </a:r>
            <a:r>
              <a:rPr lang="en-US" altLang="en-US" sz="2000" dirty="0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por</a:t>
            </a:r>
            <a:r>
              <a:rPr lang="en-US" altLang="en-US" sz="2000" dirty="0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falta</a:t>
            </a:r>
            <a:r>
              <a:rPr lang="en-US" altLang="en-US" sz="2000" dirty="0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material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ctr"/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660400" y="4709522"/>
            <a:ext cx="9049655" cy="533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altLang="en-US" sz="2000" dirty="0" err="1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Insatisfação</a:t>
            </a:r>
            <a:r>
              <a:rPr lang="en-US" altLang="en-US" sz="2000" dirty="0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dos </a:t>
            </a:r>
            <a:r>
              <a:rPr lang="en-US" altLang="en-US" sz="2000" dirty="0" err="1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utentes</a:t>
            </a:r>
            <a:r>
              <a:rPr lang="en-US" altLang="en-US" sz="2000" dirty="0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e dos </a:t>
            </a:r>
            <a:r>
              <a:rPr lang="en-US" altLang="en-US" sz="2000" dirty="0" err="1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profissionais</a:t>
            </a:r>
            <a:r>
              <a:rPr lang="en-US" altLang="en-US" sz="2000" dirty="0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US" altLang="en-US" sz="2000" dirty="0" err="1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saúde</a:t>
            </a:r>
            <a:r>
              <a:rPr lang="en-US" altLang="en-US" dirty="0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; </a:t>
            </a:r>
          </a:p>
          <a:p>
            <a:pPr algn="ctr"/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660400" y="5422900"/>
            <a:ext cx="9049655" cy="533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altLang="en-US" sz="2000" dirty="0" err="1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Interrupção</a:t>
            </a:r>
            <a:r>
              <a:rPr lang="en-US" altLang="en-US" sz="2000" dirty="0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US" altLang="en-US" sz="2000" dirty="0" err="1">
                <a:solidFill>
                  <a:schemeClr val="tx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tratamentos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3" name="Oval 2"/>
          <p:cNvSpPr/>
          <p:nvPr/>
        </p:nvSpPr>
        <p:spPr>
          <a:xfrm>
            <a:off x="11117944" y="6134466"/>
            <a:ext cx="783771" cy="54404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75292"/>
            <a:ext cx="8596668" cy="820994"/>
          </a:xfrm>
        </p:spPr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Desafios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813833" y="6041363"/>
            <a:ext cx="6297612" cy="365125"/>
          </a:xfrm>
        </p:spPr>
        <p:txBody>
          <a:bodyPr/>
          <a:lstStyle/>
          <a:p>
            <a:r>
              <a:rPr lang="pt-BR" dirty="0">
                <a:solidFill>
                  <a:srgbClr val="00B050"/>
                </a:solidFill>
              </a:rPr>
              <a:t>Maputo Cidade, pela Convergência Económica, Inclusão, Inovação e Progresso Social</a:t>
            </a:r>
            <a:r>
              <a:rPr lang="pt-BR" dirty="0"/>
              <a:t>. </a:t>
            </a:r>
          </a:p>
        </p:txBody>
      </p:sp>
      <p:sp>
        <p:nvSpPr>
          <p:cNvPr id="5" name="Retângulo: Cantos Arredondados 4"/>
          <p:cNvSpPr/>
          <p:nvPr/>
        </p:nvSpPr>
        <p:spPr>
          <a:xfrm>
            <a:off x="602615" y="174171"/>
            <a:ext cx="9943465" cy="84473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Desafios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607060" y="1760855"/>
            <a:ext cx="9939020" cy="4953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lvl="0" indent="-285750">
              <a:buFont typeface="Wingdings" panose="05000000000000000000" charset="0"/>
              <a:buChar char="ü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lvl="0" indent="-285750">
              <a:buFont typeface="Wingdings" panose="05000000000000000000" charset="0"/>
              <a:buChar char="ü"/>
            </a:pPr>
            <a:r>
              <a:rPr lang="pt-BR" sz="2000" dirty="0">
                <a:latin typeface="Bodoni MT" panose="02070603080606020203" pitchFamily="18" charset="0"/>
                <a:cs typeface="Times New Roman" panose="02020603050405020304" pitchFamily="18" charset="0"/>
                <a:sym typeface="+mn-ea"/>
              </a:rPr>
              <a:t>Rupturas de stock Cíclicas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607060" y="2379345"/>
            <a:ext cx="9939020" cy="4953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en-US" altLang="en-US" sz="2000" dirty="0">
              <a:solidFill>
                <a:schemeClr val="tx1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charset="0"/>
              <a:buChar char="ü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ü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Fornecimentos de quantidades mínimas;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charset="0"/>
              <a:buChar char="ü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607060" y="1142365"/>
            <a:ext cx="9939020" cy="4953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charset="0"/>
              <a:buChar char="ü"/>
            </a:pPr>
            <a:r>
              <a:rPr lang="pt-BR" sz="2000" dirty="0">
                <a:latin typeface="Bodoni MT" panose="02070603080606020203" pitchFamily="18" charset="0"/>
                <a:cs typeface="Times New Roman" panose="02020603050405020304" pitchFamily="18" charset="0"/>
                <a:sym typeface="+mn-ea"/>
              </a:rPr>
              <a:t>Grau de Satisfação abaixo de 60%</a:t>
            </a:r>
            <a:endParaRPr lang="pt-BR" sz="2000" dirty="0">
              <a:latin typeface="Bodoni MT" panose="02070603080606020203" pitchFamily="18" charset="0"/>
              <a:cs typeface="Times New Roman" panose="02020603050405020304" pitchFamily="18" charset="0"/>
            </a:endParaRPr>
          </a:p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02615" y="2967990"/>
            <a:ext cx="9943465" cy="4953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en-US" altLang="en-US" dirty="0">
              <a:solidFill>
                <a:schemeClr val="tx1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charset="0"/>
              <a:buChar char="ü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ü"/>
            </a:pPr>
            <a:r>
              <a:rPr lang="pt-BR" sz="2000" dirty="0">
                <a:latin typeface="Bodoni MT" panose="02070603080606020203" pitchFamily="18" charset="0"/>
                <a:cs typeface="Times New Roman" panose="02020603050405020304" pitchFamily="18" charset="0"/>
                <a:sym typeface="+mn-ea"/>
              </a:rPr>
              <a:t>Fornecimento de produtos com  prazo de validade</a:t>
            </a:r>
            <a:r>
              <a:rPr lang="en-US" altLang="pt-BR" sz="2000" dirty="0">
                <a:latin typeface="Bodoni MT" panose="02070603080606020203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pt-BR" sz="2000" dirty="0">
                <a:latin typeface="Bodoni MT" panose="02070603080606020203" pitchFamily="18" charset="0"/>
                <a:cs typeface="Times New Roman" panose="02020603050405020304" pitchFamily="18" charset="0"/>
                <a:sym typeface="+mn-ea"/>
              </a:rPr>
              <a:t>curto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charset="0"/>
              <a:buChar char="ü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602615" y="3556635"/>
            <a:ext cx="9943465" cy="4953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en-US" altLang="en-US" dirty="0">
              <a:solidFill>
                <a:schemeClr val="tx1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  <a:p>
            <a:pPr lvl="0"/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charset="0"/>
              <a:buChar char="ü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Indisponibilidade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medicamentos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e MMC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>
              <a:buFont typeface="Wingdings" panose="05000000000000000000" charset="0"/>
              <a:buNone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 algn="l">
              <a:buFont typeface="Wingdings" panose="05000000000000000000" charset="0"/>
              <a:buNone/>
            </a:pP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602615" y="4204970"/>
            <a:ext cx="9943465" cy="40192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altLang="en-US" sz="2000" dirty="0">
              <a:solidFill>
                <a:schemeClr val="tx1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  <a:p>
            <a:pPr lvl="0"/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charset="0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Retro-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informa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çã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tardia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parte dos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hospitais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charset="0"/>
              <a:buChar char="ü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ü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602615" y="4759932"/>
            <a:ext cx="9943465" cy="42166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altLang="en-US" dirty="0">
              <a:solidFill>
                <a:schemeClr val="tx1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pt-BR" sz="2000" dirty="0">
                <a:latin typeface="Bodoni MT" panose="02070603080606020203" pitchFamily="18" charset="0"/>
                <a:cs typeface="Times New Roman" panose="02020603050405020304" pitchFamily="18" charset="0"/>
                <a:sym typeface="+mn-ea"/>
              </a:rPr>
              <a:t>Baixa taxa de devolução dos emprestimos concedidos aos hospitais</a:t>
            </a:r>
          </a:p>
          <a:p>
            <a:pPr marL="285750" indent="-285750" algn="l">
              <a:buFont typeface="Wingdings" panose="05000000000000000000" charset="0"/>
              <a:buChar char="ü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ü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15" name="Rounded Rectangle 14"/>
          <p:cNvSpPr/>
          <p:nvPr/>
        </p:nvSpPr>
        <p:spPr>
          <a:xfrm>
            <a:off x="602615" y="5334636"/>
            <a:ext cx="9943465" cy="53969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pt-BR" sz="2000" dirty="0">
                <a:latin typeface="Bodoni MT" panose="02070603080606020203" pitchFamily="18" charset="0"/>
                <a:cs typeface="Times New Roman" panose="02020603050405020304" pitchFamily="18" charset="0"/>
                <a:sym typeface="+mn-ea"/>
              </a:rPr>
              <a:t>Falta  de visilidade dos dados dos hospitais no nSiMAM.</a:t>
            </a:r>
          </a:p>
          <a:p>
            <a:pPr indent="0" algn="l">
              <a:buFont typeface="Wingdings" panose="05000000000000000000" charset="0"/>
              <a:buNone/>
            </a:pPr>
            <a:endParaRPr lang="en-US" dirty="0">
              <a:latin typeface="Bodoni MT" panose="02070603080606020203" pitchFamily="18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120846" y="6041362"/>
            <a:ext cx="896983" cy="6932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00B050"/>
                </a:solidFill>
              </a:rPr>
              <a:t>Maputo Cidade, pela Convergência Económica, Inclusão, Inovação e Progresso Social.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tângulo: Cantos Arredondados 4"/>
          <p:cNvSpPr/>
          <p:nvPr/>
        </p:nvSpPr>
        <p:spPr>
          <a:xfrm>
            <a:off x="607061" y="174171"/>
            <a:ext cx="9939020" cy="84473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err="1">
                <a:latin typeface="Bodoni MT" panose="02070603080606020203" pitchFamily="18" charset="0"/>
                <a:cs typeface="Times New Roman" panose="02020603050405020304" pitchFamily="18" charset="0"/>
              </a:rPr>
              <a:t>Desafios</a:t>
            </a:r>
            <a:r>
              <a:rPr lang="en-US" sz="3600" b="1" dirty="0">
                <a:latin typeface="Bodoni MT" panose="02070603080606020203" pitchFamily="18" charset="0"/>
                <a:cs typeface="Times New Roman" panose="02020603050405020304" pitchFamily="18" charset="0"/>
              </a:rPr>
              <a:t> ( Cont.)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7060" y="1142365"/>
            <a:ext cx="9427845" cy="4953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charset="0"/>
              <a:buChar char="ü"/>
            </a:pPr>
            <a:r>
              <a:rPr lang="pt-BR" sz="2000" dirty="0">
                <a:latin typeface="Bodoni MT" panose="02070603080606020203" pitchFamily="18" charset="0"/>
                <a:cs typeface="Times New Roman" panose="02020603050405020304" pitchFamily="18" charset="0"/>
                <a:sym typeface="+mn-ea"/>
              </a:rPr>
              <a:t>Frequente Roptura de reagentes de microbiologia e banco de sangue</a:t>
            </a:r>
            <a:endParaRPr lang="pt-BR" sz="2000" dirty="0">
              <a:latin typeface="Bodoni MT" panose="02070603080606020203" pitchFamily="18" charset="0"/>
              <a:cs typeface="Times New Roman" panose="02020603050405020304" pitchFamily="18" charset="0"/>
            </a:endParaRPr>
          </a:p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7060" y="1761128"/>
            <a:ext cx="9427845" cy="62185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charset="0"/>
              <a:buChar char="ü"/>
            </a:pPr>
            <a:r>
              <a:rPr lang="pt-BR" sz="2000" dirty="0">
                <a:latin typeface="Bodoni MT" panose="02070603080606020203" pitchFamily="18" charset="0"/>
                <a:cs typeface="Times New Roman" panose="02020603050405020304" pitchFamily="18" charset="0"/>
                <a:sym typeface="+mn-ea"/>
              </a:rPr>
              <a:t>Fraco fornecimento de reagentes e consumiveis de laboratório clinico</a:t>
            </a:r>
            <a:endParaRPr lang="pt-BR" sz="2000" dirty="0">
              <a:latin typeface="Bodoni MT" panose="02070603080606020203" pitchFamily="18" charset="0"/>
              <a:cs typeface="Times New Roman" panose="02020603050405020304" pitchFamily="18" charset="0"/>
            </a:endParaRPr>
          </a:p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F9F3E146-F7BE-9E2C-41D4-1FB4431D203E}"/>
              </a:ext>
            </a:extLst>
          </p:cNvPr>
          <p:cNvSpPr/>
          <p:nvPr/>
        </p:nvSpPr>
        <p:spPr>
          <a:xfrm>
            <a:off x="11059886" y="5860388"/>
            <a:ext cx="853438" cy="59372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867905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83722"/>
            <a:ext cx="9617040" cy="1200940"/>
          </a:xfrm>
        </p:spPr>
        <p:txBody>
          <a:bodyPr>
            <a:norm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Planos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Melhoria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00B050"/>
                </a:solidFill>
              </a:rPr>
              <a:t>Maputo Cidade, pela Convergência Económica, Inclusão, Inovação e Progresso Social.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Retângulo: Cantos Arredondados 4"/>
          <p:cNvSpPr/>
          <p:nvPr/>
        </p:nvSpPr>
        <p:spPr>
          <a:xfrm>
            <a:off x="677545" y="344170"/>
            <a:ext cx="9939655" cy="68707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err="1">
                <a:latin typeface="Bodoni MT" panose="02070603080606020203" pitchFamily="18" charset="0"/>
                <a:cs typeface="Times New Roman" panose="02020603050405020304" pitchFamily="18" charset="0"/>
              </a:rPr>
              <a:t>Planos</a:t>
            </a:r>
            <a:r>
              <a:rPr lang="en-US" sz="3600" b="1" dirty="0"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US" sz="3600" b="1" dirty="0" err="1">
                <a:latin typeface="Bodoni MT" panose="02070603080606020203" pitchFamily="18" charset="0"/>
                <a:cs typeface="Times New Roman" panose="02020603050405020304" pitchFamily="18" charset="0"/>
              </a:rPr>
              <a:t>Melhoria</a:t>
            </a:r>
            <a:endParaRPr lang="en-US" sz="3600" dirty="0">
              <a:latin typeface="Bodoni MT" panose="02070603080606020203" pitchFamily="18" charset="0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677545" y="2668270"/>
            <a:ext cx="9427845" cy="4953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lvl="0" indent="-285750">
              <a:buFont typeface="Wingdings" panose="05000000000000000000" charset="0"/>
              <a:buChar char="ü"/>
            </a:pPr>
            <a:r>
              <a:rPr lang="pt-BR" sz="2000" dirty="0">
                <a:latin typeface="Bodoni MT" panose="02070603080606020203" pitchFamily="18" charset="0"/>
                <a:cs typeface="Times New Roman" panose="02020603050405020304" pitchFamily="18" charset="0"/>
                <a:sym typeface="+mn-ea"/>
              </a:rPr>
              <a:t>Capacitação contínua dos Resp dos Serv Farmaceuticos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  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660400" y="3436620"/>
            <a:ext cx="9444355" cy="4953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lvl="0" indent="-285750">
              <a:buFont typeface="Wingdings" panose="05000000000000000000" charset="0"/>
              <a:buChar char="ü"/>
            </a:pPr>
            <a:r>
              <a:rPr lang="pt-BR" sz="2000" dirty="0">
                <a:latin typeface="Bodoni MT" panose="02070603080606020203" pitchFamily="18" charset="0"/>
                <a:cs typeface="Times New Roman" panose="02020603050405020304" pitchFamily="18" charset="0"/>
                <a:sym typeface="+mn-ea"/>
              </a:rPr>
              <a:t>Supervisões regulares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677545" y="1899920"/>
            <a:ext cx="9427845" cy="4953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pt-BR" sz="2000" dirty="0">
                <a:latin typeface="Bodoni MT" panose="02070603080606020203" pitchFamily="18" charset="0"/>
                <a:cs typeface="Times New Roman" panose="02020603050405020304" pitchFamily="18" charset="0"/>
                <a:sym typeface="+mn-ea"/>
              </a:rPr>
              <a:t>Reforçar a cominicação e monitoria de stock a todos os niveis; </a:t>
            </a:r>
            <a:endParaRPr lang="pt-BR" sz="2000" dirty="0">
              <a:latin typeface="Bodoni MT" panose="02070603080606020203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Bodoni MT" panose="02070603080606020203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60400" y="4204970"/>
            <a:ext cx="9444355" cy="4953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charset="0"/>
              <a:buChar char="ü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pt-BR" sz="2000" dirty="0">
                <a:latin typeface="Bodoni MT" panose="02070603080606020203" pitchFamily="18" charset="0"/>
                <a:cs typeface="Times New Roman" panose="02020603050405020304" pitchFamily="18" charset="0"/>
                <a:sym typeface="+mn-ea"/>
              </a:rPr>
              <a:t>Fortalecer comissões de farmácia e terapêutica.</a:t>
            </a:r>
            <a:endParaRPr lang="pt-BR" sz="2000" dirty="0">
              <a:latin typeface="Bodoni MT" panose="02070603080606020203" pitchFamily="18" charset="0"/>
              <a:cs typeface="Times New Roman" panose="02020603050405020304" pitchFamily="18" charset="0"/>
            </a:endParaRPr>
          </a:p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1007634" y="6019015"/>
            <a:ext cx="885372" cy="60820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340736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women_group_clapping_500_wht_12480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67101" y="2515085"/>
            <a:ext cx="3949700" cy="3534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674678" y="747640"/>
            <a:ext cx="8382000" cy="1862048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1500" b="1" dirty="0" err="1">
                <a:solidFill>
                  <a:srgbClr val="000000"/>
                </a:solidFill>
                <a:latin typeface="Juice ITC" panose="04040403040A02020202" pitchFamily="82" charset="0"/>
              </a:rPr>
              <a:t>Muito</a:t>
            </a:r>
            <a:r>
              <a:rPr lang="en-US" altLang="en-US" sz="11500" b="1" dirty="0">
                <a:solidFill>
                  <a:srgbClr val="000000"/>
                </a:solidFill>
                <a:latin typeface="Juice ITC" panose="04040403040A02020202" pitchFamily="82" charset="0"/>
              </a:rPr>
              <a:t> Obrigado</a:t>
            </a:r>
          </a:p>
        </p:txBody>
      </p:sp>
      <p:sp>
        <p:nvSpPr>
          <p:cNvPr id="5" name="Rectangle 1"/>
          <p:cNvSpPr/>
          <p:nvPr/>
        </p:nvSpPr>
        <p:spPr>
          <a:xfrm>
            <a:off x="69851" y="6049186"/>
            <a:ext cx="107441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b="1" i="1" dirty="0">
                <a:solidFill>
                  <a:srgbClr val="00B050"/>
                </a:solidFill>
                <a:latin typeface="Arial Narrow" panose="020B0606020202030204" pitchFamily="34" charset="0"/>
              </a:rPr>
              <a:t>Maputo Cidade, pela Convergência Económica, Inclusão, Inovação e Progresso Social</a:t>
            </a:r>
          </a:p>
        </p:txBody>
      </p:sp>
      <p:sp>
        <p:nvSpPr>
          <p:cNvPr id="6" name="Estrela de 10 Pontos 7"/>
          <p:cNvSpPr/>
          <p:nvPr/>
        </p:nvSpPr>
        <p:spPr>
          <a:xfrm>
            <a:off x="11399520" y="6318741"/>
            <a:ext cx="73706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13</a:t>
            </a:r>
            <a:endParaRPr lang="pt-PT" sz="1050" b="1" noProof="1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116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1134</Words>
  <Application>Microsoft Office PowerPoint</Application>
  <PresentationFormat>Widescreen</PresentationFormat>
  <Paragraphs>166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3" baseType="lpstr">
      <vt:lpstr>Arial</vt:lpstr>
      <vt:lpstr>Arial Narrow</vt:lpstr>
      <vt:lpstr>Bodoni MT</vt:lpstr>
      <vt:lpstr>Calibri</vt:lpstr>
      <vt:lpstr>Calibri Light</vt:lpstr>
      <vt:lpstr>Juice ITC</vt:lpstr>
      <vt:lpstr>Times New Roman</vt:lpstr>
      <vt:lpstr>Wingdings</vt:lpstr>
      <vt:lpstr>Wingdings 3</vt:lpstr>
      <vt:lpstr>Facet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Impactos da Indisponibilidade de Medtos e MMC</vt:lpstr>
      <vt:lpstr>Desafios </vt:lpstr>
      <vt:lpstr>Apresentação do PowerPoint</vt:lpstr>
      <vt:lpstr>Planos de Melhoria 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9qwjc</cp:lastModifiedBy>
  <cp:revision>295</cp:revision>
  <dcterms:created xsi:type="dcterms:W3CDTF">2022-05-17T17:12:00Z</dcterms:created>
  <dcterms:modified xsi:type="dcterms:W3CDTF">2026-07-28T10:54:04Z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A6D001623DDD4FA990C94A99F852C74E_13</vt:lpwstr>
  </property>
  <property fmtid="{D5CDD505-2E9C-101B-9397-08002B2CF9AE}" pid="3" name="KSOProductBuildVer">
    <vt:lpwstr>2057-12.2.0.23206</vt:lpwstr>
  </property>
</Properties>
</file>
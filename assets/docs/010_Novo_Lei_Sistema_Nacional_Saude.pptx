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35" r:id="rId2"/>
    <p:sldId id="336" r:id="rId3"/>
    <p:sldId id="348" r:id="rId4"/>
    <p:sldId id="337" r:id="rId5"/>
    <p:sldId id="341" r:id="rId6"/>
    <p:sldId id="338" r:id="rId7"/>
    <p:sldId id="339" r:id="rId8"/>
    <p:sldId id="343" r:id="rId9"/>
    <p:sldId id="344" r:id="rId10"/>
    <p:sldId id="349" r:id="rId11"/>
    <p:sldId id="340" r:id="rId12"/>
    <p:sldId id="342" r:id="rId13"/>
    <p:sldId id="345" r:id="rId14"/>
    <p:sldId id="346" r:id="rId15"/>
    <p:sldId id="347" r:id="rId16"/>
    <p:sldId id="259" r:id="rId17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E1C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62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3179" tIns="46590" rIns="93179" bIns="4659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6435"/>
          </a:xfrm>
          <a:prstGeom prst="rect">
            <a:avLst/>
          </a:prstGeom>
        </p:spPr>
        <p:txBody>
          <a:bodyPr vert="horz" lIns="93179" tIns="46590" rIns="93179" bIns="46590" rtlCol="0"/>
          <a:lstStyle>
            <a:lvl1pPr algn="r">
              <a:defRPr sz="1200"/>
            </a:lvl1pPr>
          </a:lstStyle>
          <a:p>
            <a:fld id="{DFA8FD59-9D0F-40A5-B250-B737B64162E8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3179" tIns="46590" rIns="93179" bIns="4659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829968"/>
            <a:ext cx="3037840" cy="466434"/>
          </a:xfrm>
          <a:prstGeom prst="rect">
            <a:avLst/>
          </a:prstGeom>
        </p:spPr>
        <p:txBody>
          <a:bodyPr vert="horz" lIns="93179" tIns="46590" rIns="93179" bIns="46590" rtlCol="0" anchor="b"/>
          <a:lstStyle>
            <a:lvl1pPr algn="r">
              <a:defRPr sz="1200"/>
            </a:lvl1pPr>
          </a:lstStyle>
          <a:p>
            <a:fld id="{8C129F8A-2E1A-4ED4-86A0-F8F8C89DD05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063438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3179" tIns="46590" rIns="93179" bIns="4659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5"/>
          </a:xfrm>
          <a:prstGeom prst="rect">
            <a:avLst/>
          </a:prstGeom>
        </p:spPr>
        <p:txBody>
          <a:bodyPr vert="horz" lIns="93179" tIns="46590" rIns="93179" bIns="46590" rtlCol="0"/>
          <a:lstStyle>
            <a:lvl1pPr algn="r">
              <a:defRPr sz="1200"/>
            </a:lvl1pPr>
          </a:lstStyle>
          <a:p>
            <a:fld id="{365FE548-66E2-490A-B8BE-3BB0057E4DE2}" type="datetimeFigureOut">
              <a:rPr lang="pt-PT" smtClean="0"/>
              <a:t>08/06/2026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9" tIns="46590" rIns="93179" bIns="4659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3"/>
            <a:ext cx="5608320" cy="3660457"/>
          </a:xfrm>
          <a:prstGeom prst="rect">
            <a:avLst/>
          </a:prstGeom>
        </p:spPr>
        <p:txBody>
          <a:bodyPr vert="horz" lIns="93179" tIns="46590" rIns="93179" bIns="46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3179" tIns="46590" rIns="93179" bIns="4659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4"/>
          </a:xfrm>
          <a:prstGeom prst="rect">
            <a:avLst/>
          </a:prstGeom>
        </p:spPr>
        <p:txBody>
          <a:bodyPr vert="horz" lIns="93179" tIns="46590" rIns="93179" bIns="46590" rtlCol="0" anchor="b"/>
          <a:lstStyle>
            <a:lvl1pPr algn="r">
              <a:defRPr sz="1200"/>
            </a:lvl1pPr>
          </a:lstStyle>
          <a:p>
            <a:fld id="{DE2229E6-C54D-45FB-8CDB-E6480133944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39352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75828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8044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ítulo 1"/>
          <p:cNvSpPr txBox="1">
            <a:spLocks/>
          </p:cNvSpPr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pt-BR" sz="56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pt-BR" sz="56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56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pt-BR" sz="56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56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REPÚBLICA DE MOÇAMBIQUE</a:t>
            </a:r>
            <a:br>
              <a:rPr lang="pt-BR" sz="56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56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CIDADE DE MAPUTO</a:t>
            </a:r>
            <a:br>
              <a:rPr lang="pt-BR" sz="56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56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CONSELHO DOS SERVIÇOS DE REPRESENTAÇÃO DO ESTADO</a:t>
            </a:r>
            <a:br>
              <a:rPr lang="pt-BR" sz="560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08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pt-BR" sz="108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08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pt-BR" sz="1080" b="1" dirty="0" smtClean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pt-BR" sz="108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56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9678998" y="0"/>
            <a:ext cx="2513001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8" r:id="rId3"/>
    <p:sldLayoutId id="2147483669" r:id="rId4"/>
    <p:sldLayoutId id="2147483651" r:id="rId5"/>
    <p:sldLayoutId id="2147483665" r:id="rId6"/>
    <p:sldLayoutId id="2147483653" r:id="rId7"/>
    <p:sldLayoutId id="2147483654" r:id="rId8"/>
    <p:sldLayoutId id="2147483655" r:id="rId9"/>
    <p:sldLayoutId id="2147483666" r:id="rId10"/>
    <p:sldLayoutId id="2147483657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7" r:id="rId17"/>
    <p:sldLayoutId id="2147483659" r:id="rId18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3"/>
          <p:cNvSpPr txBox="1"/>
          <p:nvPr/>
        </p:nvSpPr>
        <p:spPr>
          <a:xfrm>
            <a:off x="775381" y="3663944"/>
            <a:ext cx="9782827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3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fontAlgn="ctr"/>
            <a:r>
              <a:rPr lang="pt-BR" sz="280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280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ângulo 10"/>
          <p:cNvSpPr txBox="1"/>
          <p:nvPr/>
        </p:nvSpPr>
        <p:spPr>
          <a:xfrm>
            <a:off x="775381" y="5123692"/>
            <a:ext cx="9782827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 </a:t>
            </a:r>
            <a:r>
              <a:rPr b="1" dirty="0" smtClean="0">
                <a:solidFill>
                  <a:srgbClr val="0D0D0D"/>
                </a:solidFill>
              </a:rPr>
              <a:t>M</a:t>
            </a:r>
            <a:r>
              <a:rPr lang="en-US" b="1" dirty="0" smtClean="0">
                <a:solidFill>
                  <a:srgbClr val="0D0D0D"/>
                </a:solidFill>
              </a:rPr>
              <a:t>aputo</a:t>
            </a:r>
            <a:r>
              <a:rPr b="1" dirty="0" smtClean="0">
                <a:solidFill>
                  <a:srgbClr val="0D0D0D"/>
                </a:solidFill>
              </a:rPr>
              <a:t>,</a:t>
            </a:r>
            <a:r>
              <a:rPr lang="en-GB" b="1" dirty="0" smtClean="0">
                <a:solidFill>
                  <a:srgbClr val="0D0D0D"/>
                </a:solidFill>
              </a:rPr>
              <a:t> </a:t>
            </a:r>
            <a:r>
              <a:rPr lang="en-GB" b="1" dirty="0" err="1" smtClean="0">
                <a:solidFill>
                  <a:srgbClr val="0D0D0D"/>
                </a:solidFill>
              </a:rPr>
              <a:t>Junho</a:t>
            </a:r>
            <a:r>
              <a:rPr lang="en-GB" b="1" dirty="0" smtClean="0">
                <a:solidFill>
                  <a:srgbClr val="0D0D0D"/>
                </a:solidFill>
              </a:rPr>
              <a:t> de </a:t>
            </a:r>
            <a:r>
              <a:rPr b="1" dirty="0" smtClean="0">
                <a:solidFill>
                  <a:srgbClr val="0D0D0D"/>
                </a:solidFill>
              </a:rPr>
              <a:t>202</a:t>
            </a:r>
            <a:r>
              <a:rPr lang="en-GB" b="1" dirty="0">
                <a:solidFill>
                  <a:srgbClr val="0D0D0D"/>
                </a:solidFill>
              </a:rPr>
              <a:t>6</a:t>
            </a:r>
            <a:endParaRPr b="1" dirty="0">
              <a:solidFill>
                <a:srgbClr val="0D0D0D"/>
              </a:solidFill>
            </a:endParaRPr>
          </a:p>
        </p:txBody>
      </p:sp>
      <p:sp>
        <p:nvSpPr>
          <p:cNvPr id="7" name="Rectangle 13"/>
          <p:cNvSpPr txBox="1"/>
          <p:nvPr/>
        </p:nvSpPr>
        <p:spPr>
          <a:xfrm>
            <a:off x="775381" y="1917659"/>
            <a:ext cx="9782827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3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SERVIÇO DE SAÚDE DA CIDADE DE 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MAPUTO</a:t>
            </a:r>
            <a:endParaRPr lang="en-GB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REPARTIÇÃO DE ASSUNTOS JURÍDICOS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75381" y="6088988"/>
            <a:ext cx="9782827" cy="365125"/>
          </a:xfrm>
        </p:spPr>
        <p:txBody>
          <a:bodyPr/>
          <a:lstStyle/>
          <a:p>
            <a:pPr algn="ctr"/>
            <a:r>
              <a:rPr lang="pt-BR" sz="1400" i="1" dirty="0" smtClean="0"/>
              <a:t>Maputo Cidade, pela Convergência Económica, Inclusão, Inovação e Progresso Social. </a:t>
            </a:r>
            <a:endParaRPr lang="en-US" sz="1400" i="1" dirty="0"/>
          </a:p>
        </p:txBody>
      </p:sp>
      <p:sp>
        <p:nvSpPr>
          <p:cNvPr id="2" name="Rectangle 1"/>
          <p:cNvSpPr/>
          <p:nvPr/>
        </p:nvSpPr>
        <p:spPr>
          <a:xfrm>
            <a:off x="2161309" y="2748656"/>
            <a:ext cx="78659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INOVAÇÕES DA NOVA LEI DO SNS  </a:t>
            </a:r>
            <a:endParaRPr lang="pt-PT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33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62013"/>
            <a:ext cx="8596668" cy="1049153"/>
          </a:xfrm>
        </p:spPr>
        <p:txBody>
          <a:bodyPr>
            <a:normAutofit fontScale="90000"/>
          </a:bodyPr>
          <a:lstStyle/>
          <a:p>
            <a:pPr algn="ctr"/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Âmbito de aplicação</a:t>
            </a:r>
            <a:b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 </a:t>
            </a:r>
            <a:endParaRPr lang="pt-PT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672281"/>
            <a:ext cx="10575553" cy="4369081"/>
          </a:xfrm>
        </p:spPr>
        <p:txBody>
          <a:bodyPr/>
          <a:lstStyle/>
          <a:p>
            <a:pPr marL="0" indent="0" algn="just"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presente lei aplica - se a todas instituições públicas, comunitárias e privadas, pessoas singulares e colectivas que exercem actividade na área de saúde, no território nacional .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40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02132"/>
            <a:ext cx="10333966" cy="812961"/>
          </a:xfrm>
        </p:spPr>
        <p:txBody>
          <a:bodyPr/>
          <a:lstStyle/>
          <a:p>
            <a:pPr algn="ctr"/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Contextualização </a:t>
            </a:r>
            <a:endParaRPr lang="pt-PT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897" y="1015093"/>
            <a:ext cx="10212403" cy="518357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criação da </a:t>
            </a:r>
            <a:r>
              <a:rPr lang="pt-PT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Lei nº 3/2026, de 21 de Janeiro (Lei do Sistema Nacional de Saúde)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responde a uma necessidade crítica de modernizar o quadro jurídico que sustenta a saúde pública em Moçambique, visto que,  o sistema anterior, precisava de uma reforma que refletisse a realidade socioeconómica do país.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Antes desta lei, o sector da saúde operava sob um conjunto de leis dispersas. Entretanto, a lei nº 3/2026 foi criada para </a:t>
            </a:r>
            <a:r>
              <a:rPr lang="pt-PT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consolidar toda a legislação num único instrumento jurídico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definindo com clareza os princípios, a organização e o funcionamento do Sistema Nacional de Saúde (SNS).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797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96253"/>
            <a:ext cx="10114235" cy="924025"/>
          </a:xfrm>
        </p:spPr>
        <p:txBody>
          <a:bodyPr>
            <a:normAutofit/>
          </a:bodyPr>
          <a:lstStyle/>
          <a:p>
            <a:pPr algn="ctr"/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Organização e funcionamento - </a:t>
            </a:r>
            <a:r>
              <a:rPr lang="pt-PT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10 </a:t>
            </a:r>
            <a:endParaRPr lang="pt-PT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53" y="760396"/>
            <a:ext cx="10958925" cy="551527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Sistema Nacional de Saúde está organizado em três subsistemas de saúde que se integram e se complementam, nomeadamente: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PT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Subsistema Público de Saúde 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é um conjunto de instituições públicas que exercem funções de promoção de saúde, prevenção de doenças, diagnóstico, tratamento, manutenção, reabilitação, cuidados paliativos, investigação científica, formação, entre outros;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PT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PT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Subsistema comunitário de Saúde 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é constituído por uma rede de atenção comunitária de saúde, compreendendo diferentes actores, que contribuem para </a:t>
            </a:r>
            <a:r>
              <a:rPr lang="pt-PT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morbi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mortalidade e melhoria do bem estar das comunidades, através de acções </a:t>
            </a:r>
            <a:r>
              <a:rPr lang="pt-PT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promotivas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preventivas, assistenciais e reabilitativas;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pt-PT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Subsistema privado de saúde 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é um conjunto de instituições, serviços e profissões que prestam serviços de saúde no domínio da iniciativa privada.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79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461318"/>
            <a:ext cx="10204850" cy="814333"/>
          </a:xfrm>
        </p:spPr>
        <p:txBody>
          <a:bodyPr>
            <a:normAutofit/>
          </a:bodyPr>
          <a:lstStyle/>
          <a:p>
            <a:pPr algn="ctr"/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 Nacional de Saúde </a:t>
            </a:r>
            <a:r>
              <a:rPr lang="pt-PT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12 </a:t>
            </a:r>
            <a:endParaRPr lang="pt-PT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465" y="1169773"/>
            <a:ext cx="10766854" cy="473154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Serviço Nacional de Saúde, é uma Instituição Pública de âmbito nacional, dotada de personalidade jurídica, com autonomia administrativa e técnica, tutelada pelo Ministro que superintende a área da saúde.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pt-PT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SNS integra um conjunto articulado e desconcentrado de órgãos, serviços e estabelecimentos de saúde centrais, regionais e locais.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pt-PT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implementação de cuidados de saúde primários pelos órgãos descentralizados baseia - se na transferência de competências com base no princípio do gradualismo, nos termos da legislação aplicável.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pt-PT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 o funcionamento do SNS, aplica - se o horário de serviços essenciais previsto para os Serviços da Administração Pública. 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848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Transferência de doentes para o exterior </a:t>
            </a:r>
            <a:b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17</a:t>
            </a:r>
            <a:endParaRPr lang="pt-PT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059459"/>
            <a:ext cx="9850624" cy="3981903"/>
          </a:xfrm>
        </p:spPr>
        <p:txBody>
          <a:bodyPr/>
          <a:lstStyle/>
          <a:p>
            <a:pPr algn="just"/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Compete à entidade que superintende a área de saúde decidir sobre a transferência de doentes para o exterior depois de esgotada a capacidade de assistência em tempo útil no Sistema Nacional de 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Saúde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mediante avaliação e recomendação prévia de uma Junta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édica indicada pela entidade que superintende a área de saúde.  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100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Taxas moderadoras </a:t>
            </a:r>
            <a:b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19</a:t>
            </a:r>
            <a:endParaRPr lang="pt-PT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869989"/>
            <a:ext cx="10097759" cy="4171373"/>
          </a:xfrm>
        </p:spPr>
        <p:txBody>
          <a:bodyPr/>
          <a:lstStyle/>
          <a:p>
            <a:pPr marL="0" indent="0"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não observância dos princípios de referência e contra referência nos níveis de cuidado de saúde pode dar lugar a cobrança de taxas moderadoras no SNS.</a:t>
            </a:r>
          </a:p>
          <a:p>
            <a:pPr marL="0" indent="0"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 taxas acima referidas, são isentos os grupos populacionais vulneráveis ou financeiramente mais desfavorecidos nos termos definidos por lei. 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396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Obrigações do Subsistema </a:t>
            </a:r>
            <a:r>
              <a:rPr lang="pt-P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rivado de Saúde </a:t>
            </a:r>
            <a:b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30</a:t>
            </a:r>
            <a:endParaRPr lang="pt-PT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53515"/>
            <a:ext cx="9587012" cy="418784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entidades privadas autorizadas  a prestar cuidados de saúde nos termos da presente lei obrigam - se ao cumprimento das normas e procedimentos técnicos emanados pelas autoridade de saúde para as unidades do Subsistema Público de Saúde da mesma natureza e nível.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entidades privadas participam nos processos de definição de prioridades no âmbito da saúde.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 situação de emergência clínica, as instituições privadas prestam medidas de suporte imediato e de estabilização clínica de qualquer doente, independente da sua condição </a:t>
            </a:r>
            <a:r>
              <a:rPr lang="pt-PT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finaceira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421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521109" cy="132080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 de referência e contra - referência</a:t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art. 33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075935"/>
            <a:ext cx="10246039" cy="3965427"/>
          </a:xfrm>
        </p:spPr>
        <p:txBody>
          <a:bodyPr/>
          <a:lstStyle/>
          <a:p>
            <a:pPr marL="0" indent="0"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 garantir o acesso do cidadãos aos diversos serviços de saúde, o SNS estabelece uma rede de referência e contra – referência, assegurando a continuidade dos serviços. </a:t>
            </a:r>
          </a:p>
          <a:p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referência de doentes ocorre da unidade sanitária de menor para a de maior complexidade, em função de necessidades específicas. </a:t>
            </a:r>
          </a:p>
          <a:p>
            <a:pPr marL="0" indent="0"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contra – referência de doentes ocorre da unidade sanitária de maior para a menor complexidade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542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035584" cy="1320800"/>
          </a:xfrm>
        </p:spPr>
        <p:txBody>
          <a:bodyPr/>
          <a:lstStyle/>
          <a:p>
            <a:pPr algn="ctr"/>
            <a:r>
              <a:rPr lang="pt-PT" b="1" dirty="0" smtClean="0">
                <a:solidFill>
                  <a:srgbClr val="FF0000"/>
                </a:solidFill>
              </a:rPr>
              <a:t>Estabelecimentos de prestação de serviços de saúde – art.34 </a:t>
            </a:r>
            <a:endParaRPr lang="pt-PT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03672"/>
            <a:ext cx="10035584" cy="4337691"/>
          </a:xfrm>
        </p:spPr>
        <p:txBody>
          <a:bodyPr/>
          <a:lstStyle/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Constituem estabelecimentos de prestação de serviços de saúde os seguintes: </a:t>
            </a: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Centros de vacinação;</a:t>
            </a: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Centro de saúde; </a:t>
            </a: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Centro de tratamento;</a:t>
            </a: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Centro de reabilitação; </a:t>
            </a: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Centro de medicina desportiva;</a:t>
            </a: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Centro de prestação de cuidados paliativos;</a:t>
            </a: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Centro 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higiene e exames médicos;</a:t>
            </a: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Unidade de transporte de doentes;</a:t>
            </a:r>
          </a:p>
          <a:p>
            <a:pPr marL="0" indent="0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Unidade de pronto atendimento;   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726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279133"/>
            <a:ext cx="9467693" cy="1286143"/>
          </a:xfrm>
        </p:spPr>
        <p:txBody>
          <a:bodyPr/>
          <a:lstStyle/>
          <a:p>
            <a:pPr algn="ctr"/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Interligação entre os sistemas </a:t>
            </a:r>
            <a:b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40</a:t>
            </a:r>
            <a:endParaRPr lang="pt-PT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9987458" cy="415858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 subsistemas que compõem o SNS interligam - se e complementam -se.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 caso de emergência de saúde o governo pode proceder à requisição civil de profissionais de saúde, estabelecimentos sanitários e capacidade tecnológica em diagnóstico e tratamento, que actuem no SNS.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Subsistemas públicos e privado podem celebrar contratos entre si, em caso de indisponibilidade de capacidade para a prestação de serviços em tempo útil. 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1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189470"/>
            <a:ext cx="9640949" cy="1081065"/>
          </a:xfrm>
        </p:spPr>
        <p:txBody>
          <a:bodyPr>
            <a:normAutofit fontScale="90000"/>
          </a:bodyPr>
          <a:lstStyle/>
          <a:p>
            <a:pPr algn="ctr"/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Parcerias </a:t>
            </a:r>
            <a:b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42</a:t>
            </a:r>
            <a:endParaRPr lang="pt-PT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33384"/>
            <a:ext cx="10141463" cy="465560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Estado incentiva as parcerias inovadoras que concorram para a prestação de serviços de saúde.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prestação de serviços de saúde, em todos os níveis, pode ser feita através de parcerias formais de interesse público entre os subsistemas público, privado e  comunitário.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Podem ser celebrados contratos de prestação de cuidados de saúde com as entidades de governação descentralizada para o fortalecimento do SNS.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35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123568"/>
            <a:ext cx="9525445" cy="1235675"/>
          </a:xfrm>
        </p:spPr>
        <p:txBody>
          <a:bodyPr/>
          <a:lstStyle/>
          <a:p>
            <a:pPr algn="ctr"/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Contratos - programa</a:t>
            </a:r>
            <a:b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44</a:t>
            </a:r>
            <a:endParaRPr lang="pt-PT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359242"/>
            <a:ext cx="10460224" cy="472974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adopção de contratos - programa deve, de entre outros, respeitar os parâmetro seguintes: </a:t>
            </a:r>
          </a:p>
          <a:p>
            <a:pPr marL="0" indent="0" algn="just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o âmbito e prioridade da prestação de cuidados de saúde que concorram para o alcance das metas dos programas nacionais.</a:t>
            </a:r>
          </a:p>
          <a:p>
            <a:pPr marL="0" indent="0" algn="just"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os indicadores de controlo de qualidade da prestação de cuidados de saúde. </a:t>
            </a:r>
          </a:p>
          <a:p>
            <a:pPr marL="0" indent="0" algn="just"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os instrumentos de acompanhamento, avaliação e monitoria das actividades acordadas.</a:t>
            </a:r>
          </a:p>
          <a:p>
            <a:pPr marL="0" indent="0" algn="just"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o prazo de execução e modo de atribuição de recursos em função do cumprimento das metas qualitativas e quantitativas pré - estabelecidas. </a:t>
            </a:r>
          </a:p>
          <a:p>
            <a:pPr marL="0" indent="0" algn="just">
              <a:buNone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os mecanismos de prestação de contas. 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896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313038"/>
            <a:ext cx="9850623" cy="1544638"/>
          </a:xfrm>
        </p:spPr>
        <p:txBody>
          <a:bodyPr>
            <a:normAutofit fontScale="90000"/>
          </a:bodyPr>
          <a:lstStyle/>
          <a:p>
            <a:pPr algn="ctr"/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Responsabilidade administrativa, civil e criminal</a:t>
            </a:r>
            <a:b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 profissionais de saúde </a:t>
            </a:r>
            <a:b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56</a:t>
            </a:r>
            <a:endParaRPr lang="pt-PT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135" y="1780674"/>
            <a:ext cx="10520411" cy="43794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 profissionais de saúde são responsáveis pelos seus actos técnicos profissionais, quando a si imputáveis e deles resultem prejuízos s terceiros.</a:t>
            </a:r>
          </a:p>
          <a:p>
            <a:pPr marL="0" indent="0">
              <a:lnSpc>
                <a:spcPct val="150000"/>
              </a:lnSpc>
              <a:buNone/>
            </a:pPr>
            <a:endParaRPr lang="pt-PT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responsabilidade civil dos profissionais de saúde por erro na sua actuação e aplicável i disposto na lei civil, sem prejuízo da responsabilidade criminal que ao caso coube.</a:t>
            </a:r>
          </a:p>
          <a:p>
            <a:pPr marL="0" indent="0">
              <a:lnSpc>
                <a:spcPct val="150000"/>
              </a:lnSpc>
              <a:buNone/>
            </a:pPr>
            <a:endParaRPr lang="pt-PT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responsabilidade é solidária quando haja pluralidade de responsáveis. </a:t>
            </a:r>
          </a:p>
          <a:p>
            <a:pPr marL="0" indent="0">
              <a:lnSpc>
                <a:spcPct val="150000"/>
              </a:lnSpc>
              <a:buNone/>
            </a:pPr>
            <a:endParaRPr lang="pt-PT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direito de regresso entre os responsáveis existe na medida da respectiva imputabilidade e das consequências que delas advier, nos termos da lei.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P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303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202131"/>
            <a:ext cx="10131837" cy="1318661"/>
          </a:xfrm>
        </p:spPr>
        <p:txBody>
          <a:bodyPr/>
          <a:lstStyle/>
          <a:p>
            <a:pPr algn="ctr"/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Responsabilidade do comitente</a:t>
            </a:r>
            <a:b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57</a:t>
            </a:r>
            <a:endParaRPr lang="pt-PT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2173"/>
            <a:ext cx="10449470" cy="429919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comitente que encarregue os profissionais de saúde da prática de qualquer acto que vier a resultar em erro, responde pelos danos que aqueles causarem aos utentes.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PT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comitente que satisfizer a indemnização tem o direito de exigir dos profissionais de saúde comissionados o reembolso de tudo quanto haja sido pago, se o erro tiver resultado da actuação destes com dolo, ou com diligência e zelo manifestamente inferiores àqueles a que se acha </a:t>
            </a:r>
            <a:r>
              <a:rPr lang="pt-PT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vc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vam</a:t>
            </a: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obrigados em razão do cargo.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Maputo Cidade, pela Convergência Económica, Inclusão, Inovação e Progresso Social.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 txBox="1"/>
          <p:nvPr/>
        </p:nvSpPr>
        <p:spPr>
          <a:xfrm>
            <a:off x="0" y="2247900"/>
            <a:ext cx="12100562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4000" b="1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6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OBRIGADO </a:t>
            </a:r>
            <a:r>
              <a:rPr sz="3600" dirty="0">
                <a:solidFill>
                  <a:srgbClr val="FF0000"/>
                </a:solidFill>
                <a:cs typeface="Times New Roman" panose="02020603050405020304" pitchFamily="18" charset="0"/>
              </a:rPr>
              <a:t>PELA </a:t>
            </a:r>
            <a:endParaRPr sz="3600" dirty="0">
              <a:solidFill>
                <a:srgbClr val="FF0000"/>
              </a:solidFill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defRPr sz="4000" b="1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600" dirty="0">
                <a:solidFill>
                  <a:srgbClr val="FF0000"/>
                </a:solidFill>
                <a:cs typeface="Times New Roman" panose="02020603050405020304" pitchFamily="18" charset="0"/>
              </a:rPr>
              <a:t>ATENÇÃO DISPENSADA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029117" y="5935287"/>
            <a:ext cx="8795419" cy="623455"/>
          </a:xfrm>
        </p:spPr>
        <p:txBody>
          <a:bodyPr/>
          <a:lstStyle/>
          <a:p>
            <a:endParaRPr lang="pt-PT" sz="1400" dirty="0" smtClean="0"/>
          </a:p>
          <a:p>
            <a:r>
              <a:rPr lang="pt-PT" sz="1400" dirty="0" smtClean="0"/>
              <a:t>Serviços </a:t>
            </a:r>
            <a:r>
              <a:rPr lang="pt-PT" sz="1400" dirty="0"/>
              <a:t>de Saúde da Cidade   Av. </a:t>
            </a:r>
            <a:r>
              <a:rPr lang="pt-PT" sz="1400" dirty="0" err="1"/>
              <a:t>Maguiguana</a:t>
            </a:r>
            <a:r>
              <a:rPr lang="pt-PT" sz="1400" dirty="0"/>
              <a:t>, 1240, R/C Telefone: 21-360276/7 C.P </a:t>
            </a:r>
            <a:r>
              <a:rPr lang="pt-PT" sz="1400" dirty="0" smtClean="0"/>
              <a:t>2217   </a:t>
            </a:r>
            <a:r>
              <a:rPr lang="pt-PT" sz="1400" dirty="0"/>
              <a:t>Telefax: 21-430212 </a:t>
            </a:r>
            <a:endParaRPr lang="en-US" sz="1400" i="1" dirty="0"/>
          </a:p>
          <a:p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44233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100494</TotalTime>
  <Words>1449</Words>
  <Application>Microsoft Office PowerPoint</Application>
  <PresentationFormat>Widescreen</PresentationFormat>
  <Paragraphs>119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Times New Roman</vt:lpstr>
      <vt:lpstr>Wingdings</vt:lpstr>
      <vt:lpstr>Wingdings 3</vt:lpstr>
      <vt:lpstr>Facet</vt:lpstr>
      <vt:lpstr>PowerPoint Presentation</vt:lpstr>
      <vt:lpstr>Âmbito de aplicação art. 2 </vt:lpstr>
      <vt:lpstr>Contextualização </vt:lpstr>
      <vt:lpstr>Organização e funcionamento - art. 10 </vt:lpstr>
      <vt:lpstr>Serviço Nacional de Saúde art. 12 </vt:lpstr>
      <vt:lpstr>Transferência de doentes para o exterior  art. 17</vt:lpstr>
      <vt:lpstr>Taxas moderadoras  art. 19</vt:lpstr>
      <vt:lpstr>Obrigações do Subsistema Privado de Saúde  art. 30</vt:lpstr>
      <vt:lpstr>Sistema de referência e contra - referência art. 33</vt:lpstr>
      <vt:lpstr>Estabelecimentos de prestação de serviços de saúde – art.34 </vt:lpstr>
      <vt:lpstr>Interligação entre os sistemas  art. 40</vt:lpstr>
      <vt:lpstr>Parcerias  art. 42</vt:lpstr>
      <vt:lpstr>Contratos - programa art. 44</vt:lpstr>
      <vt:lpstr>Responsabilidade administrativa, civil e criminal dos profissionais de saúde  art. 56</vt:lpstr>
      <vt:lpstr>Responsabilidade do comitente art. 57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Catarina</cp:lastModifiedBy>
  <cp:revision>1242</cp:revision>
  <cp:lastPrinted>2026-04-17T10:58:36Z</cp:lastPrinted>
  <dcterms:created xsi:type="dcterms:W3CDTF">2022-05-17T21:12:02Z</dcterms:created>
  <dcterms:modified xsi:type="dcterms:W3CDTF">2026-06-08T11:57:18Z</dcterms:modified>
</cp:coreProperties>
</file>
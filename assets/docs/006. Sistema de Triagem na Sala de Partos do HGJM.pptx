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4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9" r:id="rId2"/>
    <p:sldMasterId id="2147483690" r:id="rId3"/>
    <p:sldMasterId id="2147483711" r:id="rId4"/>
    <p:sldMasterId id="2147483732" r:id="rId5"/>
  </p:sldMasterIdLst>
  <p:notesMasterIdLst>
    <p:notesMasterId r:id="rId19"/>
  </p:notesMasterIdLst>
  <p:handoutMasterIdLst>
    <p:handoutMasterId r:id="rId20"/>
  </p:handoutMasterIdLst>
  <p:sldIdLst>
    <p:sldId id="809" r:id="rId6"/>
    <p:sldId id="821" r:id="rId7"/>
    <p:sldId id="822" r:id="rId8"/>
    <p:sldId id="434" r:id="rId9"/>
    <p:sldId id="810" r:id="rId10"/>
    <p:sldId id="811" r:id="rId11"/>
    <p:sldId id="812" r:id="rId12"/>
    <p:sldId id="813" r:id="rId13"/>
    <p:sldId id="816" r:id="rId14"/>
    <p:sldId id="819" r:id="rId15"/>
    <p:sldId id="820" r:id="rId16"/>
    <p:sldId id="817" r:id="rId17"/>
    <p:sldId id="68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3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F7D95"/>
    <a:srgbClr val="59AF7D"/>
    <a:srgbClr val="0A508F"/>
    <a:srgbClr val="EFF505"/>
    <a:srgbClr val="00FFCC"/>
    <a:srgbClr val="FFFF99"/>
    <a:srgbClr val="003E1C"/>
    <a:srgbClr val="94C765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66" autoAdjust="0"/>
    <p:restoredTop sz="94434" autoAdjust="0"/>
  </p:normalViewPr>
  <p:slideViewPr>
    <p:cSldViewPr snapToGrid="0" showGuides="1">
      <p:cViewPr>
        <p:scale>
          <a:sx n="125" d="100"/>
          <a:sy n="125" d="100"/>
        </p:scale>
        <p:origin x="-306" y="72"/>
      </p:cViewPr>
      <p:guideLst>
        <p:guide orient="horz" pos="2136"/>
        <p:guide pos="36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884"/>
    </p:cViewPr>
  </p:sorterViewPr>
  <p:notesViewPr>
    <p:cSldViewPr snapToGrid="0">
      <p:cViewPr varScale="1">
        <p:scale>
          <a:sx n="71" d="100"/>
          <a:sy n="71" d="100"/>
        </p:scale>
        <p:origin x="197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9775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206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 smtClean="0">
                <a:solidFill>
                  <a:prstClr val="black"/>
                </a:solidFill>
              </a:rPr>
              <a:t>1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Relationship Id="rId22" Type="http://schemas.openxmlformats.org/officeDocument/2006/relationships/image" Target="../media/image1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8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83" y="141288"/>
            <a:ext cx="13303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59467" y="865330"/>
            <a:ext cx="9029444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REPÚBLICA DE MOÇAMBIQUE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CIDADE DE MAPUTO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CONSELHO DOS SERVIÇOS DE REPRESENTAÇÃO DO ESTADO</a:t>
            </a:r>
          </a:p>
          <a:p>
            <a:pPr algn="ctr"/>
            <a:r>
              <a:rPr lang="pt-PT" sz="2400" b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 DE SAÚDE DA CIDADE</a:t>
            </a:r>
          </a:p>
        </p:txBody>
      </p:sp>
      <p:sp>
        <p:nvSpPr>
          <p:cNvPr id="8" name="Footer Placeholder 3"/>
          <p:cNvSpPr txBox="1"/>
          <p:nvPr/>
        </p:nvSpPr>
        <p:spPr>
          <a:xfrm>
            <a:off x="922879" y="6280683"/>
            <a:ext cx="9782827" cy="365125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Cidade de Maputo, Julho de 2026</a:t>
            </a:r>
            <a:endParaRPr lang="en-US" sz="1600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4500" y="2758440"/>
            <a:ext cx="10903585" cy="176466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altLang="pt-BR" sz="60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Sistema de triagem na sala de partos do HGJM</a:t>
            </a:r>
            <a:endParaRPr lang="pt-BR" sz="6000" b="1" dirty="0">
              <a:solidFill>
                <a:prstClr val="white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ubtitle 2"/>
          <p:cNvSpPr txBox="1"/>
          <p:nvPr/>
        </p:nvSpPr>
        <p:spPr>
          <a:xfrm>
            <a:off x="292100" y="5460999"/>
            <a:ext cx="10579100" cy="53536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BR" altLang="pt-PT" sz="2400" b="1" i="1" kern="0" dirty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Maputo Cidade, pela Convergência Económica, Inclusão, Inovação e Progresso Social</a:t>
            </a:r>
            <a:endParaRPr lang="en-US" b="1" i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11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Escreve o Título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379176" y="1435706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Cada morte materna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evitável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deve nos causar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indignação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ao ponto de buscarmos melhorias para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assistência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saúde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da mulher e do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recém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nascido e essa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mudança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deve ser iniciada nas portas de entradas das maternidades, tratemos nesta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apresentação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exemplo do HGJM. </a:t>
            </a:r>
          </a:p>
        </p:txBody>
      </p:sp>
      <p:sp>
        <p:nvSpPr>
          <p:cNvPr id="2" name="Title 1"/>
          <p:cNvSpPr>
            <a:spLocks noGrp="1"/>
          </p:cNvSpPr>
          <p:nvPr/>
        </p:nvSpPr>
        <p:spPr bwMode="auto">
          <a:xfrm>
            <a:off x="297079" y="355301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altLang="pt-BR" sz="4000" b="1" dirty="0" smtClean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Introdução 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indent="0" algn="ctr" fontAlgn="ctr">
              <a:lnSpc>
                <a:spcPct val="150000"/>
              </a:lnSpc>
              <a:buFont typeface="Courier New" panose="02070309020205020404" pitchFamily="49" charset="0"/>
              <a:buNone/>
            </a:pPr>
            <a:r>
              <a:rPr lang="pt-PT" altLang="pt-BR" sz="4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Objectivo da </a:t>
            </a:r>
            <a:r>
              <a:rPr lang="pt-PT" altLang="pt-BR" sz="40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apresentação</a:t>
            </a:r>
            <a:r>
              <a:rPr lang="pt-PT" altLang="pt-BR" sz="4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: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Apresentar os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princípios básicos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admissão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no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da maternidade do HGJM,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Apresentar o protocolo de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classificação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do risco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obstétrico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Discutir a necessidade de ampliar o acesso a uma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assistência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humanizada, segura e de qualidade nos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serviços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saúde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garantindo que o sistema nacional de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saúde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seja cada vez mais universal, integral e resoluto.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altLang="pt-BR" sz="4000" b="1" dirty="0" smtClean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Admissão </a:t>
            </a:r>
            <a:r>
              <a:rPr lang="pt-PT" alt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na maternidade  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02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555071" y="1374110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um processo essencial que envolve </a:t>
            </a:r>
            <a:r>
              <a:rPr lang="pt-PT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acolhimento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e a orienta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da gestante e seus familiares. Durante a admiss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o, 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é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importante que a equipe de sa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ú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informe a rotina do servi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o, acolha e acompanhe a gestante at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é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 sala do pr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é-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parto, e oriente sobre a </a:t>
            </a:r>
            <a:r>
              <a:rPr lang="en-US" altLang="pt-PT" sz="2800" dirty="0" err="1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conducta</a:t>
            </a:r>
            <a:r>
              <a:rPr lang="en-US" altLang="pt-PT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da assist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ê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ncia conforme o caso cl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í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nico.</a:t>
            </a:r>
            <a:endParaRPr 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altLang="en-US" sz="4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Cont.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03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Mulheres em trabalho de parto devem ser tratadas com respeito, ter acesso às</a:t>
            </a:r>
            <a:r>
              <a:rPr lang="pt-PT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informa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çõ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 baseadas em evid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ê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ncias e serem inclu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í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das na tomada de decis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õ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es. Para isso, os profissionais que as atendam dever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estabelecer uma rela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</a:t>
            </a:r>
            <a:r>
              <a:rPr lang="pt-PT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de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intimidade com estas,</a:t>
            </a:r>
            <a:r>
              <a:rPr lang="pt-PT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perguntando-lhes sobre seus desejos e expectativas</a:t>
            </a:r>
            <a:r>
              <a:rPr lang="pt-PT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781584" y="483571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altLang="en-US" sz="4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Cont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04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Os profissionais devem estar conscientes da import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â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ncia de sua atitude, do tom de voz e das pr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prias palavras usadas, bem como a forma como os cuidados s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prestados.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Para estabelecer comunica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com a mulher os profissionais devem</a:t>
            </a:r>
            <a:r>
              <a:rPr lang="pt-PT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 </a:t>
            </a:r>
            <a:endParaRPr 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alt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Cont. 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05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Cumprimentar a mulher com um sorriso, se apresentar e explicar qual o seu papel nos cuidados e </a:t>
            </a:r>
            <a:r>
              <a:rPr lang="pt-PT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questionar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sobre as suas necessidades, incluindo como gostaria de ser chamada.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Manter uma abordagem calma e confiante, demonstrando a ela que tudo est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á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indo bem.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Perguntar à mulher como ela est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á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 sentindo e se alguma coisa em particular a preocupa.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72974" y="355301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alt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Cont. 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06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Solicitar permiss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à mulher antes de qualquer procedimento e observa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çõ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es, focando nela e n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na tecnologia ou na documenta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o. 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Mostrar a mulher e ao seu acompanhante como ajudar e assegurar-lhe que ela o </a:t>
            </a:r>
          </a:p>
          <a:p>
            <a:pPr marL="0" indent="0" algn="just" fontAlgn="ctr">
              <a:lnSpc>
                <a:spcPct val="150000"/>
              </a:lnSpc>
              <a:buFont typeface="Courier New" panose="02070309020205020404" pitchFamily="49" charset="0"/>
              <a:buNone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pode fazer em qualquer momento e quantas vezes quiser. 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Envolver a mulher na transfer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ê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ncia de cuidados para outro profissional no final </a:t>
            </a:r>
          </a:p>
          <a:p>
            <a:pPr marL="0" indent="0" algn="just" fontAlgn="ctr">
              <a:lnSpc>
                <a:spcPct val="150000"/>
              </a:lnSpc>
              <a:buFont typeface="Courier New" panose="02070309020205020404" pitchFamily="49" charset="0"/>
              <a:buNone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um </a:t>
            </a:r>
            <a:r>
              <a:rPr lang="en-US" altLang="pt-PT" sz="2800" dirty="0" err="1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turno</a:t>
            </a:r>
            <a:r>
              <a:rPr lang="en-US" altLang="pt-PT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  <a:endParaRPr 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alt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Cont. 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09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97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acolhimento 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é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decisivo n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s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ó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no reconhecimento de condi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çõ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 cl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í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nicas </a:t>
            </a:r>
          </a:p>
          <a:p>
            <a:pPr marL="0" indent="0" algn="just" fontAlgn="ctr">
              <a:lnSpc>
                <a:spcPct val="150000"/>
              </a:lnSpc>
              <a:buFont typeface="Courier New" panose="02070309020205020404" pitchFamily="49" charset="0"/>
              <a:buNone/>
            </a:pP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urgentes como tamb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é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 na potencializa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da viv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ê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ncia do parto e nascimento, </a:t>
            </a:r>
            <a:r>
              <a:rPr lang="en-US" altLang="pt-PT" sz="2800" dirty="0" err="1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experi</a:t>
            </a:r>
            <a:r>
              <a:rPr lang="en-US" altLang="en-US" sz="2800" dirty="0" err="1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ê</a:t>
            </a:r>
            <a:r>
              <a:rPr lang="en-US" altLang="pt-PT" sz="2800" dirty="0" err="1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ncia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ú</a:t>
            </a:r>
            <a:r>
              <a:rPr lang="en-US" altLang="pt-PT" sz="2800" dirty="0" err="1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nica</a:t>
            </a:r>
            <a:r>
              <a:rPr lang="en-US" altLang="pt-PT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na vida da mulher e de sua fam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í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lia. Realizando o acolhimento da parturiente e acompanhante, ouvindo suas demandas e queixas, poder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á 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assim realizar em concomit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â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ncia a classifica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de risco em obstetr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í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cia, tendo como base os fluxogramas presentes no Manual de Acolhimento com Classifica</a:t>
            </a:r>
            <a:r>
              <a:rPr lang="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ç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ã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de Risco em Obstetr</a:t>
            </a:r>
            <a:r>
              <a:rPr lang="en-US" altLang="en-US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í</a:t>
            </a:r>
            <a:r>
              <a:rPr lang="en-US" altLang="pt-PT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cia. </a:t>
            </a:r>
            <a:endParaRPr 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altLang="pt-BR" sz="4000" b="1" dirty="0" smtClean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Classificação </a:t>
            </a:r>
            <a:r>
              <a:rPr lang="pt-PT" alt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do Risco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/>
          <p:nvPr/>
        </p:nvPicPr>
        <p:blipFill>
          <a:blip r:embed="rId2"/>
          <a:stretch>
            <a:fillRect/>
          </a:stretch>
        </p:blipFill>
        <p:spPr>
          <a:xfrm>
            <a:off x="1360805" y="1207770"/>
            <a:ext cx="9469120" cy="5203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 smtClean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Cont…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315212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90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processo de admissao das parturientes e multidisciplinar e envolve diferentes intervenientes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1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Administrativa (que coloca na ficha a hora de chegada)</a:t>
            </a:r>
            <a:endParaRPr lang="pt-PT" alt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gente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 </a:t>
            </a:r>
            <a:endParaRPr lang="pt-PT" alt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Enfermeira de SMI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Médico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Gineco-obstetra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Psicólogo</a:t>
            </a:r>
            <a:endParaRPr lang="pt-PT" alt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erviço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transporte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PT" altLang="pt-BR" sz="4000" b="1" dirty="0" smtClean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Monitoria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315212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valiação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mensal dos processos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clínicos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da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urgência;</a:t>
            </a:r>
            <a:endParaRPr lang="pt-PT" alt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valiação do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tempo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médio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espera;</a:t>
            </a:r>
            <a:endParaRPr lang="pt-PT" alt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valiação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do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tempo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médio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resposta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após a identificação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do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risco;</a:t>
            </a:r>
            <a:endParaRPr lang="pt-PT" alt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valiação do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percentual de pacientes avaliados segundo 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risco;</a:t>
            </a:r>
            <a:endParaRPr lang="pt-PT" alt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</a:t>
            </a:r>
            <a:r>
              <a:rPr lang="pt-PT" altLang="pt-BR" sz="2800" dirty="0" smtClean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iscussão </a:t>
            </a:r>
            <a:r>
              <a:rPr lang="pt-PT" alt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pela equipe para tomada de decisoes.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women_group_clapping_500_wht_12480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7101" y="2515085"/>
            <a:ext cx="3949700" cy="3534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74678" y="747640"/>
            <a:ext cx="8382000" cy="186204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15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Muito</a:t>
            </a:r>
            <a:r>
              <a:rPr lang="en-US" altLang="en-US" sz="11500" b="1" dirty="0">
                <a:solidFill>
                  <a:srgbClr val="000000"/>
                </a:solidFill>
                <a:latin typeface="Juice ITC" panose="04040403040A02020202" pitchFamily="82" charset="0"/>
              </a:rPr>
              <a:t> Obrigado</a:t>
            </a:r>
          </a:p>
        </p:txBody>
      </p:sp>
      <p:sp>
        <p:nvSpPr>
          <p:cNvPr id="5" name="Rectangle 1"/>
          <p:cNvSpPr/>
          <p:nvPr/>
        </p:nvSpPr>
        <p:spPr>
          <a:xfrm>
            <a:off x="69851" y="6049186"/>
            <a:ext cx="107441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Maputo Cidade, pela Convergência Económica, Inclusão, Inovação e Progresso Social</a:t>
            </a:r>
          </a:p>
        </p:txBody>
      </p:sp>
      <p:sp>
        <p:nvSpPr>
          <p:cNvPr id="6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657</Words>
  <Application>Microsoft Office PowerPoint</Application>
  <PresentationFormat>Personalizados</PresentationFormat>
  <Paragraphs>65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dos diapositivos</vt:lpstr>
      </vt:variant>
      <vt:variant>
        <vt:i4>13</vt:i4>
      </vt:variant>
    </vt:vector>
  </HeadingPairs>
  <TitlesOfParts>
    <vt:vector size="18" baseType="lpstr">
      <vt:lpstr>Facet</vt:lpstr>
      <vt:lpstr>1_Facet</vt:lpstr>
      <vt:lpstr>2_Facet</vt:lpstr>
      <vt:lpstr>3_Facet</vt:lpstr>
      <vt:lpstr>4_Facet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Rabeca</cp:lastModifiedBy>
  <cp:revision>1754</cp:revision>
  <dcterms:created xsi:type="dcterms:W3CDTF">2022-05-17T21:12:00Z</dcterms:created>
  <dcterms:modified xsi:type="dcterms:W3CDTF">2026-07-27T08:01:39Z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31607AA23ADA4639B1B8DE0ABFFCD0F9_13</vt:lpwstr>
  </property>
  <property fmtid="{D5CDD505-2E9C-101B-9397-08002B2CF9AE}" pid="3" name="KSOProductBuildVer">
    <vt:lpwstr>2070-12.1.0.27458</vt:lpwstr>
  </property>
</Properties>
</file>
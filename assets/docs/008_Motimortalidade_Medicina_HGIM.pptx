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809" r:id="rId2"/>
    <p:sldId id="434" r:id="rId3"/>
    <p:sldId id="810" r:id="rId4"/>
    <p:sldId id="811" r:id="rId5"/>
    <p:sldId id="812" r:id="rId6"/>
    <p:sldId id="68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66" autoAdjust="0"/>
    <p:restoredTop sz="94434" autoAdjust="0"/>
  </p:normalViewPr>
  <p:slideViewPr>
    <p:cSldViewPr snapToGrid="0" showGuides="1">
      <p:cViewPr varScale="1">
        <p:scale>
          <a:sx n="79" d="100"/>
          <a:sy n="79" d="100"/>
        </p:scale>
        <p:origin x="994" y="72"/>
      </p:cViewPr>
      <p:guideLst>
        <p:guide orient="horz" pos="2136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HP\Documentos\Office\HGJM\Direc&#231;&#227;o\Estatistica\Estat&#237;stica%20da%20Medicina%20pr&#233;%20e%20p&#243;s%20Covi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HP\Documentos\Office\HGJM\Direc&#231;&#227;o\Estatistica\Estat&#237;stica%20da%20Medicina%20pr&#233;%20e%20p&#243;s%20Covi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6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r>
              <a:rPr lang="en-US" b="1"/>
              <a:t>Principais causas de morbimortalidade da Medicina do HGJM (2019, 2023, 2024, 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6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Sheet1!$B$21:$B$22</c:f>
              <c:strCache>
                <c:ptCount val="2"/>
                <c:pt idx="0">
                  <c:v>SIDA</c:v>
                </c:pt>
                <c:pt idx="1">
                  <c:v>Óbitos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92135846131353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0D0-4D73-BA9C-53356498C595}"/>
                </c:ext>
              </c:extLst>
            </c:dLbl>
            <c:dLbl>
              <c:idx val="1"/>
              <c:layout>
                <c:manualLayout>
                  <c:x val="-1.3625342864636123E-2"/>
                  <c:y val="-4.5303183529617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0D0-4D73-BA9C-53356498C595}"/>
                </c:ext>
              </c:extLst>
            </c:dLbl>
            <c:dLbl>
              <c:idx val="2"/>
              <c:layout>
                <c:manualLayout>
                  <c:x val="-1.6102677930933652E-2"/>
                  <c:y val="1.4414649304878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80D0-4D73-BA9C-53356498C595}"/>
                </c:ext>
              </c:extLst>
            </c:dLbl>
            <c:dLbl>
              <c:idx val="3"/>
              <c:layout>
                <c:manualLayout>
                  <c:x val="-1.2386675331487426E-2"/>
                  <c:y val="1.4414649304878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0D0-4D73-BA9C-53356498C595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0" i="0" u="none" strike="noStrike" kern="1200" baseline="0">
                    <a:solidFill>
                      <a:schemeClr val="bg1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Sheet1!$A$23:$A$26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Sheet1!$B$23:$B$26</c:f>
              <c:numCache>
                <c:formatCode>General</c:formatCode>
                <c:ptCount val="4"/>
                <c:pt idx="0">
                  <c:v>129</c:v>
                </c:pt>
                <c:pt idx="1">
                  <c:v>48</c:v>
                </c:pt>
                <c:pt idx="2">
                  <c:v>42</c:v>
                </c:pt>
                <c:pt idx="3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D0-4D73-BA9C-53356498C595}"/>
            </c:ext>
          </c:extLst>
        </c:ser>
        <c:ser>
          <c:idx val="1"/>
          <c:order val="1"/>
          <c:tx>
            <c:strRef>
              <c:f>Sheet1!$C$21:$C$22</c:f>
              <c:strCache>
                <c:ptCount val="2"/>
                <c:pt idx="0">
                  <c:v>SIDA</c:v>
                </c:pt>
                <c:pt idx="1">
                  <c:v>Total de casos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966688328718565E-2"/>
                  <c:y val="-2.26515917648087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0D0-4D73-BA9C-53356498C595}"/>
                </c:ext>
              </c:extLst>
            </c:dLbl>
            <c:dLbl>
              <c:idx val="1"/>
              <c:layout>
                <c:manualLayout>
                  <c:x val="-1.1148007798338683E-2"/>
                  <c:y val="-2.88292986097566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0D0-4D73-BA9C-53356498C595}"/>
                </c:ext>
              </c:extLst>
            </c:dLbl>
            <c:dLbl>
              <c:idx val="2"/>
              <c:layout>
                <c:manualLayout>
                  <c:x val="-7.4320051988924557E-3"/>
                  <c:y val="-2.88292986097566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D0-4D73-BA9C-53356498C59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0" i="0" u="none" strike="noStrike" kern="1200" baseline="0">
                    <a:solidFill>
                      <a:schemeClr val="bg1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Sheet1!$A$23:$A$26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Sheet1!$C$23:$C$26</c:f>
              <c:numCache>
                <c:formatCode>General</c:formatCode>
                <c:ptCount val="4"/>
                <c:pt idx="0">
                  <c:v>1116</c:v>
                </c:pt>
                <c:pt idx="1">
                  <c:v>381</c:v>
                </c:pt>
                <c:pt idx="2">
                  <c:v>356</c:v>
                </c:pt>
                <c:pt idx="3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D0-4D73-BA9C-53356498C595}"/>
            </c:ext>
          </c:extLst>
        </c:ser>
        <c:ser>
          <c:idx val="2"/>
          <c:order val="2"/>
          <c:tx>
            <c:strRef>
              <c:f>Sheet1!$D$21:$D$22</c:f>
              <c:strCache>
                <c:ptCount val="2"/>
                <c:pt idx="0">
                  <c:v>AVC</c:v>
                </c:pt>
                <c:pt idx="1">
                  <c:v>Óbitos </c:v>
                </c:pt>
              </c:strCache>
            </c:strRef>
          </c:tx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921358461313536E-2"/>
                  <c:y val="2.05923561498260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0D0-4D73-BA9C-53356498C595}"/>
                </c:ext>
              </c:extLst>
            </c:dLbl>
            <c:dLbl>
              <c:idx val="1"/>
              <c:layout>
                <c:manualLayout>
                  <c:x val="-1.3625342864636123E-2"/>
                  <c:y val="6.17770684494767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0D0-4D73-BA9C-53356498C595}"/>
                </c:ext>
              </c:extLst>
            </c:dLbl>
            <c:dLbl>
              <c:idx val="2"/>
              <c:layout>
                <c:manualLayout>
                  <c:x val="-1.6102677930933652E-2"/>
                  <c:y val="-4.32439479146347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0D0-4D73-BA9C-53356498C595}"/>
                </c:ext>
              </c:extLst>
            </c:dLbl>
            <c:dLbl>
              <c:idx val="3"/>
              <c:layout>
                <c:manualLayout>
                  <c:x val="-1.2386675331487426E-2"/>
                  <c:y val="-3.5007005454704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0D0-4D73-BA9C-53356498C595}"/>
                </c:ext>
              </c:extLst>
            </c:dLbl>
            <c:spPr>
              <a:solidFill>
                <a:srgbClr val="FF66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0" i="0" u="none" strike="noStrike" kern="1200" baseline="0">
                    <a:solidFill>
                      <a:schemeClr val="bg1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Sheet1!$A$23:$A$26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Sheet1!$D$23:$D$26</c:f>
              <c:numCache>
                <c:formatCode>General</c:formatCode>
                <c:ptCount val="4"/>
                <c:pt idx="0">
                  <c:v>38</c:v>
                </c:pt>
                <c:pt idx="1">
                  <c:v>41</c:v>
                </c:pt>
                <c:pt idx="2">
                  <c:v>47</c:v>
                </c:pt>
                <c:pt idx="3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D0-4D73-BA9C-53356498C595}"/>
            </c:ext>
          </c:extLst>
        </c:ser>
        <c:ser>
          <c:idx val="3"/>
          <c:order val="3"/>
          <c:tx>
            <c:strRef>
              <c:f>Sheet1!$E$21:$E$22</c:f>
              <c:strCache>
                <c:ptCount val="2"/>
                <c:pt idx="0">
                  <c:v>AVC</c:v>
                </c:pt>
                <c:pt idx="1">
                  <c:v>Total de casos</c:v>
                </c:pt>
              </c:strCache>
            </c:strRef>
          </c:tx>
          <c:spPr>
            <a:ln w="28575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5">
                    <a:lumMod val="75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68269092816479E-2"/>
                  <c:y val="-6.17770684494797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D0-4D73-BA9C-53356498C595}"/>
                </c:ext>
              </c:extLst>
            </c:dLbl>
            <c:dLbl>
              <c:idx val="1"/>
              <c:layout>
                <c:manualLayout>
                  <c:x val="-1.981868053037988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D0-4D73-BA9C-53356498C595}"/>
                </c:ext>
              </c:extLst>
            </c:dLbl>
            <c:dLbl>
              <c:idx val="2"/>
              <c:layout>
                <c:manualLayout>
                  <c:x val="-1.858001299723113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D0-4D73-BA9C-53356498C595}"/>
                </c:ext>
              </c:extLst>
            </c:dLbl>
            <c:dLbl>
              <c:idx val="3"/>
              <c:layout>
                <c:manualLayout>
                  <c:x val="-4.3353363660205993E-2"/>
                  <c:y val="1.4414649304878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0D0-4D73-BA9C-53356498C595}"/>
                </c:ext>
              </c:extLst>
            </c:dLbl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Sheet1!$A$23:$A$26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Sheet1!$E$23:$E$26</c:f>
              <c:numCache>
                <c:formatCode>General</c:formatCode>
                <c:ptCount val="4"/>
                <c:pt idx="0">
                  <c:v>279</c:v>
                </c:pt>
                <c:pt idx="1">
                  <c:v>236</c:v>
                </c:pt>
                <c:pt idx="2">
                  <c:v>271</c:v>
                </c:pt>
                <c:pt idx="3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D0-4D73-BA9C-53356498C5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26623488"/>
        <c:axId val="1026623968"/>
      </c:lineChart>
      <c:catAx>
        <c:axId val="102662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en-US"/>
          </a:p>
        </c:txPr>
        <c:crossAx val="1026623968"/>
        <c:crosses val="autoZero"/>
        <c:auto val="1"/>
        <c:lblAlgn val="ctr"/>
        <c:lblOffset val="100"/>
        <c:noMultiLvlLbl val="0"/>
      </c:catAx>
      <c:valAx>
        <c:axId val="10266239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2662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noFill/>
    </a:ln>
    <a:effectLst/>
  </c:spPr>
  <c:txPr>
    <a:bodyPr/>
    <a:lstStyle/>
    <a:p>
      <a:pPr>
        <a:defRPr sz="2200">
          <a:latin typeface="Arial Narrow" panose="020B060602020203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r>
              <a:rPr lang="en-US" dirty="0"/>
              <a:t>Taxa de </a:t>
            </a:r>
            <a:r>
              <a:rPr lang="en-US" dirty="0" err="1"/>
              <a:t>Letalidade</a:t>
            </a:r>
            <a:r>
              <a:rPr lang="en-US" dirty="0"/>
              <a:t> SIDA e AVC </a:t>
            </a:r>
          </a:p>
          <a:p>
            <a:pPr>
              <a:defRPr/>
            </a:pPr>
            <a:r>
              <a:rPr lang="en-US" dirty="0"/>
              <a:t>(Medicina HGJM, 2019 - 2025)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Sheet1!$B$29</c:f>
              <c:strCache>
                <c:ptCount val="1"/>
                <c:pt idx="0">
                  <c:v>SIDA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Sheet1!$A$30:$A$33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xVal>
          <c:yVal>
            <c:numRef>
              <c:f>Sheet1!$B$30:$B$33</c:f>
              <c:numCache>
                <c:formatCode>0%</c:formatCode>
                <c:ptCount val="4"/>
                <c:pt idx="0">
                  <c:v>0.11559139784946236</c:v>
                </c:pt>
                <c:pt idx="1">
                  <c:v>0.12598425196850394</c:v>
                </c:pt>
                <c:pt idx="2">
                  <c:v>0.11797752808988764</c:v>
                </c:pt>
                <c:pt idx="3">
                  <c:v>9.8726114649681534E-2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867-4D1C-B815-6CCE495C61B5}"/>
            </c:ext>
          </c:extLst>
        </c:ser>
        <c:ser>
          <c:idx val="1"/>
          <c:order val="1"/>
          <c:tx>
            <c:strRef>
              <c:f>Sheet1!$C$29</c:f>
              <c:strCache>
                <c:ptCount val="1"/>
                <c:pt idx="0">
                  <c:v>AVC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5"/>
            <c:spPr>
              <a:gradFill rotWithShape="1">
                <a:gsLst>
                  <a:gs pos="0">
                    <a:schemeClr val="dk1">
                      <a:tint val="96000"/>
                      <a:lumMod val="100000"/>
                    </a:schemeClr>
                  </a:gs>
                  <a:gs pos="78000">
                    <a:schemeClr val="dk1">
                      <a:shade val="94000"/>
                      <a:lumMod val="94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0800" dist="381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</c:marker>
          <c:xVal>
            <c:numRef>
              <c:f>Sheet1!$A$30:$A$33</c:f>
              <c:numCache>
                <c:formatCode>General</c:formatCod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xVal>
          <c:yVal>
            <c:numRef>
              <c:f>Sheet1!$C$30:$C$33</c:f>
              <c:numCache>
                <c:formatCode>0%</c:formatCode>
                <c:ptCount val="4"/>
                <c:pt idx="0">
                  <c:v>0.13620071684587814</c:v>
                </c:pt>
                <c:pt idx="1">
                  <c:v>0.17372881355932204</c:v>
                </c:pt>
                <c:pt idx="2">
                  <c:v>0.17343173431734318</c:v>
                </c:pt>
                <c:pt idx="3">
                  <c:v>0.16981132075471697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867-4D1C-B815-6CCE495C6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3371232"/>
        <c:axId val="258259856"/>
      </c:scatterChart>
      <c:valAx>
        <c:axId val="223371232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en-US"/>
          </a:p>
        </c:txPr>
        <c:crossAx val="258259856"/>
        <c:crosses val="autoZero"/>
        <c:crossBetween val="midCat"/>
      </c:valAx>
      <c:valAx>
        <c:axId val="258259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en-US"/>
          </a:p>
        </c:txPr>
        <c:crossAx val="2233712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noFill/>
    </a:ln>
    <a:effectLst/>
  </c:spPr>
  <c:txPr>
    <a:bodyPr/>
    <a:lstStyle/>
    <a:p>
      <a:pPr>
        <a:defRPr sz="2400">
          <a:latin typeface="Arial Narrow" panose="020B060602020203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20/07/2026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256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20/07/2026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241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4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321" y="2697540"/>
            <a:ext cx="10903620" cy="21030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60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Morbimortalidade da Medicina do HGJM no </a:t>
            </a:r>
            <a:r>
              <a:rPr lang="pt-BR" sz="6000" b="1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pré</a:t>
            </a:r>
            <a:r>
              <a:rPr lang="pt-BR" sz="60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e pós-Covid 19</a:t>
            </a:r>
          </a:p>
        </p:txBody>
      </p:sp>
      <p:sp>
        <p:nvSpPr>
          <p:cNvPr id="10" name="Subtitle 2"/>
          <p:cNvSpPr txBox="1"/>
          <p:nvPr/>
        </p:nvSpPr>
        <p:spPr>
          <a:xfrm>
            <a:off x="292100" y="54609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altLang="pt-PT" sz="2400" b="1" i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Maputo Cidade, pela Convergência Económica, Inclusão, Inovação e Progresso Social</a:t>
            </a:r>
            <a:endParaRPr lang="en-US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0763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pt-BR" sz="32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Morbimortalidade da Medicina do HGJM no </a:t>
            </a:r>
            <a:r>
              <a:rPr lang="pt-BR" sz="3200" b="1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pré</a:t>
            </a:r>
            <a:r>
              <a:rPr lang="pt-BR" sz="32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e pós-Covid 19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02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8F301F-B3A8-283E-511C-1704A5FD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261301"/>
              </p:ext>
            </p:extLst>
          </p:nvPr>
        </p:nvGraphicFramePr>
        <p:xfrm>
          <a:off x="189749" y="1704262"/>
          <a:ext cx="10981256" cy="499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968">
                  <a:extLst>
                    <a:ext uri="{9D8B030D-6E8A-4147-A177-3AD203B41FA5}">
                      <a16:colId xmlns:a16="http://schemas.microsoft.com/office/drawing/2014/main" val="1488259696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745291404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624419287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3369841894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3961199891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156983911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574529125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4212707375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3923694045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1781994832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29194420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2761778511"/>
                    </a:ext>
                  </a:extLst>
                </a:gridCol>
                <a:gridCol w="828774">
                  <a:extLst>
                    <a:ext uri="{9D8B030D-6E8A-4147-A177-3AD203B41FA5}">
                      <a16:colId xmlns:a16="http://schemas.microsoft.com/office/drawing/2014/main" val="2481290559"/>
                    </a:ext>
                  </a:extLst>
                </a:gridCol>
              </a:tblGrid>
              <a:tr h="18288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Meses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2019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2023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69535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SIDA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AVC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SIDA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AVC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38889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Óbitos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Óbitos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Óbitos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Óbitos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87417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Janeiro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888110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Fevereiro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875164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Março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390451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931527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Maio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71661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Junho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431089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Julho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72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245002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Agosto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582154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Setembro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132855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Outubro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092951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Novembro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74469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Dezembro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71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81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757855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987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129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1116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241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279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333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48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381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195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16910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pt-BR" sz="32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Morbimortalidade da Medicina do HGJM no </a:t>
            </a:r>
            <a:r>
              <a:rPr lang="pt-BR" sz="3200" b="1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pré</a:t>
            </a:r>
            <a:r>
              <a:rPr lang="pt-BR" sz="32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e pós-Covid 19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31E34D-8070-0721-5EEB-4DA6AF89A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79107"/>
              </p:ext>
            </p:extLst>
          </p:nvPr>
        </p:nvGraphicFramePr>
        <p:xfrm>
          <a:off x="295991" y="1770433"/>
          <a:ext cx="10657347" cy="4945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411">
                  <a:extLst>
                    <a:ext uri="{9D8B030D-6E8A-4147-A177-3AD203B41FA5}">
                      <a16:colId xmlns:a16="http://schemas.microsoft.com/office/drawing/2014/main" val="1179105929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3700244864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4127979355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3458231124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3734401915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2073805255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1929816760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3520460012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2634236531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2250805086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126200488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2884634634"/>
                    </a:ext>
                  </a:extLst>
                </a:gridCol>
                <a:gridCol w="804328">
                  <a:extLst>
                    <a:ext uri="{9D8B030D-6E8A-4147-A177-3AD203B41FA5}">
                      <a16:colId xmlns:a16="http://schemas.microsoft.com/office/drawing/2014/main" val="354238274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Meses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2024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8845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SIDA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AVC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SIDA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AVC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3870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 err="1"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 err="1"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Altas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69520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</a:rPr>
                        <a:t>Janeiro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27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29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7454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</a:rPr>
                        <a:t>Fevereiro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28708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</a:rPr>
                        <a:t>Março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5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</a:rPr>
                        <a:t>Abril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66954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</a:rPr>
                        <a:t>Maio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61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</a:rPr>
                        <a:t>Junho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9038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</a:rPr>
                        <a:t>Julho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9489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>
                          <a:effectLst/>
                          <a:latin typeface="Arial Narrow" panose="020B0606020202030204" pitchFamily="34" charset="0"/>
                        </a:rPr>
                        <a:t>Agosto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1213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>
                          <a:effectLst/>
                          <a:latin typeface="Arial Narrow" panose="020B0606020202030204" pitchFamily="34" charset="0"/>
                        </a:rPr>
                        <a:t>Setembro</a:t>
                      </a:r>
                      <a:endParaRPr lang="en-GB" sz="2000" b="0" i="1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370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</a:rPr>
                        <a:t>Outubro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29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1525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</a:rPr>
                        <a:t>Novembro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2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i="1" u="none" strike="noStrike" dirty="0" err="1">
                          <a:effectLst/>
                          <a:latin typeface="Arial Narrow" panose="020B0606020202030204" pitchFamily="34" charset="0"/>
                        </a:rPr>
                        <a:t>Dezembro</a:t>
                      </a:r>
                      <a:endParaRPr lang="en-GB" sz="2000" b="0" i="1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39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2742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314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42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356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224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>
                          <a:effectLst/>
                          <a:latin typeface="Arial Narrow" panose="020B0606020202030204" pitchFamily="34" charset="0"/>
                        </a:rPr>
                        <a:t>47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271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283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314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220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none" strike="noStrike" dirty="0">
                          <a:effectLst/>
                          <a:latin typeface="Arial Narrow" panose="020B0606020202030204" pitchFamily="34" charset="0"/>
                        </a:rPr>
                        <a:t>265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98" marR="4298" marT="4298" marB="0" anchor="ctr"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676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91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204D261-81BE-7FC4-F4C6-6BAA724534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714562"/>
              </p:ext>
            </p:extLst>
          </p:nvPr>
        </p:nvGraphicFramePr>
        <p:xfrm>
          <a:off x="739302" y="330740"/>
          <a:ext cx="10252953" cy="6167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131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pt-BR" sz="3200" b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Morbimortalidade da Medicina do HGJM no pré e pós-Covid 19</a:t>
            </a:r>
            <a:endParaRPr lang="pt-BR" sz="3200" b="1" dirty="0">
              <a:solidFill>
                <a:prstClr val="whit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DEC0CFA-8371-541D-6AE2-1EBB5D1DF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228168"/>
              </p:ext>
            </p:extLst>
          </p:nvPr>
        </p:nvGraphicFramePr>
        <p:xfrm>
          <a:off x="1628776" y="1300164"/>
          <a:ext cx="8729663" cy="520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8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Obrigado</a:t>
            </a: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  <p:sp>
        <p:nvSpPr>
          <p:cNvPr id="6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7389</TotalTime>
  <Words>526</Words>
  <Application>Microsoft Office PowerPoint</Application>
  <PresentationFormat>Widescreen</PresentationFormat>
  <Paragraphs>415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Narrow</vt:lpstr>
      <vt:lpstr>Bodoni MT</vt:lpstr>
      <vt:lpstr>Calibri</vt:lpstr>
      <vt:lpstr>Calibri Light</vt:lpstr>
      <vt:lpstr>Juice ITC</vt:lpstr>
      <vt:lpstr>Times New Roman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Milton Tatia</cp:lastModifiedBy>
  <cp:revision>1756</cp:revision>
  <dcterms:created xsi:type="dcterms:W3CDTF">2022-05-17T21:12:00Z</dcterms:created>
  <dcterms:modified xsi:type="dcterms:W3CDTF">2026-07-21T19:10:07Z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63BD0A64F7A24D1BAA045F58D81EDD59_13</vt:lpwstr>
  </property>
  <property fmtid="{D5CDD505-2E9C-101B-9397-08002B2CF9AE}" pid="3" name="KSOProductBuildVer">
    <vt:lpwstr>1033-12.2.0.21931</vt:lpwstr>
  </property>
</Properties>
</file>
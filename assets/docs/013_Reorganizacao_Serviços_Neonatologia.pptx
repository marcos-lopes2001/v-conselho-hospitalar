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809" r:id="rId2"/>
    <p:sldId id="434" r:id="rId3"/>
    <p:sldId id="811" r:id="rId4"/>
    <p:sldId id="810" r:id="rId5"/>
    <p:sldId id="812" r:id="rId6"/>
    <p:sldId id="813" r:id="rId7"/>
    <p:sldId id="814" r:id="rId8"/>
    <p:sldId id="815" r:id="rId9"/>
    <p:sldId id="816" r:id="rId10"/>
    <p:sldId id="817" r:id="rId11"/>
    <p:sldId id="820" r:id="rId12"/>
    <p:sldId id="821" r:id="rId13"/>
    <p:sldId id="822" r:id="rId14"/>
    <p:sldId id="823" r:id="rId15"/>
    <p:sldId id="68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5F7D95"/>
    <a:srgbClr val="59AF7D"/>
    <a:srgbClr val="0A508F"/>
    <a:srgbClr val="EFF505"/>
    <a:srgbClr val="00FFCC"/>
    <a:srgbClr val="FFFF99"/>
    <a:srgbClr val="003E1C"/>
    <a:srgbClr val="94C765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66" autoAdjust="0"/>
    <p:restoredTop sz="94434" autoAdjust="0"/>
  </p:normalViewPr>
  <p:slideViewPr>
    <p:cSldViewPr snapToGrid="0" showGuides="1">
      <p:cViewPr varScale="1">
        <p:scale>
          <a:sx n="71" d="100"/>
          <a:sy n="71" d="100"/>
        </p:scale>
        <p:origin x="876" y="66"/>
      </p:cViewPr>
      <p:guideLst>
        <p:guide orient="horz" pos="2136"/>
        <p:guide pos="367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884"/>
    </p:cViewPr>
  </p:sorterViewPr>
  <p:notesViewPr>
    <p:cSldViewPr snapToGrid="0">
      <p:cViewPr varScale="1">
        <p:scale>
          <a:sx n="71" d="100"/>
          <a:sy n="71" d="100"/>
        </p:scale>
        <p:origin x="197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noProof="0" dirty="0"/>
              <a:t>Total</a:t>
            </a:r>
            <a:r>
              <a:rPr lang="pt-BR" baseline="0" noProof="0" dirty="0"/>
              <a:t> de admitidos</a:t>
            </a:r>
            <a:endParaRPr lang="pt-BR" noProof="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Sheet1!$A$5</c:f>
              <c:strCache>
                <c:ptCount val="1"/>
                <c:pt idx="0">
                  <c:v>urgencias 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Sheet1!$B$4:$D$4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Sheet1!$B$5:$D$5</c:f>
              <c:numCache>
                <c:formatCode>General</c:formatCode>
                <c:ptCount val="3"/>
                <c:pt idx="0">
                  <c:v>8357</c:v>
                </c:pt>
                <c:pt idx="1">
                  <c:v>8651</c:v>
                </c:pt>
                <c:pt idx="2">
                  <c:v>10419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95-403D-A353-F229F27E67C7}"/>
            </c:ext>
          </c:extLst>
        </c:ser>
        <c:ser>
          <c:idx val="1"/>
          <c:order val="1"/>
          <c:tx>
            <c:strRef>
              <c:f>Sheet1!$A$6</c:f>
              <c:strCache>
                <c:ptCount val="1"/>
                <c:pt idx="0">
                  <c:v>admitodo sala de partos 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Sheet1!$B$4:$D$4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Sheet1!$B$6:$D$6</c:f>
              <c:numCache>
                <c:formatCode>General</c:formatCode>
                <c:ptCount val="3"/>
                <c:pt idx="0">
                  <c:v>10790</c:v>
                </c:pt>
                <c:pt idx="1">
                  <c:v>10744</c:v>
                </c:pt>
                <c:pt idx="2">
                  <c:v>12968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95-403D-A353-F229F27E67C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88023984"/>
        <c:axId val="1175114128"/>
      </c:lineChart>
      <c:catAx>
        <c:axId val="1188023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5114128"/>
        <c:crosses val="autoZero"/>
        <c:auto val="1"/>
        <c:lblAlgn val="ctr"/>
        <c:lblOffset val="100"/>
        <c:noMultiLvlLbl val="0"/>
      </c:catAx>
      <c:valAx>
        <c:axId val="1175114128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88023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noProof="0" dirty="0"/>
              <a:t>Mortes</a:t>
            </a:r>
            <a:r>
              <a:rPr lang="pt-BR" baseline="0" noProof="0" dirty="0"/>
              <a:t> M e focos Perdidos</a:t>
            </a:r>
            <a:endParaRPr lang="pt-BR" noProof="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3.0555555555555555E-2"/>
          <c:y val="0.18967592592592591"/>
          <c:w val="0.93888888888888888"/>
          <c:h val="0.59276210265383489"/>
        </c:manualLayout>
      </c:layout>
      <c:lineChart>
        <c:grouping val="stacked"/>
        <c:varyColors val="0"/>
        <c:ser>
          <c:idx val="0"/>
          <c:order val="0"/>
          <c:tx>
            <c:strRef>
              <c:f>Sheet1!$A$5</c:f>
              <c:strCache>
                <c:ptCount val="1"/>
                <c:pt idx="0">
                  <c:v>mortes maternas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Sheet1!$B$4:$D$4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Sheet1!$B$5:$D$5</c:f>
              <c:numCache>
                <c:formatCode>General</c:formatCode>
                <c:ptCount val="3"/>
                <c:pt idx="0">
                  <c:v>5</c:v>
                </c:pt>
                <c:pt idx="1">
                  <c:v>8</c:v>
                </c:pt>
                <c:pt idx="2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13-4B4A-AA29-1AC4B81F0D96}"/>
            </c:ext>
          </c:extLst>
        </c:ser>
        <c:ser>
          <c:idx val="1"/>
          <c:order val="1"/>
          <c:tx>
            <c:strRef>
              <c:f>Sheet1!$A$6</c:f>
              <c:strCache>
                <c:ptCount val="1"/>
                <c:pt idx="0">
                  <c:v>Focos perdidos 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Sheet1!$B$4:$D$4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Sheet1!$B$6:$D$6</c:f>
              <c:numCache>
                <c:formatCode>General</c:formatCode>
                <c:ptCount val="3"/>
                <c:pt idx="0">
                  <c:v>10</c:v>
                </c:pt>
                <c:pt idx="1">
                  <c:v>8</c:v>
                </c:pt>
                <c:pt idx="2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13-4B4A-AA29-1AC4B81F0D9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81559696"/>
        <c:axId val="1175113168"/>
      </c:lineChart>
      <c:catAx>
        <c:axId val="1181559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5113168"/>
        <c:crosses val="autoZero"/>
        <c:auto val="1"/>
        <c:lblAlgn val="ctr"/>
        <c:lblOffset val="100"/>
        <c:noMultiLvlLbl val="0"/>
      </c:catAx>
      <c:valAx>
        <c:axId val="1175113168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81559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noProof="0" dirty="0"/>
              <a:t>Complica</a:t>
            </a:r>
            <a:r>
              <a:rPr lang="pt-BR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</a:t>
            </a:r>
            <a:r>
              <a:rPr lang="pt-BR" noProof="0" dirty="0">
                <a:latin typeface="+mn-lt"/>
                <a:ea typeface="+mn-ea"/>
                <a:cs typeface="+mn-cs"/>
              </a:rPr>
              <a:t>õ</a:t>
            </a:r>
            <a:r>
              <a:rPr lang="pt-BR" noProof="0" dirty="0"/>
              <a:t>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6111111111111108E-2"/>
          <c:y val="0.19895851560221639"/>
          <c:w val="0.93888888888888888"/>
          <c:h val="0.59236840186643336"/>
        </c:manualLayout>
      </c:layout>
      <c:lineChart>
        <c:grouping val="stacked"/>
        <c:varyColors val="0"/>
        <c:ser>
          <c:idx val="0"/>
          <c:order val="0"/>
          <c:tx>
            <c:strRef>
              <c:f>Sheet1!$A$5</c:f>
              <c:strCache>
                <c:ptCount val="1"/>
                <c:pt idx="0">
                  <c:v>histerectomias 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Sheet1!$B$4:$C$4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Sheet1!$B$5:$C$5</c:f>
              <c:numCache>
                <c:formatCode>General</c:formatCode>
                <c:ptCount val="2"/>
                <c:pt idx="0">
                  <c:v>6</c:v>
                </c:pt>
                <c:pt idx="1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E1E-4109-8740-0E73A5FEBDED}"/>
            </c:ext>
          </c:extLst>
        </c:ser>
        <c:ser>
          <c:idx val="1"/>
          <c:order val="1"/>
          <c:tx>
            <c:strRef>
              <c:f>Sheet1!$A$6</c:f>
              <c:strCache>
                <c:ptCount val="1"/>
                <c:pt idx="0">
                  <c:v>Roturas Uterinas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Sheet1!$B$4:$C$4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Sheet1!$B$6:$C$6</c:f>
              <c:numCache>
                <c:formatCode>General</c:formatCode>
                <c:ptCount val="2"/>
                <c:pt idx="0">
                  <c:v>5</c:v>
                </c:pt>
                <c:pt idx="1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E1E-4109-8740-0E73A5FEBDE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06567104"/>
        <c:axId val="1175080528"/>
      </c:lineChart>
      <c:catAx>
        <c:axId val="1206567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5080528"/>
        <c:crosses val="autoZero"/>
        <c:auto val="1"/>
        <c:lblAlgn val="ctr"/>
        <c:lblOffset val="100"/>
        <c:noMultiLvlLbl val="0"/>
      </c:catAx>
      <c:valAx>
        <c:axId val="1175080528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206567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noProof="0" dirty="0"/>
              <a:t>Enfermeiro de Sa</a:t>
            </a:r>
            <a:r>
              <a:rPr lang="pt-BR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ú</a:t>
            </a:r>
            <a:r>
              <a:rPr lang="pt-BR" noProof="0" dirty="0"/>
              <a:t>de Materna e SMI</a:t>
            </a:r>
          </a:p>
        </c:rich>
      </c:tx>
      <c:layout>
        <c:manualLayout>
          <c:xMode val="edge"/>
          <c:yMode val="edge"/>
          <c:x val="0.26464566929133854"/>
          <c:y val="4.62962962962962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Sheet1!$D$43</c:f>
              <c:strCache>
                <c:ptCount val="1"/>
                <c:pt idx="0">
                  <c:v>Enfermeiras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Sheet1!$E$42:$G$42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Sheet1!$E$43:$G$43</c:f>
              <c:numCache>
                <c:formatCode>General</c:formatCode>
                <c:ptCount val="3"/>
                <c:pt idx="0">
                  <c:v>34</c:v>
                </c:pt>
                <c:pt idx="1">
                  <c:v>52</c:v>
                </c:pt>
                <c:pt idx="2">
                  <c:v>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7A3-45CA-ADAE-D16490D51BB5}"/>
            </c:ext>
          </c:extLst>
        </c:ser>
        <c:ser>
          <c:idx val="1"/>
          <c:order val="1"/>
          <c:tx>
            <c:strRef>
              <c:f>Sheet1!$D$44</c:f>
              <c:strCache>
                <c:ptCount val="1"/>
                <c:pt idx="0">
                  <c:v>Tsuperiores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Sheet1!$E$42:$G$42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Sheet1!$E$44:$G$44</c:f>
              <c:numCache>
                <c:formatCode>General</c:formatCode>
                <c:ptCount val="3"/>
                <c:pt idx="0">
                  <c:v>6</c:v>
                </c:pt>
                <c:pt idx="1">
                  <c:v>8</c:v>
                </c:pt>
                <c:pt idx="2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7A3-45CA-ADAE-D16490D51BB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24876144"/>
        <c:axId val="1627333552"/>
      </c:lineChart>
      <c:catAx>
        <c:axId val="1624876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7333552"/>
        <c:crosses val="autoZero"/>
        <c:auto val="1"/>
        <c:lblAlgn val="ctr"/>
        <c:lblOffset val="100"/>
        <c:noMultiLvlLbl val="0"/>
      </c:catAx>
      <c:valAx>
        <c:axId val="1627333552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624876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noProof="0" dirty="0"/>
              <a:t>M</a:t>
            </a:r>
            <a:r>
              <a:rPr lang="pt-BR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</a:t>
            </a:r>
            <a:r>
              <a:rPr lang="pt-BR" noProof="0" dirty="0"/>
              <a:t>dicos especialistas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Sheet1!$D$46</c:f>
              <c:strCache>
                <c:ptCount val="1"/>
                <c:pt idx="0">
                  <c:v>especialistas 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Sheet1!$E$45:$G$45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Sheet1!$E$46:$G$46</c:f>
              <c:numCache>
                <c:formatCode>General</c:formatCode>
                <c:ptCount val="3"/>
                <c:pt idx="0">
                  <c:v>11</c:v>
                </c:pt>
                <c:pt idx="1">
                  <c:v>9</c:v>
                </c:pt>
                <c:pt idx="2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DF-4270-8BA4-63E058561C3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833728"/>
        <c:axId val="1627340272"/>
      </c:lineChart>
      <c:catAx>
        <c:axId val="20833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7340272"/>
        <c:crosses val="autoZero"/>
        <c:auto val="1"/>
        <c:lblAlgn val="ctr"/>
        <c:lblOffset val="100"/>
        <c:noMultiLvlLbl val="0"/>
      </c:catAx>
      <c:valAx>
        <c:axId val="1627340272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833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noProof="0" dirty="0"/>
              <a:t>Cl</a:t>
            </a:r>
            <a:r>
              <a:rPr lang="pt-BR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pt-BR" noProof="0" dirty="0"/>
              <a:t>nico</a:t>
            </a:r>
            <a:r>
              <a:rPr lang="pt-BR" baseline="0" noProof="0" dirty="0"/>
              <a:t> geral e residentes </a:t>
            </a:r>
            <a:endParaRPr lang="pt-BR" noProof="0" dirty="0"/>
          </a:p>
        </c:rich>
      </c:tx>
      <c:layout>
        <c:manualLayout>
          <c:xMode val="edge"/>
          <c:yMode val="edge"/>
          <c:x val="0.2321178915135608"/>
          <c:y val="1.85185185185185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Sheet1!$D$46</c:f>
              <c:strCache>
                <c:ptCount val="1"/>
                <c:pt idx="0">
                  <c:v>Clinico Gerais 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Sheet1!$E$45:$G$45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Sheet1!$E$46:$G$46</c:f>
              <c:numCache>
                <c:formatCode>General</c:formatCode>
                <c:ptCount val="3"/>
                <c:pt idx="0">
                  <c:v>0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F2-4DA3-AAD6-130503436C90}"/>
            </c:ext>
          </c:extLst>
        </c:ser>
        <c:ser>
          <c:idx val="1"/>
          <c:order val="1"/>
          <c:tx>
            <c:strRef>
              <c:f>Sheet1!$D$47</c:f>
              <c:strCache>
                <c:ptCount val="1"/>
                <c:pt idx="0">
                  <c:v>Residentes 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Sheet1!$E$45:$G$45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Sheet1!$E$47:$G$47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4F2-4DA3-AAD6-130503436C9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24936928"/>
        <c:axId val="1627341232"/>
      </c:lineChart>
      <c:catAx>
        <c:axId val="1624936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7341232"/>
        <c:crosses val="autoZero"/>
        <c:auto val="1"/>
        <c:lblAlgn val="ctr"/>
        <c:lblOffset val="100"/>
        <c:noMultiLvlLbl val="0"/>
      </c:catAx>
      <c:valAx>
        <c:axId val="1627341232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624936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8FD59-9D0F-40A5-B250-B737B64162E8}" type="datetimeFigureOut">
              <a:rPr lang="pt-PT" smtClean="0"/>
              <a:t>23/07/2026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29F8A-2E1A-4ED4-86A0-F8F8C89DD0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72563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FE548-66E2-490A-B8BE-3BB0057E4DE2}" type="datetimeFigureOut">
              <a:rPr lang="pt-PT" smtClean="0"/>
              <a:t>23/07/2026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229E6-C54D-45FB-8CDB-E6480133944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2241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9A425B-5968-4CD5-AE1D-D41E8EAAB025}" type="slidenum">
              <a:rPr lang="en-US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946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F7CCD91-7CF5-463A-92B2-72398BF1BC27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14" name="Título 1"/>
          <p:cNvSpPr txBox="1"/>
          <p:nvPr userDrawn="1"/>
        </p:nvSpPr>
        <p:spPr>
          <a:xfrm>
            <a:off x="1502668" y="464650"/>
            <a:ext cx="7675469" cy="193988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365760">
              <a:lnSpc>
                <a:spcPct val="150000"/>
              </a:lnSpc>
              <a:defRPr sz="108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REPÚBLICA DE MOÇAMBIQUE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CIDADE DE MAPUTO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CONSELHO DOS SERVIÇOS DE REPRESENTAÇÃO DO ESTADO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pt-BR" sz="108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5" name="Picture 1" descr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8745" y="129411"/>
            <a:ext cx="823579" cy="8429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7593" y="0"/>
            <a:ext cx="25130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58DAB211-9DB0-4BCD-AECE-AA48D2FAF053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984A0CA-B4FB-4E13-8E26-80D44FC6CC72}" type="datetime1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C710A497-1EF1-449D-87D8-5EB0B0B4BD38}" type="datetime1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7641D16-2C1C-4BF4-A0A0-214276D3262E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2355CEB-62F5-490C-9601-10ADD96F8305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5DB4419-962C-4A49-AC15-FC2EB9C48224}" type="datetime1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1150C2-FB6C-4AC5-9199-4F702BC85294}" type="datetime1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5AF5AE3-20BD-477E-9C8D-C718405183F4}" type="datetime1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60D8830-A70F-4ED5-9FF2-70A2EF4A617A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DEF88B1-FFF6-4872-BC92-C8178554A5E1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EDB1223-78DD-4C93-AD91-AA9D2CFD32DB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3AC88A-7615-439F-8813-8ACC907F62FB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A5E7B9D3-4657-48CE-A967-DDF7CB3E92AA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F7B934B7-89F4-49DF-9D3A-A8FD3FA057E0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13AA77D-1A2F-4B05-868F-B96A7C7B8669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E740DC8C-C44A-4D1E-AE4A-0C0C91615C24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DA1195B-25EA-4262-BF67-3B6353CEF485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6862" y="6088988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982325" y="0"/>
            <a:ext cx="1209675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C:\Users\DACUNHA\Pictures\image_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83" y="141288"/>
            <a:ext cx="1330325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59467" y="865330"/>
            <a:ext cx="9029444" cy="1938992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pt-BR" sz="2400" noProof="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REPÚBLICA DE MOÇAMBIQUE</a:t>
            </a:r>
          </a:p>
          <a:p>
            <a:pPr algn="ctr"/>
            <a:r>
              <a:rPr lang="pt-BR" sz="2400" noProof="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CIDADE DE MAPUTO</a:t>
            </a:r>
          </a:p>
          <a:p>
            <a:pPr algn="ctr"/>
            <a:r>
              <a:rPr lang="pt-BR" sz="2400" noProof="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CONSELHO DOS SERVIÇOS DE REPRESENTAÇÃO DO ESTADO</a:t>
            </a:r>
          </a:p>
          <a:p>
            <a:pPr algn="ctr"/>
            <a:r>
              <a:rPr lang="pt-BR" sz="2400" b="1" noProof="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SERVIÇO DE SAÚDE DA CIDADE</a:t>
            </a:r>
          </a:p>
          <a:p>
            <a:pPr algn="ctr"/>
            <a:r>
              <a:rPr lang="pt-BR" sz="2400" b="1" noProof="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HOSPITAL GERAL DE MAVALANE</a:t>
            </a:r>
          </a:p>
        </p:txBody>
      </p:sp>
      <p:sp>
        <p:nvSpPr>
          <p:cNvPr id="8" name="Footer Placeholder 3"/>
          <p:cNvSpPr txBox="1"/>
          <p:nvPr/>
        </p:nvSpPr>
        <p:spPr>
          <a:xfrm>
            <a:off x="922879" y="6280683"/>
            <a:ext cx="9782827" cy="365125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noProof="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Cidade de Maputo, Julho de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321" y="3159032"/>
            <a:ext cx="10903620" cy="122470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600" b="1" noProof="0" dirty="0">
                <a:solidFill>
                  <a:prstClr val="whit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Reorganizacao dos servicos em resposta ao encerramento da Maternidade do Hospital Provincial da </a:t>
            </a:r>
            <a:r>
              <a:rPr lang="pt-BR" sz="3600" b="1" noProof="0" dirty="0" err="1">
                <a:solidFill>
                  <a:prstClr val="whit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Matola</a:t>
            </a:r>
            <a:endParaRPr lang="pt-BR" sz="3600" b="1" noProof="0" dirty="0">
              <a:solidFill>
                <a:prstClr val="white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ubtitle 2"/>
          <p:cNvSpPr txBox="1"/>
          <p:nvPr/>
        </p:nvSpPr>
        <p:spPr>
          <a:xfrm>
            <a:off x="292100" y="5460999"/>
            <a:ext cx="10579100" cy="53536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457200" eaLnBrk="0" hangingPunc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pt-BR" sz="2400" b="1" i="1" kern="0" noProof="0" dirty="0">
                <a:solidFill>
                  <a:srgbClr val="002060"/>
                </a:solidFill>
                <a:latin typeface="Arial Narrow" panose="020B0606020202030204" pitchFamily="34" charset="0"/>
                <a:ea typeface="Kozuka Gothic Pro B" pitchFamily="34" charset="-128"/>
                <a:cs typeface="Arial" panose="020B0604020202020204" pitchFamily="34" charset="0"/>
              </a:rPr>
              <a:t>Maputo Cidade, pela Convergência Económica, Inclusão, Inovação e Progresso Social</a:t>
            </a:r>
            <a:endParaRPr lang="pt-BR" b="1" i="1" noProof="0" dirty="0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  <p:sp>
        <p:nvSpPr>
          <p:cNvPr id="11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BR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01</a:t>
            </a:r>
            <a:r>
              <a:rPr lang="pt-BR" sz="1050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190763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384537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Sumario </a:t>
            </a:r>
            <a:endParaRPr lang="pt-BR" sz="4000" b="1" noProof="0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BR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02</a:t>
            </a:r>
            <a:r>
              <a:rPr lang="pt-BR" sz="1050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D363B-D967-67B6-A345-D7A0FE3EC666}"/>
              </a:ext>
            </a:extLst>
          </p:cNvPr>
          <p:cNvSpPr txBox="1">
            <a:spLocks/>
          </p:cNvSpPr>
          <p:nvPr/>
        </p:nvSpPr>
        <p:spPr>
          <a:xfrm>
            <a:off x="295991" y="137411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Contextualizacao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Principais indicadores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Recursos humanos 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Estrategias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Resultados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Prespectivas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Contexto </a:t>
            </a:r>
            <a:endParaRPr lang="pt-BR" sz="4000" b="1" noProof="0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BR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04</a:t>
            </a:r>
            <a:r>
              <a:rPr lang="pt-BR" sz="1050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459EA-B46D-E305-F8CE-BA5618D4EA8F}"/>
              </a:ext>
            </a:extLst>
          </p:cNvPr>
          <p:cNvSpPr txBox="1">
            <a:spLocks/>
          </p:cNvSpPr>
          <p:nvPr/>
        </p:nvSpPr>
        <p:spPr>
          <a:xfrm>
            <a:off x="403759" y="137411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Contextualiza</a:t>
            </a:r>
            <a:r>
              <a:rPr lang="pt-BR" sz="2800" noProof="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</a:t>
            </a: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ã</a:t>
            </a: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Maternidade do HGM e a menor maternidade entre os Hospitais de referencia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Sala de partos 21 camas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Urgencia 3 camas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Internamento  57camas 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37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8" y="30195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noProof="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Principais indicadores</a:t>
            </a: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BR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03</a:t>
            </a:r>
            <a:r>
              <a:rPr lang="pt-BR" sz="1050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4F7BB-32F3-8241-8E99-FF0DF67E1A13}"/>
              </a:ext>
            </a:extLst>
          </p:cNvPr>
          <p:cNvSpPr txBox="1">
            <a:spLocks/>
          </p:cNvSpPr>
          <p:nvPr/>
        </p:nvSpPr>
        <p:spPr>
          <a:xfrm>
            <a:off x="403758" y="142809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Evolu</a:t>
            </a:r>
            <a:r>
              <a:rPr lang="pt-BR" sz="2800" noProof="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</a:t>
            </a: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ã</a:t>
            </a: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dos indicadores ( Total de admitidos )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6892794-4345-EEF9-1BD1-919DF06241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2652243"/>
              </p:ext>
            </p:extLst>
          </p:nvPr>
        </p:nvGraphicFramePr>
        <p:xfrm>
          <a:off x="805543" y="249127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F5837F83-0E33-0190-9885-68AAB30420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1420724"/>
              </p:ext>
            </p:extLst>
          </p:nvPr>
        </p:nvGraphicFramePr>
        <p:xfrm>
          <a:off x="6149166" y="249127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61911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noProof="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Complica</a:t>
            </a:r>
            <a:r>
              <a:rPr lang="pt-BR" sz="4000" b="1" noProof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</a:t>
            </a: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õ</a:t>
            </a:r>
            <a:r>
              <a:rPr lang="pt-BR" sz="4000" b="1" noProof="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es </a:t>
            </a: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BR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05</a:t>
            </a:r>
            <a:r>
              <a:rPr lang="pt-BR" sz="1050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7F284-9C8C-2A19-B722-AACB2C78A1C4}"/>
              </a:ext>
            </a:extLst>
          </p:cNvPr>
          <p:cNvSpPr txBox="1">
            <a:spLocks/>
          </p:cNvSpPr>
          <p:nvPr/>
        </p:nvSpPr>
        <p:spPr>
          <a:xfrm>
            <a:off x="226666" y="1190788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4B044CF-34DE-F11F-E37C-70D0F1FD77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9663538"/>
              </p:ext>
            </p:extLst>
          </p:nvPr>
        </p:nvGraphicFramePr>
        <p:xfrm>
          <a:off x="6235959" y="1856791"/>
          <a:ext cx="4572000" cy="4012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36B3D7-7432-5690-5AB0-5BB1A8AB0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293952"/>
              </p:ext>
            </p:extLst>
          </p:nvPr>
        </p:nvGraphicFramePr>
        <p:xfrm>
          <a:off x="703286" y="1856790"/>
          <a:ext cx="4861073" cy="40121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43940">
                  <a:extLst>
                    <a:ext uri="{9D8B030D-6E8A-4147-A177-3AD203B41FA5}">
                      <a16:colId xmlns:a16="http://schemas.microsoft.com/office/drawing/2014/main" val="1008636243"/>
                    </a:ext>
                  </a:extLst>
                </a:gridCol>
                <a:gridCol w="1266563">
                  <a:extLst>
                    <a:ext uri="{9D8B030D-6E8A-4147-A177-3AD203B41FA5}">
                      <a16:colId xmlns:a16="http://schemas.microsoft.com/office/drawing/2014/main" val="274147727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184556968"/>
                    </a:ext>
                  </a:extLst>
                </a:gridCol>
                <a:gridCol w="1374913">
                  <a:extLst>
                    <a:ext uri="{9D8B030D-6E8A-4147-A177-3AD203B41FA5}">
                      <a16:colId xmlns:a16="http://schemas.microsoft.com/office/drawing/2014/main" val="3883107812"/>
                    </a:ext>
                  </a:extLst>
                </a:gridCol>
              </a:tblGrid>
              <a:tr h="5307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1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1o semestre 2025</a:t>
                      </a:r>
                      <a:endParaRPr lang="pt-BR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1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2 semester2025</a:t>
                      </a:r>
                      <a:endParaRPr lang="pt-BR" sz="1100" b="1" i="0" u="none" strike="noStrike" noProof="0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1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1Semestre 2026</a:t>
                      </a:r>
                      <a:endParaRPr lang="pt-BR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97075462"/>
                  </a:ext>
                </a:extLst>
              </a:tr>
              <a:tr h="5307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noProof="0" dirty="0">
                          <a:effectLst/>
                        </a:rPr>
                        <a:t>Ectopicas 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noProof="0" dirty="0">
                          <a:effectLst/>
                        </a:rPr>
                        <a:t>45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141</a:t>
                      </a:r>
                      <a:endParaRPr lang="pt-BR" sz="1100" b="0" i="0" u="none" strike="noStrike" noProof="0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noProof="0" dirty="0">
                          <a:effectLst/>
                        </a:rPr>
                        <a:t>62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32870366"/>
                  </a:ext>
                </a:extLst>
              </a:tr>
              <a:tr h="5307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noProof="0" dirty="0">
                          <a:effectLst/>
                        </a:rPr>
                        <a:t>Cesarianas 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noProof="0" dirty="0">
                          <a:effectLst/>
                        </a:rPr>
                        <a:t>(20,6%) 724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(33,8%) 1679</a:t>
                      </a:r>
                      <a:endParaRPr lang="pt-BR" sz="1100" b="0" i="0" u="none" strike="noStrike" noProof="0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noProof="0" dirty="0">
                          <a:effectLst/>
                        </a:rPr>
                        <a:t>(35,8%) 1862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93554180"/>
                  </a:ext>
                </a:extLst>
              </a:tr>
              <a:tr h="8504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noProof="0" dirty="0">
                          <a:effectLst/>
                        </a:rPr>
                        <a:t>Nado vivos 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noProof="0" dirty="0">
                          <a:effectLst/>
                        </a:rPr>
                        <a:t>(260/100000) 3469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(40,6/100000) 4917</a:t>
                      </a:r>
                      <a:endParaRPr lang="pt-BR" sz="1100" b="0" i="0" u="none" strike="noStrike" noProof="0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(97,8/100000) 5092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05983282"/>
                  </a:ext>
                </a:extLst>
              </a:tr>
              <a:tr h="1038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noProof="0" dirty="0">
                          <a:effectLst/>
                        </a:rPr>
                        <a:t>Mortes maternas 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noProof="0" dirty="0">
                          <a:effectLst/>
                        </a:rPr>
                        <a:t>9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pt-BR" sz="1100" b="0" i="0" u="none" strike="noStrike" noProof="0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noProof="0" dirty="0">
                          <a:effectLst/>
                        </a:rPr>
                        <a:t>5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66363361"/>
                  </a:ext>
                </a:extLst>
              </a:tr>
              <a:tr h="5307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noProof="0" dirty="0">
                          <a:effectLst/>
                        </a:rPr>
                        <a:t>Partos 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noProof="0" dirty="0">
                          <a:effectLst/>
                        </a:rPr>
                        <a:t>3507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noProof="0" dirty="0">
                          <a:solidFill>
                            <a:srgbClr val="FF0000"/>
                          </a:solidFill>
                          <a:effectLst/>
                        </a:rPr>
                        <a:t>4956</a:t>
                      </a:r>
                      <a:endParaRPr lang="pt-BR" sz="1100" b="0" i="0" u="none" strike="noStrike" noProof="0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noProof="0" dirty="0">
                          <a:effectLst/>
                        </a:rPr>
                        <a:t>5119</a:t>
                      </a:r>
                      <a:endParaRPr lang="pt-BR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1358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868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384537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noProof="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RECURSOS HUMANOS </a:t>
            </a: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BR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06</a:t>
            </a:r>
            <a:r>
              <a:rPr lang="pt-BR" sz="1050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591A2-DB7C-017C-F0E8-0C93226D4BA3}"/>
              </a:ext>
            </a:extLst>
          </p:cNvPr>
          <p:cNvSpPr txBox="1">
            <a:spLocks/>
          </p:cNvSpPr>
          <p:nvPr/>
        </p:nvSpPr>
        <p:spPr>
          <a:xfrm>
            <a:off x="207444" y="142809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ctr">
              <a:lnSpc>
                <a:spcPct val="150000"/>
              </a:lnSpc>
              <a:buNone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0" indent="0" algn="just" fontAlgn="ctr">
              <a:lnSpc>
                <a:spcPct val="150000"/>
              </a:lnSpc>
              <a:buNone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0" indent="0" algn="just" fontAlgn="ctr">
              <a:lnSpc>
                <a:spcPct val="150000"/>
              </a:lnSpc>
              <a:buNone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0" indent="0" algn="just" fontAlgn="ctr">
              <a:lnSpc>
                <a:spcPct val="150000"/>
              </a:lnSpc>
              <a:buNone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0" indent="0" algn="just" fontAlgn="ctr">
              <a:lnSpc>
                <a:spcPct val="150000"/>
              </a:lnSpc>
              <a:buNone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0" indent="0" algn="just" fontAlgn="ctr">
              <a:lnSpc>
                <a:spcPct val="150000"/>
              </a:lnSpc>
              <a:buNone/>
            </a:pPr>
            <a:r>
              <a:rPr lang="pt-BR" sz="20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Reformaram 3 medicos especialistas, duas ficaram inativas por licenca registada e em decurso de um processo disciplinar.</a:t>
            </a:r>
          </a:p>
          <a:p>
            <a:pPr marL="0" indent="0" algn="just" fontAlgn="ctr">
              <a:lnSpc>
                <a:spcPct val="150000"/>
              </a:lnSpc>
              <a:buNone/>
            </a:pPr>
            <a:r>
              <a:rPr lang="pt-BR" sz="20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Em Julho de 2025 Recebemos 5 enfermeiras da SMI, 4 saude materna superior e 2 medicos especialistas, 3 dos medicos especialistas não exercem trabalho nocturno por questoes de saude, apenas 6 disponiveis noites.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47A98CB-685B-5F32-5C6B-A9BBF3B7F4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9714026"/>
              </p:ext>
            </p:extLst>
          </p:nvPr>
        </p:nvGraphicFramePr>
        <p:xfrm>
          <a:off x="618930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E905F34-045C-416A-EC8E-25ED295D0F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4010646"/>
              </p:ext>
            </p:extLst>
          </p:nvPr>
        </p:nvGraphicFramePr>
        <p:xfrm>
          <a:off x="5932820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82430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noProof="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Recursos Humanos</a:t>
            </a: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BR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07</a:t>
            </a:r>
            <a:r>
              <a:rPr lang="pt-BR" sz="1050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B08D8-B348-DA16-7D9B-D08938EFD3F9}"/>
              </a:ext>
            </a:extLst>
          </p:cNvPr>
          <p:cNvSpPr txBox="1">
            <a:spLocks/>
          </p:cNvSpPr>
          <p:nvPr/>
        </p:nvSpPr>
        <p:spPr>
          <a:xfrm>
            <a:off x="226666" y="137411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Recebemos dois cl</a:t>
            </a:r>
            <a:r>
              <a:rPr lang="pt-BR" sz="2800" noProof="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nicos gerais treinados para cesarianas e ectopicas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 para 2026 foram admitidos 2 residentes. 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0" indent="0" algn="just" fontAlgn="ctr">
              <a:lnSpc>
                <a:spcPct val="150000"/>
              </a:lnSpc>
              <a:buNone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15925BD-9217-77ED-BE4E-B08E750EDE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8491287"/>
              </p:ext>
            </p:extLst>
          </p:nvPr>
        </p:nvGraphicFramePr>
        <p:xfrm>
          <a:off x="403759" y="216003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54837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noProof="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Estrategia </a:t>
            </a: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BR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08</a:t>
            </a:r>
            <a:r>
              <a:rPr lang="pt-BR" sz="1050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442F0-5EFC-01D2-3094-2FC44B292163}"/>
              </a:ext>
            </a:extLst>
          </p:cNvPr>
          <p:cNvSpPr txBox="1">
            <a:spLocks/>
          </p:cNvSpPr>
          <p:nvPr/>
        </p:nvSpPr>
        <p:spPr>
          <a:xfrm>
            <a:off x="226666" y="137411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ANTES DO ENCERRAMENTO DA MATOLA </a:t>
            </a:r>
          </a:p>
          <a:p>
            <a:pPr marL="0" indent="0" algn="just" fontAlgn="ctr">
              <a:lnSpc>
                <a:spcPct val="150000"/>
              </a:lnSpc>
              <a:buNone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Equipas de 3 clinicos no turno diurno 8/20h</a:t>
            </a:r>
          </a:p>
          <a:p>
            <a:pPr algn="just" fontAlgn="ctr">
              <a:lnSpc>
                <a:spcPct val="150000"/>
              </a:lnSpc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1-chefe de equipa – especialista ou residente senior</a:t>
            </a:r>
          </a:p>
          <a:p>
            <a:pPr algn="just" fontAlgn="ctr">
              <a:lnSpc>
                <a:spcPct val="150000"/>
              </a:lnSpc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2º elemento para cesarianas- residente ou Enfa superor </a:t>
            </a:r>
          </a:p>
          <a:p>
            <a:pPr algn="just" fontAlgn="ctr">
              <a:lnSpc>
                <a:spcPct val="150000"/>
              </a:lnSpc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3º elemento para urgencia de ginecologia- enfermeira superior</a:t>
            </a:r>
          </a:p>
          <a:p>
            <a:pPr algn="just" fontAlgn="ctr">
              <a:lnSpc>
                <a:spcPct val="150000"/>
              </a:lnSpc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Apoiadas por  3 enfermeiras e 1 agente de servico. </a:t>
            </a:r>
          </a:p>
        </p:txBody>
      </p:sp>
    </p:spTree>
    <p:extLst>
      <p:ext uri="{BB962C8B-B14F-4D97-AF65-F5344CB8AC3E}">
        <p14:creationId xmlns:p14="http://schemas.microsoft.com/office/powerpoint/2010/main" val="1856702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18614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noProof="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Estrat</a:t>
            </a:r>
            <a:r>
              <a:rPr lang="pt-BR" sz="4000" b="1" noProof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</a:t>
            </a:r>
            <a:r>
              <a:rPr lang="pt-BR" sz="4000" b="1" noProof="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gias </a:t>
            </a: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BR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09</a:t>
            </a:r>
            <a:r>
              <a:rPr lang="pt-BR" sz="1050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8A437-DF2D-BE0B-8038-2AFCBBA1175B}"/>
              </a:ext>
            </a:extLst>
          </p:cNvPr>
          <p:cNvSpPr txBox="1">
            <a:spLocks/>
          </p:cNvSpPr>
          <p:nvPr/>
        </p:nvSpPr>
        <p:spPr>
          <a:xfrm>
            <a:off x="226666" y="1190788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MATOLA ENCERRADA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Passamos a ter mais complica</a:t>
            </a:r>
            <a:r>
              <a:rPr lang="pt-BR" sz="2800" noProof="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çõ</a:t>
            </a: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es,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Passamos de 45 ectopicas para 186 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 cerca 600 partos/mês para  cerca de 850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Comecamos a ter cerca de duas reclama</a:t>
            </a:r>
            <a:r>
              <a:rPr lang="pt-BR" sz="2800" noProof="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çõ</a:t>
            </a: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es por semanas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Um poste por mês nas redes sociais a falar da maternidade de mavalane </a:t>
            </a:r>
          </a:p>
          <a:p>
            <a:pPr marL="0" indent="0" algn="just" fontAlgn="ctr">
              <a:lnSpc>
                <a:spcPct val="150000"/>
              </a:lnSpc>
              <a:buNone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798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noProof="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Estrat</a:t>
            </a:r>
            <a:r>
              <a:rPr lang="pt-BR" sz="4000" b="1" noProof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</a:t>
            </a:r>
            <a:r>
              <a:rPr lang="pt-BR" sz="4000" b="1" noProof="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gias</a:t>
            </a: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BR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10</a:t>
            </a:r>
            <a:r>
              <a:rPr lang="pt-BR" sz="1050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09248-543E-C61A-CA23-E16D988B3321}"/>
              </a:ext>
            </a:extLst>
          </p:cNvPr>
          <p:cNvSpPr txBox="1">
            <a:spLocks/>
          </p:cNvSpPr>
          <p:nvPr/>
        </p:nvSpPr>
        <p:spPr>
          <a:xfrm>
            <a:off x="379069" y="137411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Todos os turnos com 3 elementos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As equipas de enfermagem passar a ser compostas elementos 3 na sala de partos 1 na urgencia de ginecologia.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Reunimos varias vezes com obloco operatorio e disponibilizou nos a segunda sala para urgencias esta medida permitu duplicar a media diaria de cesarinas.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 5 cesarianas/dia para cerca 10 cesarianas /dia.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6920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F6C66-F16B-4085-702C-375BFA948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6210146-DEBF-59BC-06CB-6F7345A37F28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noProof="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Estrat</a:t>
            </a:r>
            <a:r>
              <a:rPr lang="pt-BR" sz="4000" b="1" noProof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</a:t>
            </a:r>
            <a:r>
              <a:rPr lang="pt-BR" sz="4000" b="1" noProof="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gias</a:t>
            </a:r>
          </a:p>
        </p:txBody>
      </p:sp>
      <p:sp>
        <p:nvSpPr>
          <p:cNvPr id="9" name="Estrela de 10 Pontos 7">
            <a:extLst>
              <a:ext uri="{FF2B5EF4-FFF2-40B4-BE49-F238E27FC236}">
                <a16:creationId xmlns:a16="http://schemas.microsoft.com/office/drawing/2014/main" id="{001F2B04-0A1E-5D90-A939-4613CEEA0C7A}"/>
              </a:ext>
            </a:extLst>
          </p:cNvPr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BR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10</a:t>
            </a:r>
            <a:r>
              <a:rPr lang="pt-BR" sz="1050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B2679-72F0-73F0-AFD3-059DBB2385B4}"/>
              </a:ext>
            </a:extLst>
          </p:cNvPr>
          <p:cNvSpPr txBox="1">
            <a:spLocks/>
          </p:cNvSpPr>
          <p:nvPr/>
        </p:nvSpPr>
        <p:spPr>
          <a:xfrm>
            <a:off x="379069" y="137411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Cesrianas electivas – interropida por ordens superiores devido a exiguidade de materiais m</a:t>
            </a:r>
            <a:r>
              <a:rPr lang="pt-BR" sz="2800" noProof="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</a:t>
            </a: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dicos cirurgicos – escrevemos uma carta a pedir a permiss</a:t>
            </a:r>
            <a:r>
              <a:rPr lang="pt-BR" sz="2800" noProof="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ã</a:t>
            </a: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para a realiza</a:t>
            </a:r>
            <a:r>
              <a:rPr lang="pt-BR" sz="2800" noProof="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</a:t>
            </a: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ã</a:t>
            </a: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de cesarians electivas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Recomecamos a cesarianas electivas e passamos de 3 cesarinas elect/semana em 2024 para cerca de 6 cesrianas/semana em 2026.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pt-BR" sz="2800" noProof="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8418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CDF9F-C348-E712-AAE0-4BD26386A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D5BB94C-7AB1-E9E4-C826-4100A2E0CDB9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noProof="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Estrat</a:t>
            </a:r>
            <a:r>
              <a:rPr lang="pt-BR" sz="4000" b="1" noProof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</a:t>
            </a:r>
            <a:r>
              <a:rPr lang="pt-BR" sz="4000" b="1" noProof="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gias</a:t>
            </a:r>
          </a:p>
        </p:txBody>
      </p:sp>
      <p:sp>
        <p:nvSpPr>
          <p:cNvPr id="9" name="Estrela de 10 Pontos 7">
            <a:extLst>
              <a:ext uri="{FF2B5EF4-FFF2-40B4-BE49-F238E27FC236}">
                <a16:creationId xmlns:a16="http://schemas.microsoft.com/office/drawing/2014/main" id="{0E10E591-880F-D30F-2CBC-9A79D1D61C56}"/>
              </a:ext>
            </a:extLst>
          </p:cNvPr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BR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10</a:t>
            </a:r>
            <a:r>
              <a:rPr lang="pt-BR" sz="1050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4C48F-59C3-FC4A-EF1F-C3E7A30BCB91}"/>
              </a:ext>
            </a:extLst>
          </p:cNvPr>
          <p:cNvSpPr txBox="1">
            <a:spLocks/>
          </p:cNvSpPr>
          <p:nvPr/>
        </p:nvSpPr>
        <p:spPr>
          <a:xfrm>
            <a:off x="379069" y="1280805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ctr">
              <a:lnSpc>
                <a:spcPct val="150000"/>
              </a:lnSpc>
              <a:buNone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EXAUST</a:t>
            </a:r>
            <a:r>
              <a:rPr lang="pt-BR" sz="2800" noProof="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Ā</a:t>
            </a: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DAS EQUIPAS MEDICAS, ENFERMAGEM, AGENTES DE SERVI</a:t>
            </a:r>
            <a:r>
              <a:rPr lang="pt-BR" sz="2800" noProof="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</a:t>
            </a: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E BLOCO OPERAT</a:t>
            </a:r>
            <a:r>
              <a:rPr lang="pt-BR" sz="2800" noProof="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</a:t>
            </a: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RIO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Come</a:t>
            </a:r>
            <a:r>
              <a:rPr lang="pt-BR" sz="2800" noProof="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</a:t>
            </a: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amos a ter Mortes inespl</a:t>
            </a:r>
            <a:r>
              <a:rPr lang="pt-BR" sz="2800" noProof="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caveis, muitas complica</a:t>
            </a:r>
            <a:r>
              <a:rPr lang="pt-BR" sz="2800" noProof="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çõ</a:t>
            </a: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es anest</a:t>
            </a:r>
            <a:r>
              <a:rPr lang="pt-BR" sz="2800" noProof="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</a:t>
            </a: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sicas e hemorragias pos cesarianas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Sobrecarga de infrastrutura- aumentamos o n</a:t>
            </a:r>
            <a:r>
              <a:rPr lang="pt-BR" sz="2800" noProof="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ú</a:t>
            </a: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mero de partos na adimissao, camas danificadas por sobre carga e colch</a:t>
            </a:r>
            <a:r>
              <a:rPr lang="pt-BR" sz="2800" noProof="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õ</a:t>
            </a: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es rotos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Apresentamos e convecemos os SSCM, DNAM e contamos com a colabora</a:t>
            </a:r>
            <a:r>
              <a:rPr lang="pt-BR" sz="2800" noProof="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çã</a:t>
            </a: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do HGJM que pertiu a partilha de pacientes transferidos da Provincia da Maputo </a:t>
            </a:r>
          </a:p>
        </p:txBody>
      </p:sp>
    </p:spTree>
    <p:extLst>
      <p:ext uri="{BB962C8B-B14F-4D97-AF65-F5344CB8AC3E}">
        <p14:creationId xmlns:p14="http://schemas.microsoft.com/office/powerpoint/2010/main" val="1913166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58074-1E35-EE2F-ED22-9FC4E649D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DF3E900-2FEE-400C-5782-D00D91E054FF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Resultados</a:t>
            </a:r>
            <a:endParaRPr lang="pt-BR" sz="4000" b="1" noProof="0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Estrela de 10 Pontos 7">
            <a:extLst>
              <a:ext uri="{FF2B5EF4-FFF2-40B4-BE49-F238E27FC236}">
                <a16:creationId xmlns:a16="http://schemas.microsoft.com/office/drawing/2014/main" id="{41799439-9F25-6E0F-8DA3-156787F8E4C6}"/>
              </a:ext>
            </a:extLst>
          </p:cNvPr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BR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10</a:t>
            </a:r>
            <a:r>
              <a:rPr lang="pt-BR" sz="1050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7D486-5BAB-9736-DB1E-2E6D34187A30}"/>
              </a:ext>
            </a:extLst>
          </p:cNvPr>
          <p:cNvSpPr txBox="1">
            <a:spLocks/>
          </p:cNvSpPr>
          <p:nvPr/>
        </p:nvSpPr>
        <p:spPr>
          <a:xfrm>
            <a:off x="379069" y="1280805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ctr">
              <a:lnSpc>
                <a:spcPct val="150000"/>
              </a:lnSpc>
              <a:buNone/>
            </a:pP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Há registamos da reducao significativa na mortalidade materna- no ultimo trimestre tivemos zerro mortes maternas, e nenhuma histerecomia obstetr</a:t>
            </a:r>
            <a:r>
              <a:rPr lang="pt-BR" sz="280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ca.</a:t>
            </a:r>
          </a:p>
          <a:p>
            <a:pPr marL="0" indent="0" algn="just" fontAlgn="ctr">
              <a:lnSpc>
                <a:spcPct val="150000"/>
              </a:lnSpc>
              <a:buNone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Nenhuma familia submeteu uma reclama</a:t>
            </a:r>
            <a:r>
              <a:rPr lang="pt-BR" sz="2800" noProof="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çã</a:t>
            </a: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</a:t>
            </a: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 exigir explica</a:t>
            </a:r>
            <a:r>
              <a:rPr lang="pt-BR" sz="280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çõ</a:t>
            </a: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es nos ultimos 3 meses</a:t>
            </a:r>
          </a:p>
          <a:p>
            <a:pPr marL="0" indent="0" algn="just" fontAlgn="ctr">
              <a:lnSpc>
                <a:spcPct val="150000"/>
              </a:lnSpc>
              <a:buNone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8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2A7E8-F815-F232-DF56-BC3763C35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2CB018B-8244-4766-3D19-C1F6F1E9E6DF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noProof="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Prespectivas </a:t>
            </a:r>
          </a:p>
        </p:txBody>
      </p:sp>
      <p:sp>
        <p:nvSpPr>
          <p:cNvPr id="9" name="Estrela de 10 Pontos 7">
            <a:extLst>
              <a:ext uri="{FF2B5EF4-FFF2-40B4-BE49-F238E27FC236}">
                <a16:creationId xmlns:a16="http://schemas.microsoft.com/office/drawing/2014/main" id="{D97F89C0-1B96-96AF-F992-1F71D1AC33C4}"/>
              </a:ext>
            </a:extLst>
          </p:cNvPr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BR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10</a:t>
            </a:r>
            <a:r>
              <a:rPr lang="pt-BR" sz="1050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D1821-B1BE-020F-BBAA-8220BD5F8F12}"/>
              </a:ext>
            </a:extLst>
          </p:cNvPr>
          <p:cNvSpPr txBox="1">
            <a:spLocks/>
          </p:cNvSpPr>
          <p:nvPr/>
        </p:nvSpPr>
        <p:spPr>
          <a:xfrm>
            <a:off x="379069" y="1190788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</a:pP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Aguardamos o melhoramentos da condicoes de alojamento de pacientes- aloca</a:t>
            </a:r>
            <a:r>
              <a:rPr lang="pt-BR" sz="280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çã</a:t>
            </a: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de colchoes, troca de camas danificadas.</a:t>
            </a:r>
          </a:p>
          <a:p>
            <a:pPr algn="just" fontAlgn="ctr">
              <a:lnSpc>
                <a:spcPct val="150000"/>
              </a:lnSpc>
            </a:pP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Aguardamos a coloca</a:t>
            </a:r>
            <a:r>
              <a:rPr lang="pt-BR" sz="280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çã</a:t>
            </a: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pelomenos 2 m</a:t>
            </a:r>
            <a:r>
              <a:rPr lang="pt-BR" sz="280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</a:t>
            </a: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dicos especialistas</a:t>
            </a:r>
          </a:p>
          <a:p>
            <a:pPr algn="just" fontAlgn="ctr">
              <a:lnSpc>
                <a:spcPct val="150000"/>
              </a:lnSpc>
            </a:pP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Pedimos a reabilita</a:t>
            </a:r>
            <a:r>
              <a:rPr lang="pt-BR" sz="280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çã</a:t>
            </a: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da fonte de agua do centro de saude 1 de Junho como parte de ac</a:t>
            </a:r>
            <a:r>
              <a:rPr lang="pt-BR" sz="2800" dirty="0">
                <a:solidFill>
                  <a:srgbClr val="001D3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çõ</a:t>
            </a: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es que visam descongestionar o HGM</a:t>
            </a:r>
          </a:p>
          <a:p>
            <a:pPr marL="0" indent="0" algn="just" fontAlgn="ctr">
              <a:lnSpc>
                <a:spcPct val="150000"/>
              </a:lnSpc>
              <a:buNone/>
            </a:pPr>
            <a:r>
              <a:rPr lang="pt-BR" sz="2800" noProof="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6394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women_group_clapping_500_wht_12480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67101" y="2515085"/>
            <a:ext cx="3949700" cy="3534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674678" y="747640"/>
            <a:ext cx="8382000" cy="1862048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sz="11500" b="1" noProof="0" dirty="0">
                <a:solidFill>
                  <a:srgbClr val="000000"/>
                </a:solidFill>
                <a:latin typeface="Juice ITC" panose="04040403040A02020202" pitchFamily="82" charset="0"/>
              </a:rPr>
              <a:t>Muito Obrigado</a:t>
            </a:r>
          </a:p>
        </p:txBody>
      </p:sp>
      <p:sp>
        <p:nvSpPr>
          <p:cNvPr id="5" name="Rectangle 1"/>
          <p:cNvSpPr/>
          <p:nvPr/>
        </p:nvSpPr>
        <p:spPr>
          <a:xfrm>
            <a:off x="69851" y="6049186"/>
            <a:ext cx="107441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i="1" noProof="0" dirty="0">
                <a:solidFill>
                  <a:srgbClr val="00B050"/>
                </a:solidFill>
                <a:latin typeface="Arial Narrow" panose="020B0606020202030204" pitchFamily="34" charset="0"/>
              </a:rPr>
              <a:t>Maputo Cidade, pela Convergência Económica, Inclusão, Inovação e Progresso Social</a:t>
            </a:r>
          </a:p>
        </p:txBody>
      </p:sp>
      <p:sp>
        <p:nvSpPr>
          <p:cNvPr id="6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BR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11</a:t>
            </a:r>
            <a:r>
              <a:rPr lang="pt-BR" sz="1050" b="1" noProof="0" dirty="0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6092</TotalTime>
  <Words>646</Words>
  <Application>Microsoft Office PowerPoint</Application>
  <PresentationFormat>Widescreen</PresentationFormat>
  <Paragraphs>129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6" baseType="lpstr">
      <vt:lpstr>Aptos Narrow</vt:lpstr>
      <vt:lpstr>Arial</vt:lpstr>
      <vt:lpstr>Arial Narrow</vt:lpstr>
      <vt:lpstr>Bodoni MT</vt:lpstr>
      <vt:lpstr>Calibri</vt:lpstr>
      <vt:lpstr>Calibri Light</vt:lpstr>
      <vt:lpstr>Courier New</vt:lpstr>
      <vt:lpstr>Juice ITC</vt:lpstr>
      <vt:lpstr>Times New Roman</vt:lpstr>
      <vt:lpstr>Wingdings 3</vt:lpstr>
      <vt:lpstr>Facet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Carlitos José Cumbane</cp:lastModifiedBy>
  <cp:revision>1753</cp:revision>
  <dcterms:created xsi:type="dcterms:W3CDTF">2022-05-17T21:12:00Z</dcterms:created>
  <dcterms:modified xsi:type="dcterms:W3CDTF">2026-07-23T13:44:19Z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63BD0A64F7A24D1BAA045F58D81EDD59_13</vt:lpwstr>
  </property>
  <property fmtid="{D5CDD505-2E9C-101B-9397-08002B2CF9AE}" pid="3" name="KSOProductBuildVer">
    <vt:lpwstr>1033-12.2.0.21931</vt:lpwstr>
  </property>
</Properties>
</file>